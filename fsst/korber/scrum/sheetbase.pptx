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0" r:id="rId2"/>
  </p:sldMasterIdLst>
  <p:notesMasterIdLst>
    <p:notesMasterId r:id="rId21"/>
  </p:notesMasterIdLst>
  <p:sldIdLst>
    <p:sldId id="256" r:id="rId3"/>
    <p:sldId id="269" r:id="rId4"/>
    <p:sldId id="284" r:id="rId5"/>
    <p:sldId id="274" r:id="rId6"/>
    <p:sldId id="275" r:id="rId7"/>
    <p:sldId id="295" r:id="rId8"/>
    <p:sldId id="276" r:id="rId9"/>
    <p:sldId id="298" r:id="rId10"/>
    <p:sldId id="293" r:id="rId11"/>
    <p:sldId id="278" r:id="rId12"/>
    <p:sldId id="297" r:id="rId13"/>
    <p:sldId id="279" r:id="rId14"/>
    <p:sldId id="296" r:id="rId15"/>
    <p:sldId id="299" r:id="rId16"/>
    <p:sldId id="280" r:id="rId17"/>
    <p:sldId id="281" r:id="rId18"/>
    <p:sldId id="282" r:id="rId19"/>
    <p:sldId id="283" r:id="rId20"/>
  </p:sldIdLst>
  <p:sldSz cx="16256000" cy="9144000"/>
  <p:notesSz cx="9144000" cy="16256000"/>
  <p:embeddedFontLst>
    <p:embeddedFont>
      <p:font typeface="Hedvig Letters Sans" pitchFamily="2" charset="77"/>
      <p:regular r:id="rId22"/>
    </p:embeddedFont>
    <p:embeddedFont>
      <p:font typeface="Liter" panose="02000503030000020004" pitchFamily="2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8824" autoAdjust="0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192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2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76073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CDBE-FCE4-4FAA-2CF6-21837F113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BE2689-FCC6-D3C5-8E10-559DE5F355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CAD41F-4CE9-595A-3A44-9DCB7E04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3D3B5-A76D-5E3E-4F29-E3A24BB23A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6548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1242A-A6D8-46D5-A52B-22EA1C719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407F02-B83F-2F97-901B-A931389504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C1696-59BC-193D-5380-23A2D51C1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2E689-0981-DE30-93B5-163F9612CD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7347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0232A-4853-0547-186D-01EC80FED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F894AB-B3F1-CD05-2901-69560FCD9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B7B920-6D7D-D38A-ECB9-6156252089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A0468-D097-BBEC-9AE3-D17B9B58E1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2681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6848C-7C8C-DEC4-BE64-33CAC1EC6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5F0789-6B72-5430-8BE5-CD1B1DBA19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8CA3D8-3BD8-12E9-60CA-40496B54B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E8448-6AE1-F395-3D37-DEF91EE35B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0968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C4169-698E-A867-9D60-DD31388CC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C685F0-4895-8516-A7B0-02BF60FD76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7E61E-0F00-03CB-CA61-779D98D13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527E0-CB7C-0785-D649-E3B3165C80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3759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AA0BF-AE02-D04B-4D26-916AB8869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31ADC4-2F70-D689-10F4-F44CF232DC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5CD76-FF13-4BEC-AB10-191275675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72694-4F3C-294A-9D32-3FDA5C7390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1948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794000"/>
            <a:ext cx="2540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78000" y="3175000"/>
            <a:ext cx="1270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5200" kern="0" spc="200">
                <a:solidFill>
                  <a:srgbClr val="E8E4D9"/>
                </a:solidFill>
                <a:latin typeface="Hedvig Letters Sans" pitchFamily="34" charset="0"/>
              </a:rPr>
              <a:t>SheetBase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3048000" y="44450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200">
                <a:solidFill>
                  <a:schemeClr val="bg1"/>
                </a:solidFill>
              </a:rPr>
              <a:t>Fronthaler / Glatz</a:t>
            </a:r>
            <a:endParaRPr lang="en-US" sz="220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6858000" y="5334000"/>
            <a:ext cx="2540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62000" y="10160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159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01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Was ist SheetBase?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62000" y="3302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02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Server-Struktur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62000" y="4445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03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Database-Struktur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62000" y="5588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04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AI-Auswahl &amp; Code für AI Prompting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636000" y="2159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06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Chunk Based Solution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8636000" y="3302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07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Backend-Struktur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636000" y="4445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08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Frontend-Struktur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636000" y="5588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09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Fazit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62000" y="6731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05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Prompt-Engineering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5A5A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6533110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WAS IST SHEETBASE?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222500"/>
            <a:ext cx="6604000" cy="566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</a:pPr>
            <a:r>
              <a:rPr lang="en-US">
                <a:solidFill>
                  <a:srgbClr val="C8FF2E"/>
                </a:solidFill>
                <a:latin typeface="Liter" pitchFamily="34" charset="0"/>
              </a:rPr>
              <a:t>Automatisierte Component Data Extraction</a:t>
            </a:r>
            <a:endParaRPr lang="en-US" sz="1800" dirty="0"/>
          </a:p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SheetBase ist eine Web-App, die Daten aus technischen PDF-Datasheets extrahiert, strukturiert speichert und im Frontend durchsuchbar macht.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>
                <a:solidFill>
                  <a:srgbClr val="C8FF2E"/>
                </a:solidFill>
                <a:latin typeface="Liter" pitchFamily="34" charset="0"/>
              </a:rPr>
              <a:t>Ziel</a:t>
            </a:r>
            <a:endParaRPr lang="en-US" sz="1800" dirty="0"/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Aus OPV-, BJT- und MOSFET-Datenblättern entstehen vergleichbare Datensätze für Suche, Prüfung und Wiederverwendung.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>
                <a:solidFill>
                  <a:srgbClr val="C8FF2E"/>
                </a:solidFill>
                <a:latin typeface="Liter" pitchFamily="34" charset="0"/>
              </a:rPr>
              <a:t>Kernfunktionen</a:t>
            </a:r>
            <a:endParaRPr lang="en-US" sz="1800" dirty="0"/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Upload &amp; Chunking von Datasheets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AI-gestützte Feldauswahl und Prompting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Speicherung in PostgreSQL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Frontend zur Suche und Prüfung</a:t>
            </a:r>
          </a:p>
        </p:txBody>
      </p:sp>
      <p:sp>
        <p:nvSpPr>
          <p:cNvPr id="6" name="Shape 4"/>
          <p:cNvSpPr/>
          <p:nvPr/>
        </p:nvSpPr>
        <p:spPr>
          <a:xfrm>
            <a:off x="7874000" y="1841500"/>
            <a:ext cx="7620000" cy="6096000"/>
          </a:xfrm>
          <a:prstGeom prst="rect">
            <a:avLst/>
          </a:prstGeom>
          <a:solidFill>
            <a:srgbClr val="16181C"/>
          </a:soli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 dirty="0">
                <a:solidFill>
                  <a:srgbClr val="7E828A"/>
                </a:solidFill>
                <a:latin typeface="Liter" pitchFamily="34" charset="0"/>
              </a:rPr>
              <a:t>03</a:t>
            </a:r>
            <a:endParaRPr lang="en-US" sz="11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406C8D6-BF2C-40A5-BC45-080456D1C88D}"/>
              </a:ext>
            </a:extLst>
          </p:cNvPr>
          <p:cNvSpPr txBox="1"/>
          <p:nvPr/>
        </p:nvSpPr>
        <p:spPr>
          <a:xfrm>
            <a:off x="8382000" y="22860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AT" sz="2000" b="1">
                <a:solidFill>
                  <a:srgbClr val="C8FF2E"/>
                </a:solidFill>
              </a:rPr>
              <a:t>Pipeline in 3 Schritten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89EBD28-DBDC-4B1C-9BC3-4A13E193CFB4}"/>
              </a:ext>
            </a:extLst>
          </p:cNvPr>
          <p:cNvSpPr/>
          <p:nvPr/>
        </p:nvSpPr>
        <p:spPr>
          <a:xfrm>
            <a:off x="8382000" y="2857500"/>
            <a:ext cx="6350000" cy="1168400"/>
          </a:xfrm>
          <a:prstGeom prst="rect">
            <a:avLst/>
          </a:prstGeom>
          <a:solidFill>
            <a:srgbClr val="0D0F1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5E0675D-8EC0-4C41-9051-831E0F55CE50}"/>
              </a:ext>
            </a:extLst>
          </p:cNvPr>
          <p:cNvSpPr/>
          <p:nvPr/>
        </p:nvSpPr>
        <p:spPr>
          <a:xfrm>
            <a:off x="8636000" y="3187700"/>
            <a:ext cx="508000" cy="508000"/>
          </a:xfrm>
          <a:prstGeom prst="ellipse">
            <a:avLst/>
          </a:prstGeom>
          <a:solidFill>
            <a:srgbClr val="C8FF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de-AT" sz="1200" b="1">
                <a:solidFill>
                  <a:srgbClr val="0B0C0E"/>
                </a:solidFill>
              </a:rPr>
              <a:t>01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ABF3452-BB90-4B3F-8269-51835F4FD41D}"/>
              </a:ext>
            </a:extLst>
          </p:cNvPr>
          <p:cNvSpPr txBox="1"/>
          <p:nvPr/>
        </p:nvSpPr>
        <p:spPr>
          <a:xfrm>
            <a:off x="9398000" y="30861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AT" b="1">
                <a:solidFill>
                  <a:srgbClr val="E8E4D9"/>
                </a:solidFill>
              </a:rPr>
              <a:t>Datenblatt hochladen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BCC43C08-17D4-42F3-93C0-8AEFE13C2E33}"/>
              </a:ext>
            </a:extLst>
          </p:cNvPr>
          <p:cNvSpPr txBox="1"/>
          <p:nvPr/>
        </p:nvSpPr>
        <p:spPr>
          <a:xfrm>
            <a:off x="9398000" y="3441700"/>
            <a:ext cx="4826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DE" sz="1300" dirty="0">
                <a:solidFill>
                  <a:srgbClr val="A7ABB2"/>
                </a:solidFill>
              </a:rPr>
              <a:t>PDFs werden in verwertbare Text-Chunks zerlegt.</a:t>
            </a:r>
            <a:endParaRPr lang="de-AT" sz="1300" dirty="0">
              <a:solidFill>
                <a:srgbClr val="A7ABB2"/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0EFAF9E-C87E-4594-BD78-C540D4356A07}"/>
              </a:ext>
            </a:extLst>
          </p:cNvPr>
          <p:cNvSpPr/>
          <p:nvPr/>
        </p:nvSpPr>
        <p:spPr>
          <a:xfrm>
            <a:off x="8382000" y="4381500"/>
            <a:ext cx="6350000" cy="1168400"/>
          </a:xfrm>
          <a:prstGeom prst="rect">
            <a:avLst/>
          </a:prstGeom>
          <a:solidFill>
            <a:srgbClr val="0D0F1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9600C79B-3AB4-4874-A61D-F8A1E15AF374}"/>
              </a:ext>
            </a:extLst>
          </p:cNvPr>
          <p:cNvSpPr/>
          <p:nvPr/>
        </p:nvSpPr>
        <p:spPr>
          <a:xfrm>
            <a:off x="8636000" y="4711700"/>
            <a:ext cx="508000" cy="508000"/>
          </a:xfrm>
          <a:prstGeom prst="ellipse">
            <a:avLst/>
          </a:prstGeom>
          <a:solidFill>
            <a:srgbClr val="C8FF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de-AT" sz="1200" b="1">
                <a:solidFill>
                  <a:srgbClr val="0B0C0E"/>
                </a:solidFill>
              </a:rPr>
              <a:t>02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A76127F-07F4-4DD7-AB29-5DE291AD2DFD}"/>
              </a:ext>
            </a:extLst>
          </p:cNvPr>
          <p:cNvSpPr txBox="1"/>
          <p:nvPr/>
        </p:nvSpPr>
        <p:spPr>
          <a:xfrm>
            <a:off x="9398000" y="46101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AT" b="1">
                <a:solidFill>
                  <a:srgbClr val="E8E4D9"/>
                </a:solidFill>
              </a:rPr>
              <a:t>AI-Extraktion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89F87A1C-4CEA-42F8-BC85-AC596105567E}"/>
              </a:ext>
            </a:extLst>
          </p:cNvPr>
          <p:cNvSpPr txBox="1"/>
          <p:nvPr/>
        </p:nvSpPr>
        <p:spPr>
          <a:xfrm>
            <a:off x="9398000" y="4965700"/>
            <a:ext cx="4826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DE" sz="1300">
                <a:solidFill>
                  <a:srgbClr val="A7ABB2"/>
                </a:solidFill>
              </a:rPr>
              <a:t>Prompts ziehen die relevanten elektrischen Parameter heraus.</a:t>
            </a:r>
            <a:endParaRPr lang="de-AT" sz="1300">
              <a:solidFill>
                <a:srgbClr val="A7ABB2"/>
              </a:solidFill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68BFCF3-06E4-4EE7-8C76-4334824BB294}"/>
              </a:ext>
            </a:extLst>
          </p:cNvPr>
          <p:cNvSpPr/>
          <p:nvPr/>
        </p:nvSpPr>
        <p:spPr>
          <a:xfrm>
            <a:off x="8382000" y="5905500"/>
            <a:ext cx="6350000" cy="1168400"/>
          </a:xfrm>
          <a:prstGeom prst="rect">
            <a:avLst/>
          </a:prstGeom>
          <a:solidFill>
            <a:srgbClr val="0D0F1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6B50BE7-0FAA-4FEF-8074-685B8552E5C9}"/>
              </a:ext>
            </a:extLst>
          </p:cNvPr>
          <p:cNvSpPr/>
          <p:nvPr/>
        </p:nvSpPr>
        <p:spPr>
          <a:xfrm>
            <a:off x="8636000" y="6235700"/>
            <a:ext cx="508000" cy="508000"/>
          </a:xfrm>
          <a:prstGeom prst="ellipse">
            <a:avLst/>
          </a:prstGeom>
          <a:solidFill>
            <a:srgbClr val="C8FF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de-AT" sz="1200" b="1">
                <a:solidFill>
                  <a:srgbClr val="0B0C0E"/>
                </a:solidFill>
              </a:rPr>
              <a:t>03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428848A-14DF-4FC3-A434-09122EC524A6}"/>
              </a:ext>
            </a:extLst>
          </p:cNvPr>
          <p:cNvSpPr txBox="1"/>
          <p:nvPr/>
        </p:nvSpPr>
        <p:spPr>
          <a:xfrm>
            <a:off x="9398000" y="61341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AT" b="1">
                <a:solidFill>
                  <a:srgbClr val="E8E4D9"/>
                </a:solidFill>
              </a:rPr>
              <a:t>Strukturierte Datenbank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101202B2-B797-4663-BBDB-6B8E9DAC52BF}"/>
              </a:ext>
            </a:extLst>
          </p:cNvPr>
          <p:cNvSpPr txBox="1"/>
          <p:nvPr/>
        </p:nvSpPr>
        <p:spPr>
          <a:xfrm>
            <a:off x="9398000" y="6489700"/>
            <a:ext cx="4826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DE" sz="1300">
                <a:solidFill>
                  <a:srgbClr val="A7ABB2"/>
                </a:solidFill>
              </a:rPr>
              <a:t>Ergebnisse landen in PostgreSQL und werden im Frontend prüfbar.</a:t>
            </a:r>
            <a:endParaRPr lang="de-AT" sz="1300">
              <a:solidFill>
                <a:srgbClr val="A7ABB2"/>
              </a:solidFill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D8305DCB-0DE9-4A10-AD0A-945026F6AACA}"/>
              </a:ext>
            </a:extLst>
          </p:cNvPr>
          <p:cNvSpPr txBox="1"/>
          <p:nvPr/>
        </p:nvSpPr>
        <p:spPr>
          <a:xfrm>
            <a:off x="11366500" y="40386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AT" sz="2200" b="1">
                <a:solidFill>
                  <a:srgbClr val="C8FF2E"/>
                </a:solidFill>
              </a:rPr>
              <a:t>↓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8C37667F-CE76-4E1A-9C0E-A8B94FD05F5D}"/>
              </a:ext>
            </a:extLst>
          </p:cNvPr>
          <p:cNvSpPr txBox="1"/>
          <p:nvPr/>
        </p:nvSpPr>
        <p:spPr>
          <a:xfrm>
            <a:off x="11366500" y="55626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AT" sz="2200" b="1">
                <a:solidFill>
                  <a:srgbClr val="C8FF2E"/>
                </a:solidFill>
              </a:rPr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12637286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ARCHITEKTUR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SERVER-STRUKTUR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222500"/>
            <a:ext cx="6604000" cy="566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>
                <a:solidFill>
                  <a:srgbClr val="C8FF2E"/>
                </a:solidFill>
                <a:latin typeface="Liter" pitchFamily="34" charset="0"/>
              </a:rPr>
              <a:t>Proxmox lxc / Cloudflare tunnel / tailscale</a:t>
            </a:r>
            <a:endParaRPr lang="en-US" sz="1800" dirty="0"/>
          </a:p>
          <a:p>
            <a:pPr algn="l">
              <a:lnSpc>
                <a:spcPct val="160000"/>
              </a:lnSpc>
              <a:spcBef>
                <a:spcPts val="16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Sheetbase läuft auf einem Proxmox lxc und wird über einen Cloudflare tunnel auf eine Domain geforwarded. Tailscale für access auf den Proxmox Host.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1600"/>
              </a:spcBef>
            </a:pPr>
            <a:r>
              <a:rPr lang="en-US">
                <a:solidFill>
                  <a:srgbClr val="C8FF2E"/>
                </a:solidFill>
                <a:latin typeface="Liter" pitchFamily="34" charset="0"/>
              </a:rPr>
              <a:t>Tech-Stack</a:t>
            </a:r>
            <a:endParaRPr lang="en-US" sz="1800" dirty="0"/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PostgreSQL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SQLALCHEMY</a:t>
            </a:r>
            <a:endParaRPr lang="en-US" sz="1800">
              <a:solidFill>
                <a:srgbClr val="E8E4D9"/>
              </a:solidFill>
              <a:latin typeface="Liter" pitchFamily="34" charset="0"/>
            </a:endParaRP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Flask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Tailwind CSS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Open-Router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PYMUPDF</a:t>
            </a:r>
            <a:endParaRPr lang="en-US" sz="1800">
              <a:solidFill>
                <a:srgbClr val="E8E4D9"/>
              </a:solidFill>
              <a:latin typeface="Liter" pitchFamily="34" charset="0"/>
            </a:endParaRP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endParaRPr lang="en-US" sz="1800">
              <a:solidFill>
                <a:srgbClr val="E8E4D9"/>
              </a:solidFill>
              <a:latin typeface="Liter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874000" y="1841500"/>
            <a:ext cx="7620000" cy="4699000"/>
          </a:xfrm>
          <a:prstGeom prst="rect">
            <a:avLst/>
          </a:prstGeom>
          <a:solidFill>
            <a:srgbClr val="18181B"/>
          </a:soli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04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E56AFC-C123-312F-28C1-0BD8D173F2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338" y="3784600"/>
            <a:ext cx="1945268" cy="50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3E6D431-313C-8492-D6C9-DB986DF29B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9944" y="1854200"/>
            <a:ext cx="5364056" cy="47893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619614-C383-30FD-4D47-639E1A0F47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000" y="6731000"/>
            <a:ext cx="5364056" cy="1928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808867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DATENBANK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DATABASE-STRUKTUR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36002" y="2222500"/>
            <a:ext cx="7366000" cy="469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>
                <a:solidFill>
                  <a:srgbClr val="C8FF2E"/>
                </a:solidFill>
                <a:latin typeface="Liter" pitchFamily="34" charset="0"/>
              </a:rPr>
              <a:t>POSTGRESQL</a:t>
            </a:r>
            <a:endParaRPr lang="en-US" sz="1800" dirty="0"/>
          </a:p>
          <a:p>
            <a:pPr algn="l">
              <a:lnSpc>
                <a:spcPct val="160000"/>
              </a:lnSpc>
              <a:spcBef>
                <a:spcPts val="1600"/>
              </a:spcBef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Tables:</a:t>
            </a:r>
          </a:p>
          <a:p>
            <a:pPr marL="285750" indent="-285750" algn="l">
              <a:lnSpc>
                <a:spcPct val="160000"/>
              </a:lnSpc>
              <a:spcBef>
                <a:spcPts val="4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OPV</a:t>
            </a:r>
          </a:p>
          <a:p>
            <a:pPr marL="285750" indent="-285750" algn="l">
              <a:lnSpc>
                <a:spcPct val="160000"/>
              </a:lnSpc>
              <a:spcBef>
                <a:spcPts val="4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BJT</a:t>
            </a:r>
          </a:p>
          <a:p>
            <a:pPr marL="285750" indent="-285750" algn="l">
              <a:lnSpc>
                <a:spcPct val="160000"/>
              </a:lnSpc>
              <a:spcBef>
                <a:spcPts val="4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MOSFET</a:t>
            </a:r>
          </a:p>
          <a:p>
            <a:pPr algn="l">
              <a:lnSpc>
                <a:spcPct val="160000"/>
              </a:lnSpc>
              <a:spcBef>
                <a:spcPts val="4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API</a:t>
            </a:r>
            <a:r>
              <a:rPr lang="en-US">
                <a:solidFill>
                  <a:srgbClr val="E8E4D9"/>
                </a:solidFill>
                <a:latin typeface="Liter" pitchFamily="34" charset="0"/>
              </a:rPr>
              <a:t>:</a:t>
            </a:r>
          </a:p>
          <a:p>
            <a:pPr algn="l">
              <a:lnSpc>
                <a:spcPct val="160000"/>
              </a:lnSpc>
              <a:spcBef>
                <a:spcPts val="4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- SQLALCHEMY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05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71BD70C-D393-6574-6304-A22D002C3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454" y="1841500"/>
            <a:ext cx="4796094" cy="642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62633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C464C-3CE1-BB84-FD5F-DD94DEB9F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FAAF5C-438D-9952-D293-2D5BD298FBD0}"/>
              </a:ext>
            </a:extLst>
          </p:cNvPr>
          <p:cNvSpPr/>
          <p:nvPr/>
        </p:nvSpPr>
        <p:spPr>
          <a:xfrm>
            <a:off x="1" y="0"/>
            <a:ext cx="16255593" cy="9144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A7F06BB-1480-EC52-7634-15424FBC8521}"/>
              </a:ext>
            </a:extLst>
          </p:cNvPr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E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1742855-4121-8414-0B95-BB597D90B651}"/>
              </a:ext>
            </a:extLst>
          </p:cNvPr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B7FF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9D05584-48DF-C3A5-1E30-A9D4F554392E}"/>
              </a:ext>
            </a:extLst>
          </p:cNvPr>
          <p:cNvSpPr txBox="1"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de-AT" sz="1400" b="1" dirty="0">
                <a:solidFill>
                  <a:srgbClr val="B7FF1A"/>
                </a:solidFill>
              </a:rPr>
              <a:t>Code Auszüge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E376CE6-C4B9-2446-53A8-09F26A14C884}"/>
              </a:ext>
            </a:extLst>
          </p:cNvPr>
          <p:cNvSpPr txBox="1"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de-AT" sz="3200" dirty="0">
                <a:solidFill>
                  <a:schemeClr val="bg1"/>
                </a:solidFill>
              </a:rPr>
              <a:t>PostgreSQL + </a:t>
            </a:r>
            <a:r>
              <a:rPr lang="de-AT" sz="3200" dirty="0" err="1">
                <a:solidFill>
                  <a:schemeClr val="bg1"/>
                </a:solidFill>
              </a:rPr>
              <a:t>SQLAlchemy</a:t>
            </a:r>
            <a:r>
              <a:rPr lang="de-AT" sz="3200" dirty="0">
                <a:solidFill>
                  <a:schemeClr val="bg1"/>
                </a:solidFill>
              </a:rPr>
              <a:t> Datenmodell</a:t>
            </a:r>
            <a:endParaRPr lang="de-AT" sz="3000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DE9B64D-543C-1174-24CB-0073B4A38650}"/>
              </a:ext>
            </a:extLst>
          </p:cNvPr>
          <p:cNvSpPr txBox="1"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de-AT" sz="1000" dirty="0">
                <a:solidFill>
                  <a:srgbClr val="7C8AA0"/>
                </a:solidFill>
              </a:rPr>
              <a:t>13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ECDAF05-90E8-C5BC-3E38-F6CB1D993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431" y="1899370"/>
            <a:ext cx="8720731" cy="6691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798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KÜNSTLICHE INTELLIGENZ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AI-Model &amp; prompt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222500"/>
            <a:ext cx="660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OPENROUTER</a:t>
            </a:r>
            <a:endParaRPr lang="en-US" sz="1800"/>
          </a:p>
          <a:p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Modelle:</a:t>
            </a:r>
          </a:p>
          <a:p>
            <a:pPr marL="285750" indent="-285750" algn="l">
              <a:lnSpc>
                <a:spcPct val="160000"/>
              </a:lnSpc>
              <a:spcBef>
                <a:spcPts val="12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GPT-OSS-120b:free</a:t>
            </a:r>
          </a:p>
          <a:p>
            <a:pPr marL="285750" indent="-285750" algn="l">
              <a:lnSpc>
                <a:spcPct val="160000"/>
              </a:lnSpc>
              <a:spcBef>
                <a:spcPts val="12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Llma</a:t>
            </a:r>
            <a:r>
              <a:rPr lang="en-US">
                <a:solidFill>
                  <a:srgbClr val="E8E4D9"/>
                </a:solidFill>
                <a:latin typeface="Liter" pitchFamily="34" charset="0"/>
              </a:rPr>
              <a:t>-3.3-70B-instruct:free (fallback)</a:t>
            </a:r>
            <a:endParaRPr lang="en-US" sz="1800"/>
          </a:p>
          <a:p>
            <a:pPr algn="l">
              <a:lnSpc>
                <a:spcPct val="160000"/>
              </a:lnSpc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06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DF146B5-3AA1-1A3E-CA2A-958669F8B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3714" y="2044700"/>
            <a:ext cx="7073900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725964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F3570-A306-6070-2147-FA837ED0C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7763B80-B13E-3334-9A4D-13D19C99EA17}"/>
              </a:ext>
            </a:extLst>
          </p:cNvPr>
          <p:cNvSpPr/>
          <p:nvPr/>
        </p:nvSpPr>
        <p:spPr>
          <a:xfrm>
            <a:off x="1" y="0"/>
            <a:ext cx="16255593" cy="9144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ECF736D-CC48-92CD-F697-1F50C101391C}"/>
              </a:ext>
            </a:extLst>
          </p:cNvPr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E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683B0D6-8613-B537-CFEB-38F2051C5CC0}"/>
              </a:ext>
            </a:extLst>
          </p:cNvPr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B7FF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829A75D-6387-2A59-32D1-85323D051635}"/>
              </a:ext>
            </a:extLst>
          </p:cNvPr>
          <p:cNvSpPr txBox="1"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de-AT" sz="1400" b="1" dirty="0">
                <a:solidFill>
                  <a:srgbClr val="B7FF1A"/>
                </a:solidFill>
              </a:rPr>
              <a:t>Code Auszüge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5023E6A-1435-D7C0-F61B-4CEF4563502B}"/>
              </a:ext>
            </a:extLst>
          </p:cNvPr>
          <p:cNvSpPr txBox="1"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de-AT" sz="3200" dirty="0" err="1">
                <a:solidFill>
                  <a:schemeClr val="bg1"/>
                </a:solidFill>
              </a:rPr>
              <a:t>OpenRouter</a:t>
            </a:r>
            <a:r>
              <a:rPr lang="de-AT" sz="3200" dirty="0">
                <a:solidFill>
                  <a:schemeClr val="bg1"/>
                </a:solidFill>
              </a:rPr>
              <a:t> API + Model </a:t>
            </a:r>
            <a:r>
              <a:rPr lang="de-AT" sz="3200" dirty="0" err="1">
                <a:solidFill>
                  <a:schemeClr val="bg1"/>
                </a:solidFill>
              </a:rPr>
              <a:t>Fallback</a:t>
            </a:r>
            <a:endParaRPr lang="de-AT" sz="3000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8647164-64F4-F831-D1D6-D07937FA1F94}"/>
              </a:ext>
            </a:extLst>
          </p:cNvPr>
          <p:cNvSpPr txBox="1"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de-AT" sz="1000" dirty="0">
                <a:solidFill>
                  <a:srgbClr val="7C8AA0"/>
                </a:solidFill>
              </a:rPr>
              <a:t>15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699A889-2CDA-55AC-9422-857E37CA5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5479" y="1943100"/>
            <a:ext cx="11325041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125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OPTIMIERUNG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PROMPT-ENGINEERING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2000" y="2222500"/>
            <a:ext cx="4699000" cy="2921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2000" y="2222500"/>
            <a:ext cx="4699000" cy="508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24765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STRATEGIE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984500"/>
            <a:ext cx="4191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0000" indent="-220000" algn="l">
              <a:lnSpc>
                <a:spcPct val="145000"/>
              </a:lnSpc>
              <a:buFontTx/>
              <a:buChar char="-"/>
            </a:pP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Zero-shot-Prompt mit Expertenrolle</a:t>
            </a:r>
          </a:p>
          <a:p>
            <a:pPr marL="220000" indent="-220000" algn="l">
              <a:lnSpc>
                <a:spcPct val="145000"/>
              </a:lnSpc>
              <a:spcBef>
                <a:spcPts val="650"/>
              </a:spcBef>
              <a:buFontTx/>
              <a:buChar char="-"/>
            </a:pP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Schema-first: opv / bjt / mosfet direkt im Prompt</a:t>
            </a:r>
          </a:p>
          <a:p>
            <a:pPr marL="220000" indent="-220000" algn="l">
              <a:lnSpc>
                <a:spcPct val="145000"/>
              </a:lnSpc>
              <a:spcBef>
                <a:spcPts val="650"/>
              </a:spcBef>
              <a:buFontTx/>
              <a:buChar char="-"/>
            </a:pP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Nur explizite Werte; NULL statt Raten oder Rechnen</a:t>
            </a:r>
          </a:p>
        </p:txBody>
      </p:sp>
      <p:sp>
        <p:nvSpPr>
          <p:cNvPr id="9" name="Shape 7"/>
          <p:cNvSpPr/>
          <p:nvPr/>
        </p:nvSpPr>
        <p:spPr>
          <a:xfrm>
            <a:off x="5778500" y="2222500"/>
            <a:ext cx="4699000" cy="2921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778500" y="2222500"/>
            <a:ext cx="4699000" cy="508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032500" y="24765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EFFEKTIVE PROMPTS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032500" y="2984500"/>
            <a:ext cx="4191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0000" indent="-220000" algn="l">
              <a:lnSpc>
                <a:spcPct val="135000"/>
              </a:lnSpc>
              <a:buFontTx/>
              <a:buChar char="-"/>
            </a:pPr>
            <a:r>
              <a:rPr lang="en-US" sz="15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“ONLY extract values explicitly stated.”</a:t>
            </a:r>
          </a:p>
          <a:p>
            <a:pPr marL="220000" indent="-220000" algn="l">
              <a:lnSpc>
                <a:spcPct val="135000"/>
              </a:lnSpc>
              <a:spcBef>
                <a:spcPts val="500"/>
              </a:spcBef>
              <a:buFontTx/>
              <a:buChar char="-"/>
            </a:pPr>
            <a:r>
              <a:rPr lang="en-US" sz="15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BC547A/B/C → drei separate INSERTs</a:t>
            </a:r>
          </a:p>
          <a:p>
            <a:pPr marL="220000" indent="-220000" algn="l">
              <a:lnSpc>
                <a:spcPct val="135000"/>
              </a:lnSpc>
              <a:spcBef>
                <a:spcPts val="500"/>
              </a:spcBef>
              <a:buFontTx/>
              <a:buChar char="-"/>
            </a:pPr>
            <a:r>
              <a:rPr lang="de-DE" sz="15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hFE: A=110–220, B=200–450, C=420–800</a:t>
            </a:r>
          </a:p>
          <a:p>
            <a:pPr marL="220000" indent="-220000" algn="l">
              <a:lnSpc>
                <a:spcPct val="135000"/>
              </a:lnSpc>
              <a:spcBef>
                <a:spcPts val="500"/>
              </a:spcBef>
              <a:buFontTx/>
              <a:buChar char="-"/>
            </a:pPr>
            <a:r>
              <a:rPr lang="de-DE" sz="15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3–36 V bleibt Bereich; graph-only → NULL</a:t>
            </a:r>
          </a:p>
        </p:txBody>
      </p:sp>
      <p:sp>
        <p:nvSpPr>
          <p:cNvPr id="13" name="Shape 11"/>
          <p:cNvSpPr/>
          <p:nvPr/>
        </p:nvSpPr>
        <p:spPr>
          <a:xfrm>
            <a:off x="10795000" y="2222500"/>
            <a:ext cx="4699000" cy="2921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795000" y="2222500"/>
            <a:ext cx="4699000" cy="508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049000" y="24765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BEST PRACTICES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049000" y="2984500"/>
            <a:ext cx="4191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0000" indent="-220000" algn="l">
              <a:lnSpc>
                <a:spcPct val="145000"/>
              </a:lnSpc>
              <a:buFontTx/>
              <a:buChar char="-"/>
            </a:pP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Synonyme mappen: </a:t>
            </a:r>
            <a:r>
              <a:rPr lang="de-DE" sz="1550" dirty="0" err="1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hFE</a:t>
            </a: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= DC Current Gain</a:t>
            </a:r>
          </a:p>
          <a:p>
            <a:pPr marL="220000" indent="-220000" algn="l">
              <a:lnSpc>
                <a:spcPct val="145000"/>
              </a:lnSpc>
              <a:spcBef>
                <a:spcPts val="650"/>
              </a:spcBef>
              <a:buFontTx/>
              <a:buChar char="-"/>
            </a:pP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Output hart begrenzen: nur SQL, keine Kommentare</a:t>
            </a:r>
          </a:p>
          <a:p>
            <a:pPr marL="220000" indent="-220000" algn="l">
              <a:lnSpc>
                <a:spcPct val="145000"/>
              </a:lnSpc>
              <a:spcBef>
                <a:spcPts val="650"/>
              </a:spcBef>
              <a:buFontTx/>
              <a:buChar char="-"/>
            </a:pP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Nächstes: Versionierung + Few-shot-Testfälle</a:t>
            </a:r>
          </a:p>
        </p:txBody>
      </p:sp>
      <p:sp>
        <p:nvSpPr>
          <p:cNvPr id="17" name="Text 15"/>
          <p:cNvSpPr/>
          <p:nvPr/>
        </p:nvSpPr>
        <p:spPr>
          <a:xfrm>
            <a:off x="762000" y="5588000"/>
            <a:ext cx="14732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</a:pPr>
            <a:endParaRPr lang="de-DE" sz="1650" dirty="0"/>
          </a:p>
        </p:txBody>
      </p:sp>
      <p:sp>
        <p:nvSpPr>
          <p:cNvPr id="18" name="Shape 16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5776871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GROSSE DATENMENGEN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CHUNK BASED PROMPTING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222500"/>
            <a:ext cx="1473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Bei großen Datenblättern überschreiten wir die max. Tokens, deswegen:</a:t>
            </a:r>
            <a:endParaRPr lang="en-US" sz="1800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Benutzen wir chunks um in mehrere kleine chunks zu teilen.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2000" y="3683000"/>
            <a:ext cx="3429000" cy="1778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52500" y="3810000"/>
            <a:ext cx="698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52500" y="43180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600" b="1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Daten einlesen</a:t>
            </a:r>
            <a:endParaRPr lang="en-US" sz="1600" dirty="0"/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lang="en-US" sz="1400">
                <a:solidFill>
                  <a:schemeClr val="bg1"/>
                </a:solidFill>
                <a:latin typeface="Liter" pitchFamily="34" charset="0"/>
              </a:rPr>
              <a:t>Seiten-Anzahl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4318000" y="4445000"/>
            <a:ext cx="381000" cy="0"/>
          </a:xfrm>
          <a:prstGeom prst="straightConnector1">
            <a:avLst/>
          </a:prstGeom>
          <a:noFill/>
          <a:ln w="25400">
            <a:solidFill>
              <a:srgbClr val="C8FF2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26000" y="3683000"/>
            <a:ext cx="3429000" cy="1778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16500" y="3810000"/>
            <a:ext cx="698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016500" y="43180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600" b="1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Chunking</a:t>
            </a:r>
            <a:endParaRPr lang="en-US" sz="1600" dirty="0"/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lang="en-US" sz="1400">
                <a:solidFill>
                  <a:schemeClr val="bg1"/>
                </a:solidFill>
                <a:latin typeface="Liter" pitchFamily="34" charset="0"/>
              </a:rPr>
              <a:t>In 10 Seiten chunks teilen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382000" y="4445000"/>
            <a:ext cx="381000" cy="0"/>
          </a:xfrm>
          <a:prstGeom prst="straightConnector1">
            <a:avLst/>
          </a:prstGeom>
          <a:noFill/>
          <a:ln w="25400">
            <a:solidFill>
              <a:srgbClr val="C8FF2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890000" y="3683000"/>
            <a:ext cx="3429000" cy="1778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080500" y="3810000"/>
            <a:ext cx="698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080500" y="43180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600" b="1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AI-Verarbeitung</a:t>
            </a:r>
            <a:endParaRPr lang="en-US" sz="1600" dirty="0"/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lang="en-US" sz="1400">
                <a:solidFill>
                  <a:schemeClr val="bg1"/>
                </a:solidFill>
                <a:latin typeface="Liter" pitchFamily="34" charset="0"/>
              </a:rPr>
              <a:t>Aus chunks Daten herausholen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2446000" y="4445000"/>
            <a:ext cx="381000" cy="0"/>
          </a:xfrm>
          <a:prstGeom prst="straightConnector1">
            <a:avLst/>
          </a:prstGeom>
          <a:noFill/>
          <a:ln w="25400">
            <a:solidFill>
              <a:srgbClr val="C8FF2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2954000" y="3683000"/>
            <a:ext cx="2540000" cy="1778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3144500" y="3810000"/>
            <a:ext cx="698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3144500" y="4318000"/>
            <a:ext cx="215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600" b="1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Ergebnis</a:t>
            </a:r>
            <a:endParaRPr lang="en-US" sz="1600" dirty="0"/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lang="en-US" sz="1400">
                <a:solidFill>
                  <a:schemeClr val="bg1"/>
                </a:solidFill>
                <a:latin typeface="Liter" pitchFamily="34" charset="0"/>
              </a:rPr>
              <a:t>Daten zusammenfügen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08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CDE9146-1BF9-FF77-45F6-3F5CE004E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778500"/>
            <a:ext cx="3898900" cy="18542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9E6AA4E-C687-0D10-B490-2789283320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4600" y="5778500"/>
            <a:ext cx="7772400" cy="3191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91521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4E40-1682-705C-B99A-788DA2D3B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D92DD6-0050-3677-34E4-D6C94AA855D3}"/>
              </a:ext>
            </a:extLst>
          </p:cNvPr>
          <p:cNvSpPr/>
          <p:nvPr/>
        </p:nvSpPr>
        <p:spPr>
          <a:xfrm>
            <a:off x="1" y="0"/>
            <a:ext cx="16255593" cy="9144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3B17514-561F-01E9-C512-6CB55E3B0591}"/>
              </a:ext>
            </a:extLst>
          </p:cNvPr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E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61A3452-A1BD-6D50-8BB4-B408332BDF5A}"/>
              </a:ext>
            </a:extLst>
          </p:cNvPr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B7FF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13567BF-970A-917F-51FF-AA05CAB35DC8}"/>
              </a:ext>
            </a:extLst>
          </p:cNvPr>
          <p:cNvSpPr txBox="1"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de-AT" sz="1400" b="1" dirty="0">
                <a:solidFill>
                  <a:srgbClr val="B7FF1A"/>
                </a:solidFill>
              </a:rPr>
              <a:t>Code Auszüge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406F7FE-F9DF-BB1D-32F3-4B85ACEFFA2A}"/>
              </a:ext>
            </a:extLst>
          </p:cNvPr>
          <p:cNvSpPr txBox="1"/>
          <p:nvPr/>
        </p:nvSpPr>
        <p:spPr>
          <a:xfrm>
            <a:off x="762000" y="1016000"/>
            <a:ext cx="8988392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de-AT" sz="3200" dirty="0">
                <a:solidFill>
                  <a:schemeClr val="bg1"/>
                </a:solidFill>
              </a:rPr>
              <a:t>Parallele Verarbeitung mit </a:t>
            </a:r>
            <a:r>
              <a:rPr lang="de-AT" sz="3200" dirty="0" err="1">
                <a:solidFill>
                  <a:schemeClr val="bg1"/>
                </a:solidFill>
              </a:rPr>
              <a:t>ThreadPoolExecutor</a:t>
            </a:r>
            <a:endParaRPr lang="de-AT" sz="3000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923BB4D-C4F5-409F-0D91-2A38D39136D0}"/>
              </a:ext>
            </a:extLst>
          </p:cNvPr>
          <p:cNvSpPr txBox="1"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de-AT" sz="1000" dirty="0">
                <a:solidFill>
                  <a:srgbClr val="7C8AA0"/>
                </a:solidFill>
              </a:rPr>
              <a:t>15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A46E545-AD1C-B25A-DB6C-C44FB0772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277" y="1931440"/>
            <a:ext cx="11327039" cy="6850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717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BACKEND-STRUKTUR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70000" y="2234235"/>
            <a:ext cx="6604000" cy="469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Flask</a:t>
            </a:r>
            <a:endParaRPr lang="en-US" sz="1800" dirty="0"/>
          </a:p>
          <a:p>
            <a:pPr algn="l">
              <a:lnSpc>
                <a:spcPct val="160000"/>
              </a:lnSpc>
              <a:spcBef>
                <a:spcPts val="16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Mit REST-API: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GET /DATA/[category]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POST /upload-pdf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GET /test-db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Upload-status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Upload-pdf-sync</a:t>
            </a:r>
            <a:endParaRPr lang="en-US" sz="1800" dirty="0"/>
          </a:p>
          <a:p>
            <a:pPr algn="l">
              <a:lnSpc>
                <a:spcPct val="160000"/>
              </a:lnSpc>
              <a:spcBef>
                <a:spcPts val="1600"/>
              </a:spcBef>
            </a:pP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09</a:t>
            </a: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DCB1E0B-CFB1-913E-E477-44D6E886EAFD}"/>
              </a:ext>
            </a:extLst>
          </p:cNvPr>
          <p:cNvSpPr/>
          <p:nvPr/>
        </p:nvSpPr>
        <p:spPr>
          <a:xfrm>
            <a:off x="6528122" y="2222500"/>
            <a:ext cx="6604000" cy="469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  <a:spcBef>
                <a:spcPts val="1600"/>
              </a:spcBef>
            </a:pPr>
            <a:endParaRPr lang="en-US" sz="1800">
              <a:solidFill>
                <a:srgbClr val="E8E4D9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  <a:p>
            <a:pPr algn="l">
              <a:lnSpc>
                <a:spcPct val="160000"/>
              </a:lnSpc>
              <a:spcBef>
                <a:spcPts val="1600"/>
              </a:spcBef>
            </a:pPr>
            <a:r>
              <a:rPr lang="en-US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Erklärung:</a:t>
            </a:r>
            <a:endParaRPr lang="en-US" sz="1800">
              <a:solidFill>
                <a:srgbClr val="E8E4D9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Holt Werte aus DB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PDF upload zum weiterverarbeiten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DB connection test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Status des upload / prompts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chunking</a:t>
            </a:r>
          </a:p>
        </p:txBody>
      </p:sp>
    </p:spTree>
    <p:extLst>
      <p:ext uri="{BB962C8B-B14F-4D97-AF65-F5344CB8AC3E}">
        <p14:creationId xmlns:p14="http://schemas.microsoft.com/office/powerpoint/2010/main" val="2100701196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9C68F-7815-73DB-DFAD-BC6B84410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9993FEF-5ECA-4418-65AA-387FFF94256C}"/>
              </a:ext>
            </a:extLst>
          </p:cNvPr>
          <p:cNvSpPr/>
          <p:nvPr/>
        </p:nvSpPr>
        <p:spPr>
          <a:xfrm>
            <a:off x="1" y="0"/>
            <a:ext cx="16255593" cy="9144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9CA8A3D-B968-6E5A-8A88-C61E5C895619}"/>
              </a:ext>
            </a:extLst>
          </p:cNvPr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E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536BA1D-B977-688C-6C33-A06A168F52BD}"/>
              </a:ext>
            </a:extLst>
          </p:cNvPr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B7FF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81F0B1B-6CCF-3033-FCE9-E1392FCE6FDE}"/>
              </a:ext>
            </a:extLst>
          </p:cNvPr>
          <p:cNvSpPr txBox="1"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de-AT" sz="1400" b="1" dirty="0">
                <a:solidFill>
                  <a:srgbClr val="B7FF1A"/>
                </a:solidFill>
              </a:rPr>
              <a:t>Code Auszüge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AC6C69D-84A8-4DDF-DC7B-8E9FE2695640}"/>
              </a:ext>
            </a:extLst>
          </p:cNvPr>
          <p:cNvSpPr txBox="1"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de-AT" sz="3200" dirty="0">
                <a:solidFill>
                  <a:schemeClr val="bg1"/>
                </a:solidFill>
              </a:rPr>
              <a:t>PDF-Extraktion mit </a:t>
            </a:r>
            <a:r>
              <a:rPr lang="de-AT" sz="3200" dirty="0" err="1">
                <a:solidFill>
                  <a:schemeClr val="bg1"/>
                </a:solidFill>
              </a:rPr>
              <a:t>PyMuPDF</a:t>
            </a:r>
            <a:endParaRPr lang="de-AT" sz="3000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651E85-E388-26E0-3221-4ECB198AAF71}"/>
              </a:ext>
            </a:extLst>
          </p:cNvPr>
          <p:cNvSpPr txBox="1"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de-AT" sz="1000" dirty="0">
                <a:solidFill>
                  <a:srgbClr val="7C8AA0"/>
                </a:solidFill>
              </a:rPr>
              <a:t>14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975F97C-0161-0374-0164-0D37AF836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7562" y="1905000"/>
            <a:ext cx="10240875" cy="6770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428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5360D-6142-849A-959F-C2303A927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E293CA-3293-6C41-495A-E721ADA0A5E9}"/>
              </a:ext>
            </a:extLst>
          </p:cNvPr>
          <p:cNvSpPr/>
          <p:nvPr/>
        </p:nvSpPr>
        <p:spPr>
          <a:xfrm>
            <a:off x="1" y="0"/>
            <a:ext cx="16255593" cy="9144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99A5D58-A32D-CB42-51B6-9C63BD7CCEFD}"/>
              </a:ext>
            </a:extLst>
          </p:cNvPr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E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71EBFDB-B4B6-ED60-89C7-8AA6A9AEB0A1}"/>
              </a:ext>
            </a:extLst>
          </p:cNvPr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B7FF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D89220B-FDC6-75F5-89CD-B6F6FB1EE4B5}"/>
              </a:ext>
            </a:extLst>
          </p:cNvPr>
          <p:cNvSpPr txBox="1"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de-AT" sz="1400" b="1" dirty="0">
                <a:solidFill>
                  <a:srgbClr val="B7FF1A"/>
                </a:solidFill>
              </a:rPr>
              <a:t>Code Auszüge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AAAEB1E-1515-C896-54C3-276C619FC5FA}"/>
              </a:ext>
            </a:extLst>
          </p:cNvPr>
          <p:cNvSpPr txBox="1"/>
          <p:nvPr/>
        </p:nvSpPr>
        <p:spPr>
          <a:xfrm>
            <a:off x="762000" y="1016000"/>
            <a:ext cx="8988392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de-AT" sz="3200" dirty="0">
                <a:solidFill>
                  <a:schemeClr val="bg1"/>
                </a:solidFill>
              </a:rPr>
              <a:t>Gesamte Backend-Pipeline</a:t>
            </a:r>
            <a:endParaRPr lang="de-AT" sz="3000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5636F78-E87B-5BEA-498C-4239FC5C5F8B}"/>
              </a:ext>
            </a:extLst>
          </p:cNvPr>
          <p:cNvSpPr txBox="1"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de-AT" sz="1000" dirty="0">
                <a:solidFill>
                  <a:srgbClr val="7C8AA0"/>
                </a:solidFill>
              </a:rPr>
              <a:t>15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8114D50-5461-C973-E024-7D17F6F29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1" y="2381183"/>
            <a:ext cx="6603796" cy="431742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03F71C4-604A-44E6-62C6-7EF5BC7A7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7" y="2381183"/>
            <a:ext cx="6604203" cy="5827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95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INTERFACE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FRONTEND-STRUKTUR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109691" y="2222500"/>
            <a:ext cx="7366000" cy="469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Tailwind CSS</a:t>
            </a:r>
          </a:p>
          <a:p>
            <a:pPr marL="285750" indent="-285750" algn="l">
              <a:lnSpc>
                <a:spcPct val="160000"/>
              </a:lnSpc>
              <a:buFontTx/>
              <a:buChar char="-"/>
            </a:pPr>
            <a:r>
              <a:rPr lang="en-US">
                <a:solidFill>
                  <a:schemeClr val="bg1"/>
                </a:solidFill>
                <a:latin typeface="Liter" pitchFamily="34" charset="0"/>
              </a:rPr>
              <a:t>index.html</a:t>
            </a:r>
          </a:p>
          <a:p>
            <a:pPr marL="285750" indent="-285750" algn="l">
              <a:lnSpc>
                <a:spcPct val="160000"/>
              </a:lnSpc>
              <a:buFontTx/>
              <a:buChar char="-"/>
            </a:pPr>
            <a:r>
              <a:rPr lang="en-US" sz="1800">
                <a:solidFill>
                  <a:schemeClr val="bg1"/>
                </a:solidFill>
                <a:latin typeface="Liter" pitchFamily="34" charset="0"/>
              </a:rPr>
              <a:t>Docs.html</a:t>
            </a:r>
          </a:p>
          <a:p>
            <a:pPr algn="l">
              <a:lnSpc>
                <a:spcPct val="160000"/>
              </a:lnSpc>
            </a:pPr>
            <a:r>
              <a:rPr lang="en-US">
                <a:solidFill>
                  <a:schemeClr val="bg1"/>
                </a:solidFill>
                <a:latin typeface="Liter" pitchFamily="34" charset="0"/>
              </a:rPr>
              <a:t>Fonts von googleapi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10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F584F5-89FE-417E-7E9E-13848F8E3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54200"/>
            <a:ext cx="10090230" cy="599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943569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D231FF-959C-F13B-7975-204A1F71C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4942E57-E438-4117-777A-5C09B05E5387}"/>
              </a:ext>
            </a:extLst>
          </p:cNvPr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INTERFACE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D1CDAAF-691E-DE21-C1BC-C67480C9F865}"/>
              </a:ext>
            </a:extLst>
          </p:cNvPr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FRONTEND-STRUKTUR</a:t>
            </a:r>
            <a:endParaRPr lang="en-US" sz="3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D14569E-8F3E-7638-14BA-0E696168D258}"/>
              </a:ext>
            </a:extLst>
          </p:cNvPr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67C70D1-343C-D507-9E81-1B8259624BF4}"/>
              </a:ext>
            </a:extLst>
          </p:cNvPr>
          <p:cNvSpPr/>
          <p:nvPr/>
        </p:nvSpPr>
        <p:spPr>
          <a:xfrm>
            <a:off x="12109691" y="2222500"/>
            <a:ext cx="7366000" cy="469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Tailwind CSS</a:t>
            </a:r>
          </a:p>
          <a:p>
            <a:pPr marL="285750" indent="-285750" algn="l">
              <a:lnSpc>
                <a:spcPct val="160000"/>
              </a:lnSpc>
              <a:buFontTx/>
              <a:buChar char="-"/>
            </a:pPr>
            <a:r>
              <a:rPr lang="en-US">
                <a:solidFill>
                  <a:schemeClr val="bg1"/>
                </a:solidFill>
                <a:latin typeface="Liter" pitchFamily="34" charset="0"/>
              </a:rPr>
              <a:t>index.html</a:t>
            </a:r>
          </a:p>
          <a:p>
            <a:pPr marL="285750" indent="-285750" algn="l">
              <a:lnSpc>
                <a:spcPct val="160000"/>
              </a:lnSpc>
              <a:buFontTx/>
              <a:buChar char="-"/>
            </a:pPr>
            <a:r>
              <a:rPr lang="en-US" sz="1800">
                <a:solidFill>
                  <a:schemeClr val="bg1"/>
                </a:solidFill>
                <a:latin typeface="Liter" pitchFamily="34" charset="0"/>
              </a:rPr>
              <a:t>Docs.html</a:t>
            </a:r>
          </a:p>
          <a:p>
            <a:pPr algn="l">
              <a:lnSpc>
                <a:spcPct val="160000"/>
              </a:lnSpc>
            </a:pPr>
            <a:r>
              <a:rPr lang="en-US">
                <a:solidFill>
                  <a:schemeClr val="bg1"/>
                </a:solidFill>
                <a:latin typeface="Liter" pitchFamily="34" charset="0"/>
              </a:rPr>
              <a:t>Fonts von googleapi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96520EF-C77D-9C20-E59D-552B5A2832C5}"/>
              </a:ext>
            </a:extLst>
          </p:cNvPr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3D1B075-CC4C-463D-ECB0-F29ADFA87DD2}"/>
              </a:ext>
            </a:extLst>
          </p:cNvPr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11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7C2270-7AFB-59F5-E1DD-265174E67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80" y="1864014"/>
            <a:ext cx="6030515" cy="5847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BB1C6B-E907-73BC-8C4E-90A7E75F81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115"/>
          <a:stretch>
            <a:fillRect/>
          </a:stretch>
        </p:blipFill>
        <p:spPr>
          <a:xfrm>
            <a:off x="6643868" y="1864014"/>
            <a:ext cx="4778120" cy="94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2184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ZUSAMMENFASSUNG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FAZIT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2000" y="2222500"/>
            <a:ext cx="4699000" cy="3048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2000" y="2222500"/>
            <a:ext cx="50800" cy="30480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66800" y="2476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09986" y="304800"/>
                </a:moveTo>
                <a:cubicBezTo>
                  <a:pt x="317712" y="287099"/>
                  <a:pt x="333163" y="271066"/>
                  <a:pt x="350626" y="257254"/>
                </a:cubicBezTo>
                <a:cubicBezTo>
                  <a:pt x="385233" y="229949"/>
                  <a:pt x="406400" y="193040"/>
                  <a:pt x="406400" y="152400"/>
                </a:cubicBezTo>
                <a:cubicBezTo>
                  <a:pt x="406400" y="68263"/>
                  <a:pt x="315383" y="0"/>
                  <a:pt x="203200" y="0"/>
                </a:cubicBezTo>
                <a:cubicBezTo>
                  <a:pt x="91017" y="0"/>
                  <a:pt x="0" y="68263"/>
                  <a:pt x="0" y="152400"/>
                </a:cubicBezTo>
                <a:cubicBezTo>
                  <a:pt x="0" y="193040"/>
                  <a:pt x="21167" y="229949"/>
                  <a:pt x="55774" y="257254"/>
                </a:cubicBezTo>
                <a:cubicBezTo>
                  <a:pt x="73237" y="271066"/>
                  <a:pt x="88794" y="287099"/>
                  <a:pt x="96414" y="304800"/>
                </a:cubicBezTo>
                <a:lnTo>
                  <a:pt x="309880" y="304800"/>
                </a:lnTo>
                <a:close/>
                <a:moveTo>
                  <a:pt x="304800" y="342900"/>
                </a:moveTo>
                <a:lnTo>
                  <a:pt x="101600" y="342900"/>
                </a:lnTo>
                <a:lnTo>
                  <a:pt x="101600" y="355600"/>
                </a:lnTo>
                <a:cubicBezTo>
                  <a:pt x="101600" y="390684"/>
                  <a:pt x="139488" y="419100"/>
                  <a:pt x="186267" y="419100"/>
                </a:cubicBezTo>
                <a:lnTo>
                  <a:pt x="220133" y="419100"/>
                </a:lnTo>
                <a:cubicBezTo>
                  <a:pt x="266912" y="419100"/>
                  <a:pt x="304800" y="390684"/>
                  <a:pt x="304800" y="355600"/>
                </a:cubicBezTo>
                <a:lnTo>
                  <a:pt x="304800" y="342900"/>
                </a:lnTo>
                <a:close/>
                <a:moveTo>
                  <a:pt x="194733" y="88900"/>
                </a:moveTo>
                <a:cubicBezTo>
                  <a:pt x="152612" y="88900"/>
                  <a:pt x="118533" y="114459"/>
                  <a:pt x="118533" y="146050"/>
                </a:cubicBezTo>
                <a:cubicBezTo>
                  <a:pt x="118533" y="156607"/>
                  <a:pt x="107209" y="165100"/>
                  <a:pt x="93133" y="165100"/>
                </a:cubicBezTo>
                <a:cubicBezTo>
                  <a:pt x="79058" y="165100"/>
                  <a:pt x="67733" y="156607"/>
                  <a:pt x="67733" y="146050"/>
                </a:cubicBezTo>
                <a:cubicBezTo>
                  <a:pt x="67733" y="93424"/>
                  <a:pt x="124566" y="50800"/>
                  <a:pt x="194733" y="50800"/>
                </a:cubicBezTo>
                <a:cubicBezTo>
                  <a:pt x="208809" y="50800"/>
                  <a:pt x="220133" y="59293"/>
                  <a:pt x="220133" y="69850"/>
                </a:cubicBezTo>
                <a:cubicBezTo>
                  <a:pt x="220133" y="80407"/>
                  <a:pt x="208809" y="88900"/>
                  <a:pt x="194733" y="88900"/>
                </a:cubicBezTo>
                <a:close/>
              </a:path>
            </a:pathLst>
          </a:cu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66800" y="3048000"/>
            <a:ext cx="41402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ERKENNTNISSE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66800" y="3556000"/>
            <a:ext cx="41402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Bei Teamarbeit wird am besten in mehrere Dateien getrennt um parallel arbeiten zu können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778500" y="2222500"/>
            <a:ext cx="4699000" cy="3048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778500" y="2222500"/>
            <a:ext cx="50800" cy="30480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083300" y="2476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597" y="0"/>
                </a:moveTo>
                <a:cubicBezTo>
                  <a:pt x="215265" y="0"/>
                  <a:pt x="225981" y="6429"/>
                  <a:pt x="231537" y="16669"/>
                </a:cubicBezTo>
                <a:lnTo>
                  <a:pt x="402987" y="334169"/>
                </a:lnTo>
                <a:cubicBezTo>
                  <a:pt x="408305" y="344011"/>
                  <a:pt x="408067" y="355918"/>
                  <a:pt x="402352" y="365522"/>
                </a:cubicBezTo>
                <a:cubicBezTo>
                  <a:pt x="396637" y="375126"/>
                  <a:pt x="386239" y="381000"/>
                  <a:pt x="375126" y="381000"/>
                </a:cubicBezTo>
                <a:lnTo>
                  <a:pt x="32226" y="381000"/>
                </a:lnTo>
                <a:cubicBezTo>
                  <a:pt x="21034" y="381000"/>
                  <a:pt x="10716" y="375126"/>
                  <a:pt x="5001" y="365522"/>
                </a:cubicBezTo>
                <a:cubicBezTo>
                  <a:pt x="-714" y="355918"/>
                  <a:pt x="-953" y="344011"/>
                  <a:pt x="4366" y="334169"/>
                </a:cubicBezTo>
                <a:lnTo>
                  <a:pt x="175816" y="16669"/>
                </a:lnTo>
                <a:lnTo>
                  <a:pt x="178117" y="13017"/>
                </a:lnTo>
                <a:cubicBezTo>
                  <a:pt x="183912" y="4921"/>
                  <a:pt x="193358" y="0"/>
                  <a:pt x="203597" y="0"/>
                </a:cubicBezTo>
                <a:close/>
                <a:moveTo>
                  <a:pt x="135255" y="198358"/>
                </a:moveTo>
                <a:lnTo>
                  <a:pt x="156528" y="219631"/>
                </a:lnTo>
                <a:cubicBezTo>
                  <a:pt x="161449" y="224552"/>
                  <a:pt x="169545" y="224552"/>
                  <a:pt x="174466" y="219631"/>
                </a:cubicBezTo>
                <a:lnTo>
                  <a:pt x="208836" y="185261"/>
                </a:lnTo>
                <a:cubicBezTo>
                  <a:pt x="213598" y="180499"/>
                  <a:pt x="220028" y="177800"/>
                  <a:pt x="226774" y="177800"/>
                </a:cubicBezTo>
                <a:lnTo>
                  <a:pt x="260747" y="177800"/>
                </a:lnTo>
                <a:lnTo>
                  <a:pt x="203518" y="71834"/>
                </a:lnTo>
                <a:lnTo>
                  <a:pt x="135176" y="198358"/>
                </a:lnTo>
                <a:close/>
              </a:path>
            </a:pathLst>
          </a:cu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083300" y="3048000"/>
            <a:ext cx="41402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HERAUSFORDERUNGEN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083300" y="3556000"/>
            <a:ext cx="41402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 den max. Tokens trotz großer Datenblätter zu bleiben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11236727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048000"/>
            <a:ext cx="2540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78000" y="3429000"/>
            <a:ext cx="1270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52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VIELEN DANK!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6858000" y="4699000"/>
            <a:ext cx="2540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 dirty="0">
                <a:solidFill>
                  <a:srgbClr val="7E828A"/>
                </a:solidFill>
                <a:latin typeface="Liter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35769823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D207B42-8DED-4F8D-A35A-1967718997B1}">
  <we:reference id="wa200010215" version="2.0.0.0" store="de-AT" storeType="OMEX"/>
  <we:alternateReferences>
    <we:reference id="WA200010215" version="2.0.0.0" store="WA20001021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507</Words>
  <Application>Microsoft Macintosh PowerPoint</Application>
  <PresentationFormat>Custom</PresentationFormat>
  <Paragraphs>181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Liter</vt:lpstr>
      <vt:lpstr>Arial</vt:lpstr>
      <vt:lpstr>Hedvig Letters Sans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SaaS Anwendung - Präsentationsvorlage</dc:title>
  <dc:subject>SaaS Anwendung - Präsentationsvorlage</dc:subject>
  <dc:creator>Kimi</dc:creator>
  <cp:lastModifiedBy>FRONTHALER Samuel, SchülerIn</cp:lastModifiedBy>
  <cp:revision>7</cp:revision>
  <dcterms:created xsi:type="dcterms:W3CDTF">2026-06-13T14:14:16Z</dcterms:created>
  <dcterms:modified xsi:type="dcterms:W3CDTF">2026-06-15T06:39:33Z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{"Label":"SaaS Anwendung - Präsentationsvorlage","ContentProducer":"001191110108MACG2KBH8F10000","ProduceID":"19ec1507-c892-8df1-8000-00004b5a9fc5","ReservedCode1":"","ContentPropagator":"001191110108MACG2KBH8F20000","PropagateID":"19ec14ee-3e02-837c-8000-095ff7f0725f","ReservedCode2":""}</vt:lpwstr>
  </property>
</Properties>
</file>