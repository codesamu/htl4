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16256000" cy="9144000"/>
  <p:notesSz cx="9144000" cy="16256000"/>
  <p:embeddedFontLst>
    <p:embeddedFont>
      <p:font typeface="Hedvig Letters Sans" pitchFamily="2" charset="77"/>
      <p:regular r:id="rId15"/>
    </p:embeddedFont>
    <p:embeddedFont>
      <p:font typeface="Liter" panose="0200050303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294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208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7607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AA0BF-AE02-D04B-4D26-916AB8869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1ADC4-2F70-D689-10F4-F44CF232D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75CD76-FF13-4BEC-AB10-191275675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72694-4F3C-294A-9D32-3FDA5C739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948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94000"/>
            <a:ext cx="2540000" cy="381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778000" y="3175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kern="0" spc="200">
                <a:solidFill>
                  <a:srgbClr val="E8E4D9"/>
                </a:solidFill>
                <a:latin typeface="Hedvig Letters Sans" pitchFamily="34" charset="0"/>
              </a:rPr>
              <a:t>SheetBase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048000" y="4445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>
                <a:solidFill>
                  <a:schemeClr val="bg1"/>
                </a:solidFill>
              </a:rPr>
              <a:t>Fronthaler / Glatz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0" y="5334000"/>
            <a:ext cx="2540000" cy="381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62000" y="1016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E8E4D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INHALTSVERZEICHNIS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841500"/>
            <a:ext cx="14732000" cy="12700"/>
          </a:xfrm>
          <a:prstGeom prst="rect">
            <a:avLst/>
          </a:prstGeom>
          <a:solidFill>
            <a:srgbClr val="2A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21590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600" dirty="0">
                <a:solidFill>
                  <a:srgbClr val="C8FF2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3600" dirty="0"/>
          </a:p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Server-Struktur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62000" y="36830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600" dirty="0">
                <a:solidFill>
                  <a:srgbClr val="C8FF2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3600" dirty="0"/>
          </a:p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Database-Struktur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62000" y="52070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600" dirty="0">
                <a:solidFill>
                  <a:srgbClr val="C8FF2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3600" dirty="0"/>
          </a:p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AI-Auswahl &amp; Code für AI Prompting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62000" y="67310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600" dirty="0">
                <a:solidFill>
                  <a:srgbClr val="C8FF2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3600" dirty="0"/>
          </a:p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Prompt-Engineering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636000" y="21590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600" dirty="0">
                <a:solidFill>
                  <a:srgbClr val="C8FF2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</a:t>
            </a:r>
            <a:endParaRPr lang="en-US" sz="3600" dirty="0"/>
          </a:p>
          <a:p>
            <a:pPr algn="l">
              <a:lnSpc>
                <a:spcPct val="140000"/>
              </a:lnSpc>
            </a:pPr>
            <a:r>
              <a:rPr lang="en-US" sz="200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Chunk Based Solution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636000" y="36830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600" dirty="0">
                <a:solidFill>
                  <a:srgbClr val="C8FF2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06</a:t>
            </a:r>
            <a:endParaRPr lang="en-US" sz="3600" dirty="0"/>
          </a:p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Backend-Struktur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636000" y="52070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600" dirty="0">
                <a:solidFill>
                  <a:srgbClr val="C8FF2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07</a:t>
            </a:r>
            <a:endParaRPr lang="en-US" sz="3600" dirty="0"/>
          </a:p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Frontend-Struktur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636000" y="67310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3600" dirty="0">
                <a:solidFill>
                  <a:srgbClr val="C8FF2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08</a:t>
            </a:r>
            <a:endParaRPr lang="en-US" sz="3600" dirty="0"/>
          </a:p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Fazit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762000" y="8128000"/>
            <a:ext cx="762000" cy="381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5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C8F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ARCHITEKTUR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E8E4D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SERVER-STRUKTUR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841500"/>
            <a:ext cx="14732000" cy="12700"/>
          </a:xfrm>
          <a:prstGeom prst="rect">
            <a:avLst/>
          </a:prstGeom>
          <a:solidFill>
            <a:srgbClr val="2A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2222500"/>
            <a:ext cx="6604000" cy="566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>
                <a:solidFill>
                  <a:srgbClr val="C8FF2E"/>
                </a:solidFill>
                <a:latin typeface="Liter" pitchFamily="34" charset="0"/>
              </a:rPr>
              <a:t>Proxmox lxc / Cloudflare tunnel / tailscale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>
                <a:solidFill>
                  <a:srgbClr val="E8E4D9"/>
                </a:solidFill>
                <a:latin typeface="Liter" pitchFamily="34" charset="0"/>
              </a:rPr>
              <a:t>Sheetbase läuft auf einem Proxmox lxc und wird über einen Cloudflare tunnel auf eine Domain geforwarded. Tailscale für access auf den Proxmox Host.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>
                <a:solidFill>
                  <a:srgbClr val="C8FF2E"/>
                </a:solidFill>
                <a:latin typeface="Liter" pitchFamily="34" charset="0"/>
              </a:rPr>
              <a:t>Tech-Stack</a:t>
            </a:r>
            <a:endParaRPr lang="en-US" sz="1800" dirty="0"/>
          </a:p>
          <a:p>
            <a:pPr marL="285750" indent="-285750" algn="l">
              <a:spcBef>
                <a:spcPts val="600"/>
              </a:spcBef>
              <a:buFontTx/>
              <a:buChar char="-"/>
            </a:pPr>
            <a:r>
              <a:rPr lang="en-US" sz="1800">
                <a:solidFill>
                  <a:srgbClr val="E8E4D9"/>
                </a:solidFill>
                <a:latin typeface="Liter" pitchFamily="34" charset="0"/>
              </a:rPr>
              <a:t>PostgreSQL</a:t>
            </a:r>
          </a:p>
          <a:p>
            <a:pPr marL="285750" indent="-285750" algn="l">
              <a:spcBef>
                <a:spcPts val="600"/>
              </a:spcBef>
              <a:buFontTx/>
              <a:buChar char="-"/>
            </a:pPr>
            <a:r>
              <a:rPr lang="en-US">
                <a:solidFill>
                  <a:srgbClr val="E8E4D9"/>
                </a:solidFill>
                <a:latin typeface="Liter" pitchFamily="34" charset="0"/>
              </a:rPr>
              <a:t>SQLALCHEMY</a:t>
            </a:r>
            <a:endParaRPr lang="en-US" sz="1800">
              <a:solidFill>
                <a:srgbClr val="E8E4D9"/>
              </a:solidFill>
              <a:latin typeface="Liter" pitchFamily="34" charset="0"/>
            </a:endParaRPr>
          </a:p>
          <a:p>
            <a:pPr marL="285750" indent="-285750" algn="l">
              <a:spcBef>
                <a:spcPts val="600"/>
              </a:spcBef>
              <a:buFontTx/>
              <a:buChar char="-"/>
            </a:pPr>
            <a:r>
              <a:rPr lang="en-US">
                <a:solidFill>
                  <a:srgbClr val="E8E4D9"/>
                </a:solidFill>
                <a:latin typeface="Liter" pitchFamily="34" charset="0"/>
              </a:rPr>
              <a:t>Flask</a:t>
            </a:r>
          </a:p>
          <a:p>
            <a:pPr marL="285750" indent="-285750" algn="l">
              <a:spcBef>
                <a:spcPts val="600"/>
              </a:spcBef>
              <a:buFontTx/>
              <a:buChar char="-"/>
            </a:pPr>
            <a:r>
              <a:rPr lang="en-US" sz="1800">
                <a:solidFill>
                  <a:srgbClr val="E8E4D9"/>
                </a:solidFill>
                <a:latin typeface="Liter" pitchFamily="34" charset="0"/>
              </a:rPr>
              <a:t>Tailwind CSS</a:t>
            </a:r>
          </a:p>
          <a:p>
            <a:pPr marL="285750" indent="-285750" algn="l">
              <a:spcBef>
                <a:spcPts val="600"/>
              </a:spcBef>
              <a:buFontTx/>
              <a:buChar char="-"/>
            </a:pPr>
            <a:r>
              <a:rPr lang="en-US" sz="1800">
                <a:solidFill>
                  <a:srgbClr val="E8E4D9"/>
                </a:solidFill>
                <a:latin typeface="Liter" pitchFamily="34" charset="0"/>
              </a:rPr>
              <a:t>Open-Router</a:t>
            </a:r>
          </a:p>
          <a:p>
            <a:pPr marL="285750" indent="-285750" algn="l">
              <a:spcBef>
                <a:spcPts val="600"/>
              </a:spcBef>
              <a:buFontTx/>
              <a:buChar char="-"/>
            </a:pPr>
            <a:r>
              <a:rPr lang="en-US">
                <a:solidFill>
                  <a:srgbClr val="E8E4D9"/>
                </a:solidFill>
                <a:latin typeface="Liter" pitchFamily="34" charset="0"/>
              </a:rPr>
              <a:t>PYMUPDF</a:t>
            </a:r>
            <a:endParaRPr lang="en-US" sz="1800">
              <a:solidFill>
                <a:srgbClr val="E8E4D9"/>
              </a:solidFill>
              <a:latin typeface="Liter" pitchFamily="34" charset="0"/>
            </a:endParaRPr>
          </a:p>
          <a:p>
            <a:pPr marL="285750" indent="-285750" algn="l">
              <a:spcBef>
                <a:spcPts val="600"/>
              </a:spcBef>
              <a:buFontTx/>
              <a:buChar char="-"/>
            </a:pPr>
            <a:endParaRPr lang="en-US" sz="1800">
              <a:solidFill>
                <a:srgbClr val="E8E4D9"/>
              </a:solidFill>
              <a:latin typeface="Liter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874000" y="1841500"/>
            <a:ext cx="7620000" cy="4699000"/>
          </a:xfrm>
          <a:prstGeom prst="rect">
            <a:avLst/>
          </a:prstGeom>
          <a:solidFill>
            <a:srgbClr val="18181B"/>
          </a:soli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2000" y="8128000"/>
            <a:ext cx="762000" cy="381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5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E56AFC-C123-312F-28C1-0BD8D173F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338" y="3784600"/>
            <a:ext cx="1945268" cy="50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E6D431-313C-8492-D6C9-DB986DF29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9944" y="1854200"/>
            <a:ext cx="5364056" cy="47893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619614-C383-30FD-4D47-639E1A0F47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0" y="6731000"/>
            <a:ext cx="5364056" cy="192898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C8F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DATENBANK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E8E4D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DATABASE-STRUKTUR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841500"/>
            <a:ext cx="14732000" cy="12700"/>
          </a:xfrm>
          <a:prstGeom prst="rect">
            <a:avLst/>
          </a:prstGeom>
          <a:solidFill>
            <a:srgbClr val="2A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36002" y="2222500"/>
            <a:ext cx="7366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>
                <a:solidFill>
                  <a:srgbClr val="C8FF2E"/>
                </a:solidFill>
                <a:latin typeface="Liter" pitchFamily="34" charset="0"/>
              </a:rPr>
              <a:t>POSTGRESQL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>
                <a:solidFill>
                  <a:srgbClr val="E8E4D9"/>
                </a:solidFill>
                <a:latin typeface="Liter" pitchFamily="34" charset="0"/>
              </a:rPr>
              <a:t>Tables:</a:t>
            </a:r>
          </a:p>
          <a:p>
            <a:pPr marL="285750" indent="-285750" algn="l">
              <a:lnSpc>
                <a:spcPct val="160000"/>
              </a:lnSpc>
              <a:spcBef>
                <a:spcPts val="400"/>
              </a:spcBef>
              <a:buFontTx/>
              <a:buChar char="-"/>
            </a:pPr>
            <a:r>
              <a:rPr lang="en-US" sz="1800">
                <a:solidFill>
                  <a:srgbClr val="E8E4D9"/>
                </a:solidFill>
                <a:latin typeface="Liter" pitchFamily="34" charset="0"/>
              </a:rPr>
              <a:t>OPV</a:t>
            </a:r>
          </a:p>
          <a:p>
            <a:pPr marL="285750" indent="-285750" algn="l">
              <a:lnSpc>
                <a:spcPct val="160000"/>
              </a:lnSpc>
              <a:spcBef>
                <a:spcPts val="400"/>
              </a:spcBef>
              <a:buFontTx/>
              <a:buChar char="-"/>
            </a:pPr>
            <a:r>
              <a:rPr lang="en-US" sz="1800">
                <a:solidFill>
                  <a:srgbClr val="E8E4D9"/>
                </a:solidFill>
                <a:latin typeface="Liter" pitchFamily="34" charset="0"/>
              </a:rPr>
              <a:t>BJT</a:t>
            </a:r>
          </a:p>
          <a:p>
            <a:pPr marL="285750" indent="-285750" algn="l">
              <a:lnSpc>
                <a:spcPct val="160000"/>
              </a:lnSpc>
              <a:spcBef>
                <a:spcPts val="400"/>
              </a:spcBef>
              <a:buFontTx/>
              <a:buChar char="-"/>
            </a:pPr>
            <a:r>
              <a:rPr lang="en-US">
                <a:solidFill>
                  <a:srgbClr val="E8E4D9"/>
                </a:solidFill>
                <a:latin typeface="Liter" pitchFamily="34" charset="0"/>
              </a:rPr>
              <a:t>MOSFET</a:t>
            </a:r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>
                <a:solidFill>
                  <a:srgbClr val="E8E4D9"/>
                </a:solidFill>
                <a:latin typeface="Liter" pitchFamily="34" charset="0"/>
              </a:rPr>
              <a:t>API</a:t>
            </a:r>
            <a:r>
              <a:rPr lang="en-US">
                <a:solidFill>
                  <a:srgbClr val="E8E4D9"/>
                </a:solidFill>
                <a:latin typeface="Liter" pitchFamily="34" charset="0"/>
              </a:rPr>
              <a:t>:</a:t>
            </a:r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800">
                <a:solidFill>
                  <a:srgbClr val="E8E4D9"/>
                </a:solidFill>
                <a:latin typeface="Liter" pitchFamily="34" charset="0"/>
              </a:rPr>
              <a:t>- SQLALCHEMY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8128000"/>
            <a:ext cx="762000" cy="381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5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1BD70C-D393-6574-6304-A22D002C3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454" y="1841500"/>
            <a:ext cx="4796094" cy="642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C8F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KÜNSTLICHE INTELLIGENZ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1143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kern="0" spc="200">
                <a:solidFill>
                  <a:srgbClr val="E8E4D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AI-Model &amp; prompt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841500"/>
            <a:ext cx="14732000" cy="12700"/>
          </a:xfrm>
          <a:prstGeom prst="rect">
            <a:avLst/>
          </a:prstGeom>
          <a:solidFill>
            <a:srgbClr val="2A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2222500"/>
            <a:ext cx="66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>
                <a:solidFill>
                  <a:srgbClr val="C8F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OPENROUTER</a:t>
            </a:r>
            <a:endParaRPr lang="en-US" sz="180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Modelle:</a:t>
            </a:r>
          </a:p>
          <a:p>
            <a:pPr marL="285750" indent="-285750" algn="l">
              <a:lnSpc>
                <a:spcPct val="160000"/>
              </a:lnSpc>
              <a:spcBef>
                <a:spcPts val="1200"/>
              </a:spcBef>
              <a:buFontTx/>
              <a:buChar char="-"/>
            </a:pPr>
            <a:r>
              <a:rPr lang="en-US">
                <a:solidFill>
                  <a:srgbClr val="E8E4D9"/>
                </a:solidFill>
                <a:latin typeface="Liter" pitchFamily="34" charset="0"/>
              </a:rPr>
              <a:t>GPT-OSS-120b:free</a:t>
            </a:r>
          </a:p>
          <a:p>
            <a:pPr marL="285750" indent="-285750" algn="l">
              <a:lnSpc>
                <a:spcPct val="160000"/>
              </a:lnSpc>
              <a:spcBef>
                <a:spcPts val="1200"/>
              </a:spcBef>
              <a:buFontTx/>
              <a:buChar char="-"/>
            </a:pPr>
            <a:r>
              <a:rPr lang="en-US" sz="1800">
                <a:solidFill>
                  <a:srgbClr val="E8E4D9"/>
                </a:solidFill>
                <a:latin typeface="Liter" pitchFamily="34" charset="0"/>
              </a:rPr>
              <a:t>Llma</a:t>
            </a:r>
            <a:r>
              <a:rPr lang="en-US">
                <a:solidFill>
                  <a:srgbClr val="E8E4D9"/>
                </a:solidFill>
                <a:latin typeface="Liter" pitchFamily="34" charset="0"/>
              </a:rPr>
              <a:t>-3.3-70B-instruct:free (fallback)</a:t>
            </a:r>
            <a:endParaRPr lang="en-US" sz="180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8128000"/>
            <a:ext cx="762000" cy="381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5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DF146B5-3AA1-1A3E-CA2A-958669F8B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714" y="2044700"/>
            <a:ext cx="7073900" cy="38354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C8F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OPTIMIERUNG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E8E4D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PROMPT-ENGINEERING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841500"/>
            <a:ext cx="14732000" cy="12700"/>
          </a:xfrm>
          <a:prstGeom prst="rect">
            <a:avLst/>
          </a:prstGeom>
          <a:solidFill>
            <a:srgbClr val="2A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2000" y="2222500"/>
            <a:ext cx="4699000" cy="2921000"/>
          </a:xfrm>
          <a:prstGeom prst="rect">
            <a:avLst/>
          </a:prstGeom>
          <a:solidFill>
            <a:srgbClr val="1818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2000" y="2222500"/>
            <a:ext cx="4699000" cy="508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6000" y="2476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4D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STRATEGIE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16000" y="29845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[Erklärt eure Prompt-Engineering-Strategie]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[Zero-shot, Few-shot, Chain-of-Thought?]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78500" y="2222500"/>
            <a:ext cx="4699000" cy="2921000"/>
          </a:xfrm>
          <a:prstGeom prst="rect">
            <a:avLst/>
          </a:prstGeom>
          <a:solidFill>
            <a:srgbClr val="1818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78500" y="2222500"/>
            <a:ext cx="4699000" cy="508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2500" y="2476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4D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EFFEKTIVE PROMPTS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32500" y="29845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[Beispiele für effektive Prompts aus eurer Anwendung]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[Was funktioniert besonders gut?]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795000" y="2222500"/>
            <a:ext cx="4699000" cy="2921000"/>
          </a:xfrm>
          <a:prstGeom prst="rect">
            <a:avLst/>
          </a:prstGeom>
          <a:solidFill>
            <a:srgbClr val="1818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795000" y="2222500"/>
            <a:ext cx="4699000" cy="508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049000" y="2476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4D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BEST PRACTICES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049000" y="29845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[Eure wichtigsten Learnings und Tipps]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[Was würdet ihr anders machen?]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5588000"/>
            <a:ext cx="147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C8F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▶</a:t>
            </a:r>
            <a:r>
              <a:rPr lang="en-US" sz="1800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1800" b="1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[Zusätzliche Anmerkungen]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[Hier könnt ihr weitere Details zu eurem Prompt-Engineering-Ansatz einfügen — z.B. wie ihr die Prompts iterativ verbessert habt, welche Metriken ihr zur Evaluation nutzt, oder wie ihr die Prompts versioniert.]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8128000"/>
            <a:ext cx="762000" cy="381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5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C8F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GROSSE DATENMENGEN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E8E4D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CHUNK BASED PROMPTING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841500"/>
            <a:ext cx="14732000" cy="12700"/>
          </a:xfrm>
          <a:prstGeom prst="rect">
            <a:avLst/>
          </a:prstGeom>
          <a:solidFill>
            <a:srgbClr val="2A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2000" y="2222500"/>
            <a:ext cx="1473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>
                <a:solidFill>
                  <a:srgbClr val="C8F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Bei großen Datenblättern überschreiten wir die max. Tokens, deswegen: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Benutzen wir chunks um in mehrere kleine chunks zu teilen.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3683000"/>
            <a:ext cx="3429000" cy="1778000"/>
          </a:xfrm>
          <a:prstGeom prst="rect">
            <a:avLst/>
          </a:prstGeom>
          <a:solidFill>
            <a:srgbClr val="1818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52500" y="38100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8FF2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52500" y="43180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Daten einlesen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>
                <a:solidFill>
                  <a:schemeClr val="bg1"/>
                </a:solidFill>
                <a:latin typeface="Liter" pitchFamily="34" charset="0"/>
              </a:rPr>
              <a:t>Seiten-Anzahl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318000" y="4445000"/>
            <a:ext cx="381000" cy="0"/>
          </a:xfrm>
          <a:prstGeom prst="straightConnector1">
            <a:avLst/>
          </a:prstGeom>
          <a:noFill/>
          <a:ln w="25400">
            <a:solidFill>
              <a:srgbClr val="C8FF2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26000" y="3683000"/>
            <a:ext cx="3429000" cy="1778000"/>
          </a:xfrm>
          <a:prstGeom prst="rect">
            <a:avLst/>
          </a:prstGeom>
          <a:solidFill>
            <a:srgbClr val="1818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16500" y="38100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8FF2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16500" y="43180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Chunking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>
                <a:solidFill>
                  <a:schemeClr val="bg1"/>
                </a:solidFill>
                <a:latin typeface="Liter" pitchFamily="34" charset="0"/>
              </a:rPr>
              <a:t>In 10 Seiten chunks teilen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382000" y="4445000"/>
            <a:ext cx="381000" cy="0"/>
          </a:xfrm>
          <a:prstGeom prst="straightConnector1">
            <a:avLst/>
          </a:prstGeom>
          <a:noFill/>
          <a:ln w="25400">
            <a:solidFill>
              <a:srgbClr val="C8FF2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890000" y="3683000"/>
            <a:ext cx="3429000" cy="1778000"/>
          </a:xfrm>
          <a:prstGeom prst="rect">
            <a:avLst/>
          </a:prstGeom>
          <a:solidFill>
            <a:srgbClr val="1818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80500" y="38100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8FF2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80500" y="43180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AI-Verarbeitung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>
                <a:solidFill>
                  <a:schemeClr val="bg1"/>
                </a:solidFill>
                <a:latin typeface="Liter" pitchFamily="34" charset="0"/>
              </a:rPr>
              <a:t>Aus chunks Daten herausholen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2446000" y="4445000"/>
            <a:ext cx="381000" cy="0"/>
          </a:xfrm>
          <a:prstGeom prst="straightConnector1">
            <a:avLst/>
          </a:prstGeom>
          <a:noFill/>
          <a:ln w="25400">
            <a:solidFill>
              <a:srgbClr val="C8FF2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954000" y="3683000"/>
            <a:ext cx="2540000" cy="1778000"/>
          </a:xfrm>
          <a:prstGeom prst="rect">
            <a:avLst/>
          </a:prstGeom>
          <a:solidFill>
            <a:srgbClr val="1818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144500" y="3810000"/>
            <a:ext cx="698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C8FF2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3144500" y="4318000"/>
            <a:ext cx="215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Ergebnis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>
                <a:solidFill>
                  <a:schemeClr val="bg1"/>
                </a:solidFill>
                <a:latin typeface="Liter" pitchFamily="34" charset="0"/>
              </a:rPr>
              <a:t>Daten zusammenfügen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62000" y="8128000"/>
            <a:ext cx="762000" cy="381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5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CDE9146-1BF9-FF77-45F6-3F5CE004E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778500"/>
            <a:ext cx="3898900" cy="18542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9E6AA4E-C687-0D10-B490-278928332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600" y="5778500"/>
            <a:ext cx="7772400" cy="319101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C8F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E8E4D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BACKEND-STRUKTUR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841500"/>
            <a:ext cx="14732000" cy="12700"/>
          </a:xfrm>
          <a:prstGeom prst="rect">
            <a:avLst/>
          </a:prstGeom>
          <a:solidFill>
            <a:srgbClr val="2A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70000" y="2234235"/>
            <a:ext cx="6604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>
                <a:solidFill>
                  <a:srgbClr val="C8F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Flask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 sz="180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Mit REST-API:</a:t>
            </a:r>
          </a:p>
          <a:p>
            <a:pPr marL="285750" indent="-285750" algn="l">
              <a:lnSpc>
                <a:spcPct val="160000"/>
              </a:lnSpc>
              <a:spcBef>
                <a:spcPts val="1600"/>
              </a:spcBef>
              <a:buFontTx/>
              <a:buChar char="-"/>
            </a:pPr>
            <a:r>
              <a:rPr lang="en-US" sz="1800">
                <a:solidFill>
                  <a:srgbClr val="E8E4D9"/>
                </a:solidFill>
                <a:latin typeface="Liter" pitchFamily="34" charset="0"/>
              </a:rPr>
              <a:t>GET /DATA/[category]</a:t>
            </a:r>
          </a:p>
          <a:p>
            <a:pPr marL="285750" indent="-285750" algn="l">
              <a:lnSpc>
                <a:spcPct val="160000"/>
              </a:lnSpc>
              <a:spcBef>
                <a:spcPts val="1600"/>
              </a:spcBef>
              <a:buFontTx/>
              <a:buChar char="-"/>
            </a:pPr>
            <a:r>
              <a:rPr lang="en-US">
                <a:solidFill>
                  <a:srgbClr val="E8E4D9"/>
                </a:solidFill>
                <a:latin typeface="Liter" pitchFamily="34" charset="0"/>
              </a:rPr>
              <a:t>POST /upload-pdf</a:t>
            </a:r>
          </a:p>
          <a:p>
            <a:pPr marL="285750" indent="-285750" algn="l">
              <a:lnSpc>
                <a:spcPct val="160000"/>
              </a:lnSpc>
              <a:spcBef>
                <a:spcPts val="1600"/>
              </a:spcBef>
              <a:buFontTx/>
              <a:buChar char="-"/>
            </a:pPr>
            <a:r>
              <a:rPr lang="en-US" sz="1800">
                <a:solidFill>
                  <a:srgbClr val="E8E4D9"/>
                </a:solidFill>
                <a:latin typeface="Liter" pitchFamily="34" charset="0"/>
              </a:rPr>
              <a:t>GET /test-db</a:t>
            </a:r>
          </a:p>
          <a:p>
            <a:pPr marL="285750" indent="-285750" algn="l">
              <a:lnSpc>
                <a:spcPct val="160000"/>
              </a:lnSpc>
              <a:spcBef>
                <a:spcPts val="1600"/>
              </a:spcBef>
              <a:buFontTx/>
              <a:buChar char="-"/>
            </a:pPr>
            <a:r>
              <a:rPr lang="en-US">
                <a:solidFill>
                  <a:srgbClr val="E8E4D9"/>
                </a:solidFill>
                <a:latin typeface="Liter" pitchFamily="34" charset="0"/>
              </a:rPr>
              <a:t>Upload-status</a:t>
            </a:r>
          </a:p>
          <a:p>
            <a:pPr marL="285750" indent="-285750" algn="l">
              <a:lnSpc>
                <a:spcPct val="160000"/>
              </a:lnSpc>
              <a:spcBef>
                <a:spcPts val="1600"/>
              </a:spcBef>
              <a:buFontTx/>
              <a:buChar char="-"/>
            </a:pPr>
            <a:r>
              <a:rPr lang="en-US" sz="1800">
                <a:solidFill>
                  <a:srgbClr val="E8E4D9"/>
                </a:solidFill>
                <a:latin typeface="Liter" pitchFamily="34" charset="0"/>
              </a:rPr>
              <a:t>Upload-pdf-sync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8128000"/>
            <a:ext cx="762000" cy="381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5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4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DCB1E0B-CFB1-913E-E477-44D6E886EAFD}"/>
              </a:ext>
            </a:extLst>
          </p:cNvPr>
          <p:cNvSpPr/>
          <p:nvPr/>
        </p:nvSpPr>
        <p:spPr>
          <a:xfrm>
            <a:off x="6528122" y="2222500"/>
            <a:ext cx="6604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  <a:spcBef>
                <a:spcPts val="1600"/>
              </a:spcBef>
            </a:pPr>
            <a:endParaRPr lang="en-US" sz="1800">
              <a:solidFill>
                <a:srgbClr val="E8E4D9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algn="l">
              <a:lnSpc>
                <a:spcPct val="160000"/>
              </a:lnSpc>
              <a:spcBef>
                <a:spcPts val="1600"/>
              </a:spcBef>
            </a:pPr>
            <a:r>
              <a:rPr lang="en-US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Erklärung:</a:t>
            </a:r>
            <a:endParaRPr lang="en-US" sz="1800">
              <a:solidFill>
                <a:srgbClr val="E8E4D9"/>
              </a:solidFill>
              <a:latin typeface="Liter" pitchFamily="34" charset="0"/>
              <a:ea typeface="Liter" pitchFamily="34" charset="-122"/>
              <a:cs typeface="Liter" pitchFamily="34" charset="-120"/>
            </a:endParaRPr>
          </a:p>
          <a:p>
            <a:pPr marL="285750" indent="-285750" algn="l">
              <a:lnSpc>
                <a:spcPct val="160000"/>
              </a:lnSpc>
              <a:spcBef>
                <a:spcPts val="1600"/>
              </a:spcBef>
              <a:buFontTx/>
              <a:buChar char="-"/>
            </a:pPr>
            <a:r>
              <a:rPr lang="en-US">
                <a:solidFill>
                  <a:srgbClr val="E8E4D9"/>
                </a:solidFill>
                <a:latin typeface="Liter" pitchFamily="34" charset="0"/>
              </a:rPr>
              <a:t>Holt Werte aus DB</a:t>
            </a:r>
          </a:p>
          <a:p>
            <a:pPr marL="285750" indent="-285750" algn="l">
              <a:lnSpc>
                <a:spcPct val="160000"/>
              </a:lnSpc>
              <a:spcBef>
                <a:spcPts val="1600"/>
              </a:spcBef>
              <a:buFontTx/>
              <a:buChar char="-"/>
            </a:pPr>
            <a:r>
              <a:rPr lang="en-US">
                <a:solidFill>
                  <a:srgbClr val="E8E4D9"/>
                </a:solidFill>
                <a:latin typeface="Liter" pitchFamily="34" charset="0"/>
              </a:rPr>
              <a:t>PDF upload zum weiterverarbeiten</a:t>
            </a:r>
          </a:p>
          <a:p>
            <a:pPr marL="285750" indent="-285750" algn="l">
              <a:lnSpc>
                <a:spcPct val="160000"/>
              </a:lnSpc>
              <a:spcBef>
                <a:spcPts val="1600"/>
              </a:spcBef>
              <a:buFontTx/>
              <a:buChar char="-"/>
            </a:pPr>
            <a:r>
              <a:rPr lang="en-US" sz="1800">
                <a:solidFill>
                  <a:srgbClr val="E8E4D9"/>
                </a:solidFill>
                <a:latin typeface="Liter" pitchFamily="34" charset="0"/>
              </a:rPr>
              <a:t>DB connection test</a:t>
            </a:r>
          </a:p>
          <a:p>
            <a:pPr marL="285750" indent="-285750" algn="l">
              <a:lnSpc>
                <a:spcPct val="160000"/>
              </a:lnSpc>
              <a:spcBef>
                <a:spcPts val="1600"/>
              </a:spcBef>
              <a:buFontTx/>
              <a:buChar char="-"/>
            </a:pPr>
            <a:r>
              <a:rPr lang="en-US">
                <a:solidFill>
                  <a:srgbClr val="E8E4D9"/>
                </a:solidFill>
                <a:latin typeface="Liter" pitchFamily="34" charset="0"/>
              </a:rPr>
              <a:t>Status des upload / prompts</a:t>
            </a:r>
          </a:p>
          <a:p>
            <a:pPr marL="285750" indent="-285750" algn="l">
              <a:lnSpc>
                <a:spcPct val="160000"/>
              </a:lnSpc>
              <a:spcBef>
                <a:spcPts val="1600"/>
              </a:spcBef>
              <a:buFontTx/>
              <a:buChar char="-"/>
            </a:pPr>
            <a:r>
              <a:rPr lang="en-US" sz="1800">
                <a:solidFill>
                  <a:srgbClr val="E8E4D9"/>
                </a:solidFill>
                <a:latin typeface="Liter" pitchFamily="34" charset="0"/>
              </a:rPr>
              <a:t>chunking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C8F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E8E4D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FRONTEND-STRUKTUR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841500"/>
            <a:ext cx="14732000" cy="12700"/>
          </a:xfrm>
          <a:prstGeom prst="rect">
            <a:avLst/>
          </a:prstGeom>
          <a:solidFill>
            <a:srgbClr val="2A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109691" y="2222500"/>
            <a:ext cx="7366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>
                <a:solidFill>
                  <a:srgbClr val="C8F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Tailwind CSS</a:t>
            </a:r>
          </a:p>
          <a:p>
            <a:pPr marL="285750" indent="-285750" algn="l">
              <a:lnSpc>
                <a:spcPct val="160000"/>
              </a:lnSpc>
              <a:buFontTx/>
              <a:buChar char="-"/>
            </a:pPr>
            <a:r>
              <a:rPr lang="en-US">
                <a:solidFill>
                  <a:schemeClr val="bg1"/>
                </a:solidFill>
                <a:latin typeface="Liter" pitchFamily="34" charset="0"/>
              </a:rPr>
              <a:t>index.html</a:t>
            </a:r>
          </a:p>
          <a:p>
            <a:pPr marL="285750" indent="-285750" algn="l">
              <a:lnSpc>
                <a:spcPct val="160000"/>
              </a:lnSpc>
              <a:buFontTx/>
              <a:buChar char="-"/>
            </a:pPr>
            <a:r>
              <a:rPr lang="en-US" sz="1800">
                <a:solidFill>
                  <a:schemeClr val="bg1"/>
                </a:solidFill>
                <a:latin typeface="Liter" pitchFamily="34" charset="0"/>
              </a:rPr>
              <a:t>Docs.html</a:t>
            </a:r>
          </a:p>
          <a:p>
            <a:pPr algn="l">
              <a:lnSpc>
                <a:spcPct val="160000"/>
              </a:lnSpc>
            </a:pPr>
            <a:r>
              <a:rPr lang="en-US">
                <a:solidFill>
                  <a:schemeClr val="bg1"/>
                </a:solidFill>
                <a:latin typeface="Liter" pitchFamily="34" charset="0"/>
              </a:rPr>
              <a:t>Fonts von googleapi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62000" y="8128000"/>
            <a:ext cx="762000" cy="381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5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F584F5-89FE-417E-7E9E-13848F8E3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54200"/>
            <a:ext cx="10090230" cy="59958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231FF-959C-F13B-7975-204A1F71C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942E57-E438-4117-777A-5C09B05E5387}"/>
              </a:ext>
            </a:extLst>
          </p:cNvPr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C8F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1CDAAF-691E-DE21-C1BC-C67480C9F865}"/>
              </a:ext>
            </a:extLst>
          </p:cNvPr>
          <p:cNvSpPr/>
          <p:nvPr/>
        </p:nvSpPr>
        <p:spPr>
          <a:xfrm>
            <a:off x="762000" y="1016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E8E4D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FRONTEND-STRUKTUR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D14569E-8F3E-7638-14BA-0E696168D258}"/>
              </a:ext>
            </a:extLst>
          </p:cNvPr>
          <p:cNvSpPr/>
          <p:nvPr/>
        </p:nvSpPr>
        <p:spPr>
          <a:xfrm>
            <a:off x="762000" y="1841500"/>
            <a:ext cx="14732000" cy="12700"/>
          </a:xfrm>
          <a:prstGeom prst="rect">
            <a:avLst/>
          </a:prstGeom>
          <a:solidFill>
            <a:srgbClr val="2A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67C70D1-343C-D507-9E81-1B8259624BF4}"/>
              </a:ext>
            </a:extLst>
          </p:cNvPr>
          <p:cNvSpPr/>
          <p:nvPr/>
        </p:nvSpPr>
        <p:spPr>
          <a:xfrm>
            <a:off x="12109691" y="2222500"/>
            <a:ext cx="7366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>
                <a:solidFill>
                  <a:srgbClr val="C8F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Tailwind CSS</a:t>
            </a:r>
          </a:p>
          <a:p>
            <a:pPr marL="285750" indent="-285750" algn="l">
              <a:lnSpc>
                <a:spcPct val="160000"/>
              </a:lnSpc>
              <a:buFontTx/>
              <a:buChar char="-"/>
            </a:pPr>
            <a:r>
              <a:rPr lang="en-US">
                <a:solidFill>
                  <a:schemeClr val="bg1"/>
                </a:solidFill>
                <a:latin typeface="Liter" pitchFamily="34" charset="0"/>
              </a:rPr>
              <a:t>index.html</a:t>
            </a:r>
          </a:p>
          <a:p>
            <a:pPr marL="285750" indent="-285750" algn="l">
              <a:lnSpc>
                <a:spcPct val="160000"/>
              </a:lnSpc>
              <a:buFontTx/>
              <a:buChar char="-"/>
            </a:pPr>
            <a:r>
              <a:rPr lang="en-US" sz="1800">
                <a:solidFill>
                  <a:schemeClr val="bg1"/>
                </a:solidFill>
                <a:latin typeface="Liter" pitchFamily="34" charset="0"/>
              </a:rPr>
              <a:t>Docs.html</a:t>
            </a:r>
          </a:p>
          <a:p>
            <a:pPr algn="l">
              <a:lnSpc>
                <a:spcPct val="160000"/>
              </a:lnSpc>
            </a:pPr>
            <a:r>
              <a:rPr lang="en-US">
                <a:solidFill>
                  <a:schemeClr val="bg1"/>
                </a:solidFill>
                <a:latin typeface="Liter" pitchFamily="34" charset="0"/>
              </a:rPr>
              <a:t>Fonts von googleapi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96520EF-C77D-9C20-E59D-552B5A2832C5}"/>
              </a:ext>
            </a:extLst>
          </p:cNvPr>
          <p:cNvSpPr/>
          <p:nvPr/>
        </p:nvSpPr>
        <p:spPr>
          <a:xfrm>
            <a:off x="762000" y="8128000"/>
            <a:ext cx="762000" cy="381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3D1B075-CC4C-463D-ECB0-F29ADFA87DD2}"/>
              </a:ext>
            </a:extLst>
          </p:cNvPr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5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7C2270-7AFB-59F5-E1DD-265174E67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80" y="1864014"/>
            <a:ext cx="6030515" cy="58477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BB1C6B-E907-73BC-8C4E-90A7E75F81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115"/>
          <a:stretch>
            <a:fillRect/>
          </a:stretch>
        </p:blipFill>
        <p:spPr>
          <a:xfrm>
            <a:off x="6643868" y="1864014"/>
            <a:ext cx="4778120" cy="94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63329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kern="0" spc="200" dirty="0">
                <a:solidFill>
                  <a:srgbClr val="C8FF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ZUSAMMENFASSUNG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000" kern="0" spc="200" dirty="0">
                <a:solidFill>
                  <a:srgbClr val="E8E4D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FAZIT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841500"/>
            <a:ext cx="14732000" cy="12700"/>
          </a:xfrm>
          <a:prstGeom prst="rect">
            <a:avLst/>
          </a:prstGeom>
          <a:solidFill>
            <a:srgbClr val="2A2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62000" y="2222500"/>
            <a:ext cx="4699000" cy="3048000"/>
          </a:xfrm>
          <a:prstGeom prst="rect">
            <a:avLst/>
          </a:prstGeom>
          <a:solidFill>
            <a:srgbClr val="1818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2000" y="2222500"/>
            <a:ext cx="50800" cy="30480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668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9986" y="304800"/>
                </a:moveTo>
                <a:cubicBezTo>
                  <a:pt x="317712" y="287099"/>
                  <a:pt x="333163" y="271066"/>
                  <a:pt x="350626" y="257254"/>
                </a:cubicBezTo>
                <a:cubicBezTo>
                  <a:pt x="385233" y="229949"/>
                  <a:pt x="406400" y="193040"/>
                  <a:pt x="406400" y="152400"/>
                </a:cubicBezTo>
                <a:cubicBezTo>
                  <a:pt x="406400" y="68263"/>
                  <a:pt x="315383" y="0"/>
                  <a:pt x="203200" y="0"/>
                </a:cubicBezTo>
                <a:cubicBezTo>
                  <a:pt x="91017" y="0"/>
                  <a:pt x="0" y="68263"/>
                  <a:pt x="0" y="152400"/>
                </a:cubicBezTo>
                <a:cubicBezTo>
                  <a:pt x="0" y="193040"/>
                  <a:pt x="21167" y="229949"/>
                  <a:pt x="55774" y="257254"/>
                </a:cubicBezTo>
                <a:cubicBezTo>
                  <a:pt x="73237" y="271066"/>
                  <a:pt x="88794" y="287099"/>
                  <a:pt x="96414" y="304800"/>
                </a:cubicBezTo>
                <a:lnTo>
                  <a:pt x="309880" y="304800"/>
                </a:lnTo>
                <a:close/>
                <a:moveTo>
                  <a:pt x="304800" y="342900"/>
                </a:moveTo>
                <a:lnTo>
                  <a:pt x="101600" y="342900"/>
                </a:lnTo>
                <a:lnTo>
                  <a:pt x="101600" y="355600"/>
                </a:lnTo>
                <a:cubicBezTo>
                  <a:pt x="101600" y="390684"/>
                  <a:pt x="139488" y="419100"/>
                  <a:pt x="186267" y="419100"/>
                </a:cubicBezTo>
                <a:lnTo>
                  <a:pt x="220133" y="419100"/>
                </a:lnTo>
                <a:cubicBezTo>
                  <a:pt x="266912" y="419100"/>
                  <a:pt x="304800" y="390684"/>
                  <a:pt x="304800" y="355600"/>
                </a:cubicBezTo>
                <a:lnTo>
                  <a:pt x="304800" y="342900"/>
                </a:lnTo>
                <a:close/>
                <a:moveTo>
                  <a:pt x="194733" y="88900"/>
                </a:moveTo>
                <a:cubicBezTo>
                  <a:pt x="152612" y="88900"/>
                  <a:pt x="118533" y="114459"/>
                  <a:pt x="118533" y="146050"/>
                </a:cubicBezTo>
                <a:cubicBezTo>
                  <a:pt x="118533" y="156607"/>
                  <a:pt x="107209" y="165100"/>
                  <a:pt x="93133" y="165100"/>
                </a:cubicBezTo>
                <a:cubicBezTo>
                  <a:pt x="79058" y="165100"/>
                  <a:pt x="67733" y="156607"/>
                  <a:pt x="67733" y="146050"/>
                </a:cubicBezTo>
                <a:cubicBezTo>
                  <a:pt x="67733" y="93424"/>
                  <a:pt x="124566" y="50800"/>
                  <a:pt x="194733" y="50800"/>
                </a:cubicBezTo>
                <a:cubicBezTo>
                  <a:pt x="208809" y="50800"/>
                  <a:pt x="220133" y="59293"/>
                  <a:pt x="220133" y="69850"/>
                </a:cubicBezTo>
                <a:cubicBezTo>
                  <a:pt x="220133" y="80407"/>
                  <a:pt x="208809" y="88900"/>
                  <a:pt x="194733" y="88900"/>
                </a:cubicBezTo>
                <a:close/>
              </a:path>
            </a:pathLst>
          </a:cu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6800" y="3048000"/>
            <a:ext cx="4140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4D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ERKENNTNISSE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66800" y="3556000"/>
            <a:ext cx="41402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>
                <a:solidFill>
                  <a:srgbClr val="E8E4D9"/>
                </a:solidFill>
                <a:latin typeface="Liter" pitchFamily="34" charset="0"/>
              </a:rPr>
              <a:t>Bei Teamarbeit wird am besten in mehrere Dateien getrennt um parallel arbeiten zu können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78500" y="2222500"/>
            <a:ext cx="4699000" cy="3048000"/>
          </a:xfrm>
          <a:prstGeom prst="rect">
            <a:avLst/>
          </a:prstGeom>
          <a:solidFill>
            <a:srgbClr val="1818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78500" y="2222500"/>
            <a:ext cx="50800" cy="30480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833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597" y="0"/>
                </a:moveTo>
                <a:cubicBezTo>
                  <a:pt x="215265" y="0"/>
                  <a:pt x="225981" y="6429"/>
                  <a:pt x="231537" y="16669"/>
                </a:cubicBezTo>
                <a:lnTo>
                  <a:pt x="402987" y="334169"/>
                </a:lnTo>
                <a:cubicBezTo>
                  <a:pt x="408305" y="344011"/>
                  <a:pt x="408067" y="355918"/>
                  <a:pt x="402352" y="365522"/>
                </a:cubicBezTo>
                <a:cubicBezTo>
                  <a:pt x="396637" y="375126"/>
                  <a:pt x="386239" y="381000"/>
                  <a:pt x="375126" y="381000"/>
                </a:cubicBezTo>
                <a:lnTo>
                  <a:pt x="32226" y="381000"/>
                </a:lnTo>
                <a:cubicBezTo>
                  <a:pt x="21034" y="381000"/>
                  <a:pt x="10716" y="375126"/>
                  <a:pt x="5001" y="365522"/>
                </a:cubicBezTo>
                <a:cubicBezTo>
                  <a:pt x="-714" y="355918"/>
                  <a:pt x="-953" y="344011"/>
                  <a:pt x="4366" y="334169"/>
                </a:cubicBezTo>
                <a:lnTo>
                  <a:pt x="175816" y="16669"/>
                </a:lnTo>
                <a:lnTo>
                  <a:pt x="178117" y="13017"/>
                </a:lnTo>
                <a:cubicBezTo>
                  <a:pt x="183912" y="4921"/>
                  <a:pt x="193358" y="0"/>
                  <a:pt x="203597" y="0"/>
                </a:cubicBezTo>
                <a:close/>
                <a:moveTo>
                  <a:pt x="135255" y="198358"/>
                </a:moveTo>
                <a:lnTo>
                  <a:pt x="156528" y="219631"/>
                </a:lnTo>
                <a:cubicBezTo>
                  <a:pt x="161449" y="224552"/>
                  <a:pt x="169545" y="224552"/>
                  <a:pt x="174466" y="219631"/>
                </a:cubicBezTo>
                <a:lnTo>
                  <a:pt x="208836" y="185261"/>
                </a:lnTo>
                <a:cubicBezTo>
                  <a:pt x="213598" y="180499"/>
                  <a:pt x="220028" y="177800"/>
                  <a:pt x="226774" y="177800"/>
                </a:cubicBezTo>
                <a:lnTo>
                  <a:pt x="260747" y="177800"/>
                </a:lnTo>
                <a:lnTo>
                  <a:pt x="203518" y="71834"/>
                </a:lnTo>
                <a:lnTo>
                  <a:pt x="135176" y="198358"/>
                </a:lnTo>
                <a:close/>
              </a:path>
            </a:pathLst>
          </a:cu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83300" y="3048000"/>
            <a:ext cx="41402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E8E4D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HERAUSFORDERUNGEN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083300" y="3556000"/>
            <a:ext cx="41402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>
                <a:solidFill>
                  <a:srgbClr val="E8E4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den max. Tokens trotz großer Datenblätter zu bleiben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8128000"/>
            <a:ext cx="762000" cy="381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5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048000"/>
            <a:ext cx="2540000" cy="381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778000" y="3429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kern="0" spc="200" dirty="0">
                <a:solidFill>
                  <a:srgbClr val="E8E4D9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VIELEN DANK!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6858000" y="4699000"/>
            <a:ext cx="2540000" cy="38100"/>
          </a:xfrm>
          <a:prstGeom prst="rect">
            <a:avLst/>
          </a:prstGeom>
          <a:solidFill>
            <a:srgbClr val="C8FF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5A5A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361</Words>
  <Application>Microsoft Macintosh PowerPoint</Application>
  <PresentationFormat>Custom</PresentationFormat>
  <Paragraphs>132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Hedvig Letters Sans</vt:lpstr>
      <vt:lpstr>Liter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SaaS Anwendung - Präsentationsvorlage</dc:title>
  <dc:subject>SaaS Anwendung - Präsentationsvorlage</dc:subject>
  <dc:creator>Kimi</dc:creator>
  <cp:lastModifiedBy>FRONTHALER Samuel, SchülerIn</cp:lastModifiedBy>
  <cp:revision>3</cp:revision>
  <dcterms:created xsi:type="dcterms:W3CDTF">2026-06-13T14:14:16Z</dcterms:created>
  <dcterms:modified xsi:type="dcterms:W3CDTF">2026-06-13T15:02:47Z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{"Label":"SaaS Anwendung - Präsentationsvorlage","ContentProducer":"001191110108MACG2KBH8F10000","ProduceID":"19ec1507-c892-8df1-8000-00004b5a9fc5","ReservedCode1":"","ContentPropagator":"001191110108MACG2KBH8F20000","PropagateID":"19ec14ee-3e02-837c-8000-095ff7f0725f","ReservedCode2":""}</vt:lpwstr>
  </property>
</Properties>
</file>