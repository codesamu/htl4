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de-DE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b="0" lang="de-DE" sz="6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2FF9F5-17BD-4CB1-A1A6-B5A61C370825}" type="slidenum">
              <a: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el und vertikal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E01080-9812-4E5B-B0BB-5251C7C0E331}" type="slidenum">
              <a: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kaler Titel u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131229-3140-4678-B20F-745FD43E042C}" type="slidenum">
              <a: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el und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E0A2C2-0CF6-4AD4-ADAB-C8B9E29E5AC9}" type="slidenum">
              <a: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s-&#10;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b="0" lang="de-DE" sz="6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4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Mastertextformat bearbeiten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211AC8-41E4-4F8E-82ED-4F067273FC5D}" type="slidenum">
              <a: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F74413-E616-46AA-9140-7B1CA1626814}" type="slidenum">
              <a: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gleic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9B0FE9-6D37-405C-A012-FAEF8ED32893}" type="slidenum">
              <a: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84A5A5-3F93-4AC8-96AA-53431FFBA128}" type="slidenum">
              <a: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2E624B-60FE-4D36-B440-B71ACE9A3CB3}" type="slidenum">
              <a: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b="0" lang="de-DE" sz="1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A75970-DD62-4FEF-AEEA-6440AADA1210}" type="slidenum">
              <a: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b="0" lang="de-DE" sz="1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A3C16B-E5BF-474C-967D-FBCF10F14A2A}" type="slidenum">
              <a:rPr b="0" lang="de-AT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de-DE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UEFI und Bootprozess</a:t>
            </a:r>
            <a:endParaRPr b="0" lang="de-DE" sz="6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Samuel Fronthaler und Maximilian Glatz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de-DE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Warum der Wechsel? (BIOS vs. UEFI)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de-AT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Legacy BIOS: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Technik aus den 80ern (16-Bit Modus).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AT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MBR-Partitionstabelle (Max. 2,2 TB Festplatten).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Serieller Boot (langsam, Hardware wird nacheinander geweckt).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de-AT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UEFI (Der moderne Standard):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64-Bit Architektur (voller CPU-Zugriff von Beginn an).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GPT-Support (Festplatten bis zu 9,4 Zettabyte).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Paralleles Laden von Treibern (Fast Boot).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de-AT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Die Kern-Features von UEFI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Secure Boot:</a:t>
            </a: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Verhindert das Laden von unsigniertem Schadcode (Rootkits) beim Start.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Grafische Benutzeroberfläche:</a:t>
            </a: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Unterstützung für Maus, hohe Auflösungen und verschiedene Sprachen.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Modularität:</a:t>
            </a: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UEFI ist wie ein Mini-Betriebssystem; Treiber können unabhängig vom Haupt-OS geladen werden.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Netzwerk-Stack:</a:t>
            </a: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System-Updates oder Fernwartung direkt aus der Firmware heraus (ohne installiertes Windows).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de-DE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Die 7 Phasen des Bootprozesses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1. SEC (Security):</a:t>
            </a: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Strom an. Die CPU wird initialisiert und die Echtheit der Firmware geprüft.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2. PEI (Pre-EFI):</a:t>
            </a: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Der Arbeitsspeicher (RAM) wird konfiguriert und "trainiert".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 DXE (Driver Execution):</a:t>
            </a: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Alle Hardware-Treiber (Grafik, USB, NVMe) werden gleichzeitig geladen.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4. BDS (Boot Device Selection):</a:t>
            </a: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Das System sucht nach dem Bootloader (z. B. auf der SSD).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de-AT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5. TSL (Transient System Load):</a:t>
            </a:r>
            <a:r>
              <a:rPr b="0" lang="de-AT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Übergabephase – der OS-Loader (z. B. Windows Boot Manager) startet.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6. RT (Run Time):</a:t>
            </a: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Das Betriebssystem übernimmt. UEFI bleibt für Systemdienste im Hintergrund aktiv.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7. AL (After Life):</a:t>
            </a: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Fehlerbehandlung oder kontrolliertes Herunterfahren.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de-AT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Partitionierung &amp; Kompatibilität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de-AT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GPT vs. MBR: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1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GPT (GUID Partition Table):</a:t>
            </a: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Erforderlich für UEFI. Unterstützt fast unendlich viele Partitionen und riesige Kapazitäten.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1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Redundanz:</a:t>
            </a: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GPT speichert Partitionstabellen am Anfang </a:t>
            </a:r>
            <a:r>
              <a:rPr b="0" i="1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und</a:t>
            </a: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Ende der Platte zur Sicherheit.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CSM (Compatibility Support Module):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Ein "Emulationsmodus" für alte Betriebssysteme, die kein UEFI können.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i="1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Hinweis:</a:t>
            </a: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Bei modernsten Systemen (Windows 11 Pflicht) oft standardmäßig deaktiviert.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de-AT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Zusammenfassung &amp; Fazit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Effizienz:</a:t>
            </a: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UEFI verkürzt Bootzeiten durch parallele Prozesse massiv.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Sicherheit:</a:t>
            </a: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Ohne UEFI wäre moderner Hardwareschutz (Secure Boot, TPM) nicht denkbar.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Zukunft:</a:t>
            </a: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Das klassische BIOS ist tot – UEFI ermöglicht die Verwaltung moderner Hochleistungshardware.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Schlüsselsatz:</a:t>
            </a: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UEFI ist nicht nur ein Menü, sondern das Fundament für jedes moderne Betriebssystem.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de-DE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Vielen Dank für die Aufmerksamkeit! Fragen?</a:t>
            </a:r>
            <a:endParaRPr b="0" lang="de-DE" sz="6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228600" y="457200"/>
            <a:ext cx="1447560" cy="76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" descr=""/>
          <p:cNvPicPr/>
          <p:nvPr/>
        </p:nvPicPr>
        <p:blipFill>
          <a:blip r:embed="rId2"/>
          <a:stretch/>
        </p:blipFill>
        <p:spPr>
          <a:xfrm rot="98400">
            <a:off x="9937440" y="4603320"/>
            <a:ext cx="2223360" cy="222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" descr=""/>
          <p:cNvPicPr/>
          <p:nvPr/>
        </p:nvPicPr>
        <p:blipFill>
          <a:blip r:embed="rId3"/>
          <a:stretch/>
        </p:blipFill>
        <p:spPr>
          <a:xfrm>
            <a:off x="10515600" y="2514600"/>
            <a:ext cx="1447560" cy="144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" descr=""/>
          <p:cNvPicPr/>
          <p:nvPr/>
        </p:nvPicPr>
        <p:blipFill>
          <a:blip r:embed="rId4"/>
          <a:stretch/>
        </p:blipFill>
        <p:spPr>
          <a:xfrm>
            <a:off x="10058400" y="0"/>
            <a:ext cx="2057400" cy="205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" descr=""/>
          <p:cNvPicPr/>
          <p:nvPr/>
        </p:nvPicPr>
        <p:blipFill>
          <a:blip r:embed="rId5"/>
          <a:stretch/>
        </p:blipFill>
        <p:spPr>
          <a:xfrm rot="22200">
            <a:off x="237240" y="3892680"/>
            <a:ext cx="2099880" cy="272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" descr=""/>
          <p:cNvPicPr/>
          <p:nvPr/>
        </p:nvPicPr>
        <p:blipFill>
          <a:blip r:embed="rId6"/>
          <a:stretch/>
        </p:blipFill>
        <p:spPr>
          <a:xfrm>
            <a:off x="7086600" y="5486400"/>
            <a:ext cx="2400480" cy="160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" descr=""/>
          <p:cNvPicPr/>
          <p:nvPr/>
        </p:nvPicPr>
        <p:blipFill>
          <a:blip r:embed="rId7"/>
          <a:stretch/>
        </p:blipFill>
        <p:spPr>
          <a:xfrm>
            <a:off x="457200" y="1371600"/>
            <a:ext cx="1409400" cy="1409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LibreOffice/25.8.3.2$Linux_X86_64 LibreOffice_project/580$Build-2</Application>
  <AppVersion>15.0000</AppVersion>
  <Words>423</Words>
  <Paragraphs>37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2026-01-29T07:26:03Z</dcterms:created>
  <dc:creator>GLATZ Maximilian, SchülerIn</dc:creator>
  <dc:description/>
  <dc:language>en-US</dc:language>
  <cp:lastModifiedBy/>
  <dcterms:modified xsi:type="dcterms:W3CDTF">2026-01-29T09:23:26Z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Breitbild</vt:lpwstr>
  </property>
  <property fmtid="{D5CDD505-2E9C-101B-9397-08002B2CF9AE}" pid="3" name="Slides">
    <vt:i4>7</vt:i4>
  </property>
</Properties>
</file>