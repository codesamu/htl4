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6256000" cy="9144000"/>
  <p:notesSz cx="9144000" cy="16256000"/>
  <p:embeddedFontLst>
    <p:embeddedFont>
      <p:font typeface="Cambria Math" panose="02040503050406030204" pitchFamily="18" charset="0"/>
      <p:regular r:id="rId21"/>
    </p:embeddedFont>
    <p:embeddedFont>
      <p:font typeface="Liter" panose="020B0604020202020204" charset="0"/>
      <p:regular r:id="rId22"/>
    </p:embeddedFont>
    <p:embeddedFont>
      <p:font typeface="Quattrocento Sans" panose="020B0502050000020003" pitchFamily="3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25400" cap="flat">
              <a:solidFill>
                <a:srgbClr val="C5303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53030"/>
              </a:solidFill>
              <a:ln w="9525" cap="flat">
                <a:solidFill>
                  <a:srgbClr val="C5303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D8E-41D9-A3B3-88033DC3CD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25400" cap="flat">
              <a:solidFill>
                <a:srgbClr val="C5303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53030"/>
              </a:solidFill>
              <a:ln w="9525" cap="flat">
                <a:solidFill>
                  <a:srgbClr val="C5303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69B-41E6-BFC9-7F9916E0A0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36C-4DAA-AB70-7E83F03014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25400" cap="flat">
              <a:solidFill>
                <a:srgbClr val="C5303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53030"/>
              </a:solidFill>
              <a:ln w="9525" cap="flat">
                <a:solidFill>
                  <a:srgbClr val="C5303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E6B-473D-9759-1234DE0AE4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8B9-45CE-929B-123764BE03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25400" cap="flat">
              <a:solidFill>
                <a:srgbClr val="C5303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53030"/>
              </a:solidFill>
              <a:ln w="9525" cap="flat">
                <a:solidFill>
                  <a:srgbClr val="C53030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FC8-40F2-9EB6-7D177E0697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0E6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3347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chart" Target="../charts/char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565525"/>
            <a:ext cx="1270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kern="0" spc="300" dirty="0" err="1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GLEICHRICHTER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223000" y="4381500"/>
            <a:ext cx="3810000" cy="254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413000" y="451485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A0AEC0"/>
                </a:solidFill>
                <a:latin typeface="Quattrocento Sans" pitchFamily="34" charset="0"/>
              </a:rPr>
              <a:t>Fronthaler / </a:t>
            </a:r>
            <a:r>
              <a:rPr lang="en-US" sz="2000" dirty="0" err="1">
                <a:solidFill>
                  <a:srgbClr val="A0AEC0"/>
                </a:solidFill>
                <a:latin typeface="Quattrocento Sans" pitchFamily="34" charset="0"/>
              </a:rPr>
              <a:t>Plankensteiner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9093200"/>
            <a:ext cx="16256000" cy="508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35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INHALTSÜBERSICHT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270000"/>
            <a:ext cx="14732000" cy="2540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2032000"/>
            <a:ext cx="3302000" cy="5334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16000" y="2286000"/>
            <a:ext cx="127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16000" y="3556000"/>
            <a:ext cx="279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Grundlagen &amp; Eigenschaften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Definition, Funktionsweise und wichtige Kenngrößen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0" y="2032000"/>
            <a:ext cx="3302000" cy="5334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6000" y="2286000"/>
            <a:ext cx="127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26000" y="3556000"/>
            <a:ext cx="279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Notwendige Bauteile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26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Dioden, Transformatoren, Kondensatoren und Drosseln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382000" y="2032000"/>
            <a:ext cx="3302000" cy="5334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36000" y="2286000"/>
            <a:ext cx="127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36000" y="3556000"/>
            <a:ext cx="279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Schaltungen &amp; Berechnungen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36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Einweg- und Brückengleichrichter mit durchgerechneten Beispielen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192000" y="2032000"/>
            <a:ext cx="3302000" cy="5334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446000" y="2286000"/>
            <a:ext cx="127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56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446000" y="3556000"/>
            <a:ext cx="279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Anwendungen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446000" y="4445000"/>
            <a:ext cx="279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Netzteile, Ladegeräte und industrielle DC-Versorgungen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02400" cy="9144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02400" y="0"/>
            <a:ext cx="9753600" cy="9144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02400" y="0"/>
            <a:ext cx="63500" cy="9144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794000"/>
            <a:ext cx="49784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62000" y="4191000"/>
            <a:ext cx="4978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kern="0" spc="2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KAPITEL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39000" y="3048000"/>
            <a:ext cx="8255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Grundlagen &amp; Eigenschaften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39000" y="3810000"/>
            <a:ext cx="825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Was ist ein Gleichrichter und welche Kenngrößen sind wichtig?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Was ist ein Gleichrichter?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1397000"/>
            <a:ext cx="8128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Ein </a:t>
            </a:r>
            <a:r>
              <a:rPr lang="en-US" sz="18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Gleichrichter</a:t>
            </a: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wandelt </a:t>
            </a:r>
            <a:r>
              <a:rPr lang="en-US" sz="18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Wechselstrom (AC)</a:t>
            </a: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in </a:t>
            </a:r>
            <a:r>
              <a:rPr lang="en-US" sz="18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Gleichstrom (DC)</a:t>
            </a: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um.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Die Grundfunktion basiert auf der Richtungsabhängigkeit von </a:t>
            </a:r>
            <a:r>
              <a:rPr lang="en-US" sz="18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Dioden</a:t>
            </a: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: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Leiten Strom nur in </a:t>
            </a:r>
            <a:r>
              <a:rPr lang="en-US" sz="1800" b="1" dirty="0">
                <a:solidFill>
                  <a:srgbClr val="C5303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eine Richtung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Sperren in der anderen Richtung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Ergebnis: Eine </a:t>
            </a:r>
            <a:r>
              <a:rPr lang="en-US" sz="18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pulsierende Gleichspannung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77336" y="4191000"/>
            <a:ext cx="8128000" cy="1270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36" y="4191000"/>
            <a:ext cx="50800" cy="1270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31336" y="4318000"/>
            <a:ext cx="762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Fakt: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Fast alle elektronischen Geräte benötigen Gleichstrom, obwohl das Stromnetz Wechselstrom liefert. Gleichrichter schließen diese Lücke.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98000" y="1397000"/>
            <a:ext cx="609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Prinzip der Gleichrichtung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525000" y="1968500"/>
            <a:ext cx="1524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AC-Eingang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049000" y="1778000"/>
            <a:ext cx="4318000" cy="208064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2" name="Chart 0"/>
          <p:cNvGraphicFramePr/>
          <p:nvPr/>
        </p:nvGraphicFramePr>
        <p:xfrm>
          <a:off x="10922000" y="1587500"/>
          <a:ext cx="4191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Shape 10"/>
          <p:cNvSpPr/>
          <p:nvPr/>
        </p:nvSpPr>
        <p:spPr>
          <a:xfrm>
            <a:off x="13017500" y="3873500"/>
            <a:ext cx="0" cy="381000"/>
          </a:xfrm>
          <a:prstGeom prst="straightConnector1">
            <a:avLst/>
          </a:prstGeom>
          <a:noFill/>
          <a:ln w="25400">
            <a:solidFill>
              <a:srgbClr val="718096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11874500" y="4318000"/>
            <a:ext cx="2286000" cy="635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74500" y="4318000"/>
            <a:ext cx="228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GLEICHRICHTER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3017500" y="5143500"/>
            <a:ext cx="0" cy="381000"/>
          </a:xfrm>
          <a:prstGeom prst="straightConnector1">
            <a:avLst/>
          </a:prstGeom>
          <a:noFill/>
          <a:ln w="25400">
            <a:solidFill>
              <a:srgbClr val="718096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525000" y="5841980"/>
            <a:ext cx="1524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DC-Ausgang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1049000" y="5676900"/>
            <a:ext cx="4318000" cy="24658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9" name="Chart 1"/>
          <p:cNvGraphicFramePr/>
          <p:nvPr/>
        </p:nvGraphicFramePr>
        <p:xfrm>
          <a:off x="10922000" y="5676900"/>
          <a:ext cx="4191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" name="Text 16"/>
          <p:cNvSpPr/>
          <p:nvPr/>
        </p:nvSpPr>
        <p:spPr>
          <a:xfrm>
            <a:off x="762000" y="5920338"/>
            <a:ext cx="609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Zwei Haupttypen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77336" y="6392336"/>
            <a:ext cx="2794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804336" y="6392336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Einweggleichrichter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Diode, nur positive Halbwelle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852336" y="6392336"/>
            <a:ext cx="29210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979336" y="6392336"/>
            <a:ext cx="266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Brückengleichrichter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Dioden, beide Halbwellen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Kenngrößen und Eigenschaften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301540"/>
              </p:ext>
            </p:extLst>
          </p:nvPr>
        </p:nvGraphicFramePr>
        <p:xfrm>
          <a:off x="762000" y="1397000"/>
          <a:ext cx="14732000" cy="3556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98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Kenngröße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Beschreibung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Typische Werte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Gleichricht- wirkgrad η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Verhältnis DC-Leistung zu AC-Leistung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Einweg: 40,6% | Brücke: 81,2%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Formfaktor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Verhältnis Effektivwert zu Mittelwert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Einweg: 1,57 | Brücke: 1,11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Restwelligkeit (Ripple)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Verbleibende Wechselspannung auf DC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Abhängig von Filterung (z.B. &lt; 1% mit Regler)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Sperrspannung UR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Max. Spannung in Sperrrichtung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Typ. 400V+ bei Netzgleichrichtern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Durchlassspannung UF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Spannungsabfall in Durchlassrichtung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ca. 0,7 V (Si-Diode)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762000" y="5334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Wichtige Formeln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62000" y="5905500"/>
            <a:ext cx="4572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52500" y="5969000"/>
            <a:ext cx="203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Einweg (Mittelwert)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6"/>
              <p:cNvSpPr/>
              <p:nvPr/>
            </p:nvSpPr>
            <p:spPr>
              <a:xfrm>
                <a:off x="952500" y="6286500"/>
                <a:ext cx="4191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𝐷𝐶</m:t>
                          </m:r>
                        </m:sub>
                      </m:sSub>
                      <m:r>
                        <a:rPr lang="en-US" sz="16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𝑝𝑒𝑎𝑘</m:t>
                              </m:r>
                            </m:sub>
                          </m:sSub>
                        </m:num>
                        <m:den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sz="1600" dirty="0">
                          <a:latin typeface="Cambria Math" panose="02040503050406030204" pitchFamily="18" charset="0"/>
                        </a:rPr>
                        <m:t>≈0,318⋅</m:t>
                      </m:r>
                      <m:sSub>
                        <m:sSubPr>
                          <m:ctrlPr>
                            <a:rPr lang="en-US" sz="11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 6"/>
              <p:cNvSpPr/>
              <p:nvPr/>
            </p:nvSpPr>
            <p:spPr>
              <a:xfrm>
                <a:off x="952500" y="6286500"/>
                <a:ext cx="4191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V_{DC} = \frac{V_{peak}}{\pi} \approx 0{,}318 \cdot V_{peak} )</a:t>
                </a:r>
                <a:endParaRPr lang="en-US" sz="1600" dirty="0"/>
              </a:p>
            </p:txBody>
          </p:sp>
        </mc:Fallback>
      </mc:AlternateContent>
      <p:sp>
        <p:nvSpPr>
          <p:cNvPr id="10" name="Shape 7"/>
          <p:cNvSpPr/>
          <p:nvPr/>
        </p:nvSpPr>
        <p:spPr>
          <a:xfrm>
            <a:off x="5715000" y="5905500"/>
            <a:ext cx="4572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05500" y="5969000"/>
            <a:ext cx="203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Brücke (Mittelwert)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9"/>
              <p:cNvSpPr/>
              <p:nvPr/>
            </p:nvSpPr>
            <p:spPr>
              <a:xfrm>
                <a:off x="5905500" y="6286500"/>
                <a:ext cx="4191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𝐷𝐶</m:t>
                          </m:r>
                        </m:sub>
                      </m:sSub>
                      <m:r>
                        <a:rPr lang="en-US" sz="16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100" dirty="0">
                              <a:latin typeface="Cambria Math" panose="02040503050406030204" pitchFamily="18" charset="0"/>
                            </a:rPr>
                            <m:t>2⋅</m:t>
                          </m:r>
                          <m:sSub>
                            <m:sSubPr>
                              <m:ctrlP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𝑝𝑒𝑎𝑘</m:t>
                              </m:r>
                            </m:sub>
                          </m:sSub>
                        </m:num>
                        <m:den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r>
                        <a:rPr lang="en-US" sz="1600" dirty="0">
                          <a:latin typeface="Cambria Math" panose="02040503050406030204" pitchFamily="18" charset="0"/>
                        </a:rPr>
                        <m:t>≈0,637⋅</m:t>
                      </m:r>
                      <m:sSub>
                        <m:sSubPr>
                          <m:ctrlPr>
                            <a:rPr lang="en-US" sz="11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𝑝𝑒𝑎𝑘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Text 9"/>
              <p:cNvSpPr/>
              <p:nvPr/>
            </p:nvSpPr>
            <p:spPr>
              <a:xfrm>
                <a:off x="5905500" y="6286500"/>
                <a:ext cx="4191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V_{DC} = \frac{2 \cdot V_{peak}}{\pi} \approx 0{,}637 \cdot V_{peak} )</a:t>
                </a:r>
                <a:endParaRPr lang="en-US" sz="1600" dirty="0"/>
              </a:p>
            </p:txBody>
          </p:sp>
        </mc:Fallback>
      </mc:AlternateContent>
      <p:sp>
        <p:nvSpPr>
          <p:cNvPr id="13" name="Shape 10"/>
          <p:cNvSpPr/>
          <p:nvPr/>
        </p:nvSpPr>
        <p:spPr>
          <a:xfrm>
            <a:off x="10668000" y="5905500"/>
            <a:ext cx="48260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858500" y="59690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Wirkgrad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2"/>
              <p:cNvSpPr/>
              <p:nvPr/>
            </p:nvSpPr>
            <p:spPr>
              <a:xfrm>
                <a:off x="10858500" y="6286500"/>
                <a:ext cx="4445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𝐷𝐶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sub>
                          </m:sSub>
                        </m:den>
                      </m:f>
                      <m:r>
                        <a:rPr lang="en-US" sz="1600" dirty="0">
                          <a:latin typeface="Cambria Math" panose="02040503050406030204" pitchFamily="18" charset="0"/>
                        </a:rPr>
                        <m:t>⋅100%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 12"/>
              <p:cNvSpPr/>
              <p:nvPr/>
            </p:nvSpPr>
            <p:spPr>
              <a:xfrm>
                <a:off x="10858500" y="6286500"/>
                <a:ext cx="4445000" cy="5080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algn="l">
                  <a:lnSpc>
                    <a:spcPct val="10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\eta = \frac{P_{DC}}{P_{AC}} \cdot 100\% )</a:t>
                </a:r>
                <a:endParaRPr lang="en-US" sz="1600" dirty="0"/>
              </a:p>
            </p:txBody>
          </p:sp>
        </mc:Fallback>
      </mc:AlternateContent>
      <p:sp>
        <p:nvSpPr>
          <p:cNvPr id="16" name="Text 13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02400" cy="9144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02400" y="0"/>
            <a:ext cx="9753600" cy="9144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02400" y="0"/>
            <a:ext cx="63500" cy="9144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794000"/>
            <a:ext cx="49784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62000" y="4191000"/>
            <a:ext cx="4978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kern="0" spc="2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KAPITEL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39000" y="3302000"/>
            <a:ext cx="8255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Notwendige Bauteile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39000" y="4064000"/>
            <a:ext cx="825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Die Komponenten hinter der Gleichrichtung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Die Diode - Das Kernbauteil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1397000"/>
            <a:ext cx="7620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Die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Diode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ist das zentrale Bauelement jedes Gleichrichters.</a:t>
            </a:r>
            <a:endParaRPr lang="en-US" sz="18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Sie besteht aus einem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p-n-Übergang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:</a:t>
            </a:r>
            <a:endParaRPr lang="en-US" sz="1800" dirty="0"/>
          </a:p>
          <a:p>
            <a:pPr>
              <a:lnSpc>
                <a:spcPct val="155000"/>
              </a:lnSpc>
              <a:spcBef>
                <a:spcPts val="400"/>
              </a:spcBef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p-Bereich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: positive Ladungsträger (Löcher)</a:t>
            </a:r>
            <a:endParaRPr lang="en-US" sz="1800" dirty="0"/>
          </a:p>
          <a:p>
            <a:pPr>
              <a:lnSpc>
                <a:spcPct val="155000"/>
              </a:lnSpc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n-Bereich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: negative Ladungsträger (Elektronen)</a:t>
            </a:r>
            <a:endParaRPr lang="en-US" sz="1800" dirty="0"/>
          </a:p>
          <a:p>
            <a:pPr>
              <a:lnSpc>
                <a:spcPct val="155000"/>
              </a:lnSpc>
              <a:spcBef>
                <a:spcPts val="600"/>
              </a:spcBef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Durchlassrichtung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leitet sie mit geringem Widerstand.</a:t>
            </a:r>
            <a:endParaRPr lang="en-US" sz="1800" dirty="0"/>
          </a:p>
          <a:p>
            <a:pPr>
              <a:lnSpc>
                <a:spcPct val="155000"/>
              </a:lnSpc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Sperrrichtung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sperrt sie nahezu vollständig.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41275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Kennwerte (Silizium)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62000" y="4572000"/>
            <a:ext cx="3556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52500" y="4635500"/>
            <a:ext cx="317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Durchlassspannung: </a:t>
            </a:r>
            <a:r>
              <a:rPr lang="en-US" sz="1500" b="1" dirty="0">
                <a:solidFill>
                  <a:srgbClr val="C5303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≈ 0,7 V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0" y="4572000"/>
            <a:ext cx="3556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62500" y="4635500"/>
            <a:ext cx="317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Sperrspannung: </a:t>
            </a:r>
            <a:r>
              <a:rPr lang="en-US" sz="15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bis 1000V+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90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Diode - Schaltzeichen &amp; Aufbau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890000" y="1968500"/>
            <a:ext cx="6604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 rot="5400000">
            <a:off x="11303000" y="2540000"/>
            <a:ext cx="1016000" cy="762000"/>
          </a:xfrm>
          <a:prstGeom prst="triangle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2192000" y="2476500"/>
            <a:ext cx="101600" cy="889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160000" y="2921000"/>
            <a:ext cx="1270000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293600" y="2921000"/>
            <a:ext cx="1270000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906000" y="3048000"/>
            <a:ext cx="101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Anode (+)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573000" y="3048000"/>
            <a:ext cx="1143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Kathode (-)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049000" y="3556000"/>
            <a:ext cx="1397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C5303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p-n-Übergang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0" y="4000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▶ Stromfluss: Anode → Kathode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44000" y="4381500"/>
            <a:ext cx="6096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Das Dreieck zeigt die Durchlassrichtung. Der Strich (Kathode) sperrt den Strom in Gegenrichtung.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Weitere Bauteile im Überblick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70485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1397000"/>
            <a:ext cx="50800" cy="2159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302538" y="-8840"/>
                </a:moveTo>
                <a:cubicBezTo>
                  <a:pt x="313164" y="-1161"/>
                  <a:pt x="317093" y="12769"/>
                  <a:pt x="312271" y="24914"/>
                </a:cubicBezTo>
                <a:lnTo>
                  <a:pt x="242262" y="200025"/>
                </a:lnTo>
                <a:lnTo>
                  <a:pt x="371475" y="200025"/>
                </a:lnTo>
                <a:cubicBezTo>
                  <a:pt x="383530" y="200025"/>
                  <a:pt x="394246" y="207526"/>
                  <a:pt x="398353" y="218867"/>
                </a:cubicBezTo>
                <a:cubicBezTo>
                  <a:pt x="402461" y="230207"/>
                  <a:pt x="398978" y="242888"/>
                  <a:pt x="389781" y="250567"/>
                </a:cubicBezTo>
                <a:lnTo>
                  <a:pt x="132606" y="464880"/>
                </a:lnTo>
                <a:cubicBezTo>
                  <a:pt x="122515" y="473273"/>
                  <a:pt x="108139" y="473720"/>
                  <a:pt x="97512" y="466040"/>
                </a:cubicBezTo>
                <a:cubicBezTo>
                  <a:pt x="86886" y="458361"/>
                  <a:pt x="82957" y="444431"/>
                  <a:pt x="87779" y="432286"/>
                </a:cubicBezTo>
                <a:lnTo>
                  <a:pt x="157788" y="257175"/>
                </a:lnTo>
                <a:lnTo>
                  <a:pt x="28575" y="257175"/>
                </a:lnTo>
                <a:cubicBezTo>
                  <a:pt x="16520" y="257175"/>
                  <a:pt x="5804" y="249674"/>
                  <a:pt x="1697" y="238333"/>
                </a:cubicBezTo>
                <a:cubicBezTo>
                  <a:pt x="-2411" y="226993"/>
                  <a:pt x="1072" y="214312"/>
                  <a:pt x="10269" y="206633"/>
                </a:cubicBezTo>
                <a:lnTo>
                  <a:pt x="267444" y="-7680"/>
                </a:lnTo>
                <a:cubicBezTo>
                  <a:pt x="277535" y="-16073"/>
                  <a:pt x="291911" y="-16520"/>
                  <a:pt x="302538" y="-8840"/>
                </a:cubicBezTo>
                <a:close/>
              </a:path>
            </a:pathLst>
          </a:cu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51000" y="1587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Transformator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2159000"/>
            <a:ext cx="6604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Wandelt Netzspannung (230V) auf benötigte AC-Spannung herab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Galvanische Trennung zum Netz (Schutz!)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Sekundärspannung bestimmt die Ausgangsspannung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45500" y="1397000"/>
            <a:ext cx="70485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45500" y="1397000"/>
            <a:ext cx="50800" cy="215900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7280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400050" y="183773"/>
                </a:moveTo>
                <a:cubicBezTo>
                  <a:pt x="386834" y="192524"/>
                  <a:pt x="371654" y="199579"/>
                  <a:pt x="355848" y="205204"/>
                </a:cubicBezTo>
                <a:cubicBezTo>
                  <a:pt x="313879" y="220206"/>
                  <a:pt x="258782" y="228600"/>
                  <a:pt x="200025" y="228600"/>
                </a:cubicBezTo>
                <a:cubicBezTo>
                  <a:pt x="141268" y="228600"/>
                  <a:pt x="86082" y="220117"/>
                  <a:pt x="44202" y="205204"/>
                </a:cubicBezTo>
                <a:cubicBezTo>
                  <a:pt x="28486" y="199579"/>
                  <a:pt x="13216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89565" y="328613"/>
                  <a:pt x="200025" y="328613"/>
                </a:cubicBezTo>
                <a:cubicBezTo>
                  <a:pt x="310485" y="328613"/>
                  <a:pt x="400050" y="296644"/>
                  <a:pt x="400050" y="257175"/>
                </a:cubicBezTo>
                <a:lnTo>
                  <a:pt x="400050" y="183773"/>
                </a:lnTo>
                <a:close/>
                <a:moveTo>
                  <a:pt x="400050" y="114300"/>
                </a:moveTo>
                <a:lnTo>
                  <a:pt x="400050" y="71438"/>
                </a:lnTo>
                <a:cubicBezTo>
                  <a:pt x="400050" y="31968"/>
                  <a:pt x="310485" y="0"/>
                  <a:pt x="200025" y="0"/>
                </a:cubicBezTo>
                <a:cubicBezTo>
                  <a:pt x="89565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89565" y="185738"/>
                  <a:pt x="200025" y="185738"/>
                </a:cubicBezTo>
                <a:cubicBezTo>
                  <a:pt x="310485" y="185738"/>
                  <a:pt x="400050" y="153769"/>
                  <a:pt x="400050" y="114300"/>
                </a:cubicBezTo>
                <a:close/>
                <a:moveTo>
                  <a:pt x="355848" y="348079"/>
                </a:moveTo>
                <a:cubicBezTo>
                  <a:pt x="313968" y="362992"/>
                  <a:pt x="258872" y="371475"/>
                  <a:pt x="200025" y="371475"/>
                </a:cubicBezTo>
                <a:cubicBezTo>
                  <a:pt x="141178" y="371475"/>
                  <a:pt x="86082" y="362992"/>
                  <a:pt x="44202" y="348079"/>
                </a:cubicBezTo>
                <a:cubicBezTo>
                  <a:pt x="28486" y="342454"/>
                  <a:pt x="13216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89565" y="457200"/>
                  <a:pt x="200025" y="457200"/>
                </a:cubicBezTo>
                <a:cubicBezTo>
                  <a:pt x="310485" y="457200"/>
                  <a:pt x="400050" y="425232"/>
                  <a:pt x="400050" y="385763"/>
                </a:cubicBezTo>
                <a:lnTo>
                  <a:pt x="400050" y="326648"/>
                </a:lnTo>
                <a:cubicBezTo>
                  <a:pt x="386834" y="335399"/>
                  <a:pt x="371654" y="342454"/>
                  <a:pt x="355848" y="348079"/>
                </a:cubicBezTo>
                <a:close/>
              </a:path>
            </a:pathLst>
          </a:cu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334500" y="1587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Glättungskondensator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99500" y="2159000"/>
            <a:ext cx="6604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Elektrolytkondensator parallel zur Last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Speichert Ladung und glättet die pulsierende DC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5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Faustregel: 1000 µF pro Ampere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3873500"/>
            <a:ext cx="70485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62000" y="3873500"/>
            <a:ext cx="50800" cy="21590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44575" y="40640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157163"/>
                </a:moveTo>
                <a:lnTo>
                  <a:pt x="0" y="257175"/>
                </a:lnTo>
                <a:cubicBezTo>
                  <a:pt x="0" y="367635"/>
                  <a:pt x="89565" y="457200"/>
                  <a:pt x="200025" y="457200"/>
                </a:cubicBezTo>
                <a:cubicBezTo>
                  <a:pt x="310485" y="457200"/>
                  <a:pt x="400050" y="367635"/>
                  <a:pt x="400050" y="257175"/>
                </a:cubicBezTo>
                <a:lnTo>
                  <a:pt x="400050" y="157163"/>
                </a:lnTo>
                <a:lnTo>
                  <a:pt x="285750" y="157163"/>
                </a:lnTo>
                <a:lnTo>
                  <a:pt x="285750" y="257175"/>
                </a:lnTo>
                <a:cubicBezTo>
                  <a:pt x="285750" y="304502"/>
                  <a:pt x="247352" y="342900"/>
                  <a:pt x="200025" y="342900"/>
                </a:cubicBezTo>
                <a:cubicBezTo>
                  <a:pt x="152698" y="342900"/>
                  <a:pt x="114300" y="304502"/>
                  <a:pt x="114300" y="257175"/>
                </a:cubicBezTo>
                <a:lnTo>
                  <a:pt x="114300" y="157163"/>
                </a:lnTo>
                <a:lnTo>
                  <a:pt x="0" y="157163"/>
                </a:lnTo>
                <a:close/>
                <a:moveTo>
                  <a:pt x="0" y="114300"/>
                </a:moveTo>
                <a:lnTo>
                  <a:pt x="114300" y="114300"/>
                </a:lnTo>
                <a:lnTo>
                  <a:pt x="114300" y="57150"/>
                </a:lnTo>
                <a:cubicBezTo>
                  <a:pt x="114300" y="41344"/>
                  <a:pt x="101531" y="28575"/>
                  <a:pt x="85725" y="28575"/>
                </a:cubicBezTo>
                <a:lnTo>
                  <a:pt x="28575" y="28575"/>
                </a:lnTo>
                <a:cubicBezTo>
                  <a:pt x="12769" y="28575"/>
                  <a:pt x="0" y="41344"/>
                  <a:pt x="0" y="57150"/>
                </a:cubicBezTo>
                <a:lnTo>
                  <a:pt x="0" y="114300"/>
                </a:lnTo>
                <a:close/>
                <a:moveTo>
                  <a:pt x="285750" y="114300"/>
                </a:moveTo>
                <a:lnTo>
                  <a:pt x="400050" y="114300"/>
                </a:lnTo>
                <a:lnTo>
                  <a:pt x="400050" y="57150"/>
                </a:lnTo>
                <a:cubicBezTo>
                  <a:pt x="400050" y="41344"/>
                  <a:pt x="387281" y="28575"/>
                  <a:pt x="371475" y="28575"/>
                </a:cubicBezTo>
                <a:lnTo>
                  <a:pt x="314325" y="28575"/>
                </a:lnTo>
                <a:cubicBezTo>
                  <a:pt x="298519" y="28575"/>
                  <a:pt x="285750" y="41344"/>
                  <a:pt x="285750" y="57150"/>
                </a:cubicBezTo>
                <a:lnTo>
                  <a:pt x="285750" y="114300"/>
                </a:lnTo>
                <a:close/>
              </a:path>
            </a:pathLst>
          </a:cu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51000" y="4064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Drossel (Spule)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16000" y="4635500"/>
            <a:ext cx="6604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Hoher Wechselstromwiderstand (X</a:t>
            </a:r>
            <a:r>
              <a:rPr lang="en-US" sz="15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</a:t>
            </a: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2πfL)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Bildet mit Kondensatoren LC- oder Pi-Filter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Deutlich bessere Filterung als Kondensator allein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45500" y="3873500"/>
            <a:ext cx="70485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445500" y="3873500"/>
            <a:ext cx="50800" cy="2159000"/>
          </a:xfrm>
          <a:prstGeom prst="rect">
            <a:avLst/>
          </a:pr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699500" y="4064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7163" y="21431"/>
                </a:moveTo>
                <a:cubicBezTo>
                  <a:pt x="157163" y="9555"/>
                  <a:pt x="147608" y="0"/>
                  <a:pt x="135731" y="0"/>
                </a:cubicBezTo>
                <a:cubicBezTo>
                  <a:pt x="123855" y="0"/>
                  <a:pt x="114300" y="9555"/>
                  <a:pt x="114300" y="21431"/>
                </a:cubicBezTo>
                <a:lnTo>
                  <a:pt x="114300" y="57150"/>
                </a:lnTo>
                <a:cubicBezTo>
                  <a:pt x="82778" y="57150"/>
                  <a:pt x="57150" y="82778"/>
                  <a:pt x="57150" y="114300"/>
                </a:cubicBezTo>
                <a:lnTo>
                  <a:pt x="21431" y="114300"/>
                </a:lnTo>
                <a:cubicBezTo>
                  <a:pt x="9555" y="114300"/>
                  <a:pt x="0" y="123855"/>
                  <a:pt x="0" y="135731"/>
                </a:cubicBezTo>
                <a:cubicBezTo>
                  <a:pt x="0" y="147608"/>
                  <a:pt x="9555" y="157163"/>
                  <a:pt x="21431" y="157163"/>
                </a:cubicBezTo>
                <a:lnTo>
                  <a:pt x="57150" y="157163"/>
                </a:lnTo>
                <a:lnTo>
                  <a:pt x="57150" y="207169"/>
                </a:lnTo>
                <a:lnTo>
                  <a:pt x="21431" y="207169"/>
                </a:lnTo>
                <a:cubicBezTo>
                  <a:pt x="9555" y="207169"/>
                  <a:pt x="0" y="216724"/>
                  <a:pt x="0" y="228600"/>
                </a:cubicBezTo>
                <a:cubicBezTo>
                  <a:pt x="0" y="240476"/>
                  <a:pt x="9555" y="250031"/>
                  <a:pt x="21431" y="250031"/>
                </a:cubicBezTo>
                <a:lnTo>
                  <a:pt x="57150" y="250031"/>
                </a:lnTo>
                <a:lnTo>
                  <a:pt x="57150" y="300038"/>
                </a:lnTo>
                <a:lnTo>
                  <a:pt x="21431" y="300038"/>
                </a:lnTo>
                <a:cubicBezTo>
                  <a:pt x="9555" y="300038"/>
                  <a:pt x="0" y="309592"/>
                  <a:pt x="0" y="321469"/>
                </a:cubicBezTo>
                <a:cubicBezTo>
                  <a:pt x="0" y="333345"/>
                  <a:pt x="9555" y="342900"/>
                  <a:pt x="21431" y="342900"/>
                </a:cubicBezTo>
                <a:lnTo>
                  <a:pt x="57150" y="342900"/>
                </a:lnTo>
                <a:cubicBezTo>
                  <a:pt x="57150" y="374422"/>
                  <a:pt x="82778" y="400050"/>
                  <a:pt x="114300" y="400050"/>
                </a:cubicBezTo>
                <a:lnTo>
                  <a:pt x="114300" y="435769"/>
                </a:lnTo>
                <a:cubicBezTo>
                  <a:pt x="114300" y="447645"/>
                  <a:pt x="123855" y="457200"/>
                  <a:pt x="135731" y="457200"/>
                </a:cubicBezTo>
                <a:cubicBezTo>
                  <a:pt x="147608" y="457200"/>
                  <a:pt x="157163" y="447645"/>
                  <a:pt x="157163" y="435769"/>
                </a:cubicBezTo>
                <a:lnTo>
                  <a:pt x="157163" y="400050"/>
                </a:lnTo>
                <a:lnTo>
                  <a:pt x="207169" y="400050"/>
                </a:lnTo>
                <a:lnTo>
                  <a:pt x="207169" y="435769"/>
                </a:lnTo>
                <a:cubicBezTo>
                  <a:pt x="207169" y="447645"/>
                  <a:pt x="216724" y="457200"/>
                  <a:pt x="228600" y="457200"/>
                </a:cubicBezTo>
                <a:cubicBezTo>
                  <a:pt x="240476" y="457200"/>
                  <a:pt x="250031" y="447645"/>
                  <a:pt x="250031" y="435769"/>
                </a:cubicBezTo>
                <a:lnTo>
                  <a:pt x="250031" y="400050"/>
                </a:lnTo>
                <a:lnTo>
                  <a:pt x="300038" y="400050"/>
                </a:lnTo>
                <a:lnTo>
                  <a:pt x="300038" y="435769"/>
                </a:lnTo>
                <a:cubicBezTo>
                  <a:pt x="300038" y="447645"/>
                  <a:pt x="309592" y="457200"/>
                  <a:pt x="321469" y="457200"/>
                </a:cubicBezTo>
                <a:cubicBezTo>
                  <a:pt x="333345" y="457200"/>
                  <a:pt x="342900" y="447645"/>
                  <a:pt x="342900" y="435769"/>
                </a:cubicBezTo>
                <a:lnTo>
                  <a:pt x="342900" y="400050"/>
                </a:lnTo>
                <a:cubicBezTo>
                  <a:pt x="374422" y="400050"/>
                  <a:pt x="400050" y="374422"/>
                  <a:pt x="400050" y="342900"/>
                </a:cubicBezTo>
                <a:lnTo>
                  <a:pt x="435769" y="342900"/>
                </a:lnTo>
                <a:cubicBezTo>
                  <a:pt x="447645" y="342900"/>
                  <a:pt x="457200" y="333345"/>
                  <a:pt x="457200" y="321469"/>
                </a:cubicBezTo>
                <a:cubicBezTo>
                  <a:pt x="457200" y="309592"/>
                  <a:pt x="447645" y="300038"/>
                  <a:pt x="435769" y="300038"/>
                </a:cubicBezTo>
                <a:lnTo>
                  <a:pt x="400050" y="300038"/>
                </a:lnTo>
                <a:lnTo>
                  <a:pt x="400050" y="250031"/>
                </a:lnTo>
                <a:lnTo>
                  <a:pt x="435769" y="250031"/>
                </a:lnTo>
                <a:cubicBezTo>
                  <a:pt x="447645" y="250031"/>
                  <a:pt x="457200" y="240476"/>
                  <a:pt x="457200" y="228600"/>
                </a:cubicBezTo>
                <a:cubicBezTo>
                  <a:pt x="457200" y="216724"/>
                  <a:pt x="447645" y="207169"/>
                  <a:pt x="435769" y="207169"/>
                </a:cubicBezTo>
                <a:lnTo>
                  <a:pt x="400050" y="207169"/>
                </a:lnTo>
                <a:lnTo>
                  <a:pt x="400050" y="157163"/>
                </a:lnTo>
                <a:lnTo>
                  <a:pt x="435769" y="157163"/>
                </a:lnTo>
                <a:cubicBezTo>
                  <a:pt x="447645" y="157163"/>
                  <a:pt x="457200" y="147608"/>
                  <a:pt x="457200" y="135731"/>
                </a:cubicBezTo>
                <a:cubicBezTo>
                  <a:pt x="457200" y="123855"/>
                  <a:pt x="447645" y="114300"/>
                  <a:pt x="435769" y="114300"/>
                </a:cubicBezTo>
                <a:lnTo>
                  <a:pt x="400050" y="114300"/>
                </a:lnTo>
                <a:cubicBezTo>
                  <a:pt x="400050" y="82778"/>
                  <a:pt x="374422" y="57150"/>
                  <a:pt x="342900" y="57150"/>
                </a:cubicBezTo>
                <a:lnTo>
                  <a:pt x="342900" y="21431"/>
                </a:lnTo>
                <a:cubicBezTo>
                  <a:pt x="342900" y="9555"/>
                  <a:pt x="333345" y="0"/>
                  <a:pt x="321469" y="0"/>
                </a:cubicBezTo>
                <a:cubicBezTo>
                  <a:pt x="309592" y="0"/>
                  <a:pt x="300038" y="9555"/>
                  <a:pt x="300038" y="21431"/>
                </a:cubicBezTo>
                <a:lnTo>
                  <a:pt x="300038" y="57150"/>
                </a:lnTo>
                <a:lnTo>
                  <a:pt x="250031" y="57150"/>
                </a:lnTo>
                <a:lnTo>
                  <a:pt x="250031" y="21431"/>
                </a:lnTo>
                <a:cubicBezTo>
                  <a:pt x="250031" y="9555"/>
                  <a:pt x="240476" y="0"/>
                  <a:pt x="228600" y="0"/>
                </a:cubicBezTo>
                <a:cubicBezTo>
                  <a:pt x="216724" y="0"/>
                  <a:pt x="207169" y="9555"/>
                  <a:pt x="207169" y="21431"/>
                </a:cubicBezTo>
                <a:lnTo>
                  <a:pt x="207169" y="57150"/>
                </a:lnTo>
                <a:lnTo>
                  <a:pt x="157163" y="57150"/>
                </a:lnTo>
                <a:lnTo>
                  <a:pt x="157163" y="21431"/>
                </a:lnTo>
                <a:close/>
                <a:moveTo>
                  <a:pt x="142875" y="114300"/>
                </a:moveTo>
                <a:lnTo>
                  <a:pt x="314325" y="114300"/>
                </a:lnTo>
                <a:cubicBezTo>
                  <a:pt x="330131" y="114300"/>
                  <a:pt x="342900" y="127069"/>
                  <a:pt x="342900" y="142875"/>
                </a:cubicBezTo>
                <a:lnTo>
                  <a:pt x="342900" y="314325"/>
                </a:lnTo>
                <a:cubicBezTo>
                  <a:pt x="342900" y="330131"/>
                  <a:pt x="330131" y="342900"/>
                  <a:pt x="314325" y="342900"/>
                </a:cubicBezTo>
                <a:lnTo>
                  <a:pt x="142875" y="342900"/>
                </a:lnTo>
                <a:cubicBezTo>
                  <a:pt x="127069" y="342900"/>
                  <a:pt x="114300" y="330131"/>
                  <a:pt x="114300" y="314325"/>
                </a:cubicBezTo>
                <a:lnTo>
                  <a:pt x="114300" y="142875"/>
                </a:lnTo>
                <a:cubicBezTo>
                  <a:pt x="114300" y="127069"/>
                  <a:pt x="127069" y="114300"/>
                  <a:pt x="142875" y="114300"/>
                </a:cubicBezTo>
                <a:close/>
                <a:moveTo>
                  <a:pt x="157163" y="157163"/>
                </a:moveTo>
                <a:lnTo>
                  <a:pt x="157163" y="300038"/>
                </a:lnTo>
                <a:lnTo>
                  <a:pt x="300038" y="300038"/>
                </a:lnTo>
                <a:lnTo>
                  <a:pt x="300038" y="157163"/>
                </a:lnTo>
                <a:lnTo>
                  <a:pt x="157163" y="157163"/>
                </a:lnTo>
                <a:close/>
              </a:path>
            </a:pathLst>
          </a:cu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34500" y="40640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Spannungsregler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99500" y="4635500"/>
            <a:ext cx="6604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ICs wie LM78xx (z.B. LM7812 für 12V)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Konstante Ausgangsspannung trotz Lastschwankungen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Reduziert Restwelligkeit um </a:t>
            </a:r>
            <a:r>
              <a:rPr lang="en-US" sz="15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&gt; 70 dB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2000" y="6413500"/>
            <a:ext cx="14732000" cy="1016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62000" y="6413500"/>
            <a:ext cx="50800" cy="1016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/>
              <p:cNvSpPr/>
              <p:nvPr/>
            </p:nvSpPr>
            <p:spPr>
              <a:xfrm>
                <a:off x="1016000" y="6540500"/>
                <a:ext cx="142240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US" sz="16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Restwelligkeit mit Kondensator:</a:t>
                </a: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dirty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𝐿𝑎𝑠𝑡</m:t>
                            </m:r>
                          </m:sub>
                        </m:sSub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| Bei 1A, 100Hz, 1000µF: </a:t>
                </a:r>
                <a14:m>
                  <m:oMath xmlns:m="http://schemas.openxmlformats.org/officeDocument/2006/math">
                    <m:r>
                      <a:rPr lang="en-US" sz="1600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100⋅0,001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=10 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7" name="Text 25"/>
              <p:cNvSpPr/>
              <p:nvPr/>
            </p:nvSpPr>
            <p:spPr>
              <a:xfrm>
                <a:off x="1016000" y="6540500"/>
                <a:ext cx="14224000" cy="762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US" sz="16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Restwelligkeit mit Kondensator: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\Delta U \approx \frac{I_{Last}}{f \cdot C} )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| Bei 1A, 100Hz, 1000µF: 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\Delta U = \frac{1}{100 \cdot 0{,}001} = 10\,V )</a:t>
                </a:r>
                <a:endParaRPr lang="en-US" sz="1600" dirty="0"/>
              </a:p>
            </p:txBody>
          </p:sp>
        </mc:Fallback>
      </mc:AlternateContent>
      <p:sp>
        <p:nvSpPr>
          <p:cNvPr id="28" name="Text 26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02400" cy="9144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02400" y="0"/>
            <a:ext cx="9753600" cy="9144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02400" y="0"/>
            <a:ext cx="63500" cy="9144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794000"/>
            <a:ext cx="49784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62000" y="4191000"/>
            <a:ext cx="4978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kern="0" spc="2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KAPITEL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39000" y="3048000"/>
            <a:ext cx="8255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Schaltungen &amp; Berechnungen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39000" y="3810000"/>
            <a:ext cx="825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Einweg- und Brückengleichrichter mit durchgerechneten Beispielen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Einweggleichrichter - Funktionsweise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1333500"/>
            <a:ext cx="7366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Der </a:t>
            </a: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Einweggleichrichter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besteht aus nur </a:t>
            </a:r>
            <a:r>
              <a:rPr lang="en-US" sz="1600" b="1" dirty="0">
                <a:solidFill>
                  <a:srgbClr val="C5303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einer Diode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Positive Halbwelle: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Diode leitet, Strom fließt zur Last.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Negative Halbwelle: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Diode sperrt, kein Stromfluss.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Ergebnis: Nur die positive Halbwelle erreicht den Verbraucher.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29"/>
            <a:ext cx="381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Schaltung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3556029"/>
            <a:ext cx="7366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70000" y="4191029"/>
            <a:ext cx="635000" cy="635000"/>
          </a:xfrm>
          <a:prstGeom prst="ellipse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937029"/>
            <a:ext cx="101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 AC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737895" y="4318029"/>
            <a:ext cx="1310105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rot="5400000">
            <a:off x="2959100" y="4165629"/>
            <a:ext cx="381000" cy="304800"/>
          </a:xfrm>
          <a:prstGeom prst="triangle">
            <a:avLst>
              <a:gd name="adj" fmla="val 50000"/>
            </a:avLst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02000" y="4152929"/>
            <a:ext cx="63500" cy="381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94000" y="3810029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C5303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65500" y="4343429"/>
            <a:ext cx="1016000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81500" y="4191029"/>
            <a:ext cx="635000" cy="304800"/>
          </a:xfrm>
          <a:prstGeom prst="rect">
            <a:avLst/>
          </a:prstGeom>
          <a:solidFill>
            <a:srgbClr val="2D37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1500" y="3810029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D374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en-US" sz="1200" baseline="-40000" dirty="0">
                <a:solidFill>
                  <a:srgbClr val="2D374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16500" y="4343429"/>
            <a:ext cx="1016000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32500" y="4343429"/>
            <a:ext cx="0" cy="741947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587500" y="5080029"/>
            <a:ext cx="4445000" cy="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587500" y="4445029"/>
            <a:ext cx="0" cy="635000"/>
          </a:xfrm>
          <a:prstGeom prst="straightConnector1">
            <a:avLst/>
          </a:prstGeom>
          <a:noFill/>
          <a:ln w="25400">
            <a:solidFill>
              <a:srgbClr val="2D374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10000" y="4508529"/>
            <a:ext cx="381000" cy="0"/>
          </a:xfrm>
          <a:prstGeom prst="straightConnector1">
            <a:avLst/>
          </a:prstGeom>
          <a:noFill/>
          <a:ln w="12700">
            <a:solidFill>
              <a:srgbClr val="C53030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636000" y="1333500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Spannungsverläufe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36000" y="1778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Eingang (AC)</a:t>
            </a:r>
            <a:endParaRPr lang="en-US" sz="16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10160000" y="1714500"/>
          <a:ext cx="5334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8636000" y="4508529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Ausgang (DC)</a:t>
            </a:r>
            <a:endParaRPr lang="en-US" sz="1600" dirty="0"/>
          </a:p>
        </p:txBody>
      </p:sp>
      <p:graphicFrame>
        <p:nvGraphicFramePr>
          <p:cNvPr id="26" name="Chart 1"/>
          <p:cNvGraphicFramePr/>
          <p:nvPr/>
        </p:nvGraphicFramePr>
        <p:xfrm>
          <a:off x="10160000" y="4445029"/>
          <a:ext cx="5334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7" name="Text 23"/>
          <p:cNvSpPr/>
          <p:nvPr/>
        </p:nvSpPr>
        <p:spPr>
          <a:xfrm>
            <a:off x="762000" y="5757283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Kennwerte im Vergleich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79868"/>
              </p:ext>
            </p:extLst>
          </p:nvPr>
        </p:nvGraphicFramePr>
        <p:xfrm>
          <a:off x="762000" y="6201783"/>
          <a:ext cx="6858000" cy="24765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Kennwert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Einweggleichrichter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Mittelwert VDC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0,318 × Vpeak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Wirkgrad (max.)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40,6 %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Brummfrequenz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50 Hz (Netzfrequenz)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Nachteil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Hohe Verluste, große Restwelligkeit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4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Einweggleichrichter - Berechnungsbeispiel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1333500"/>
            <a:ext cx="147320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1333500"/>
            <a:ext cx="50800" cy="889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13716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GEGEBEN: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1676400"/>
            <a:ext cx="14224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peak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12 V | R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100 Ω | R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6 Ω (Diodenwiderstand)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4765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Schritt-für-Schritt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62000" y="29845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9000" y="3048000"/>
            <a:ext cx="38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33500" y="30480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Scheitelstrom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13335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106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113,2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13" name="Text 11"/>
              <p:cNvSpPr/>
              <p:nvPr/>
            </p:nvSpPr>
            <p:spPr>
              <a:xfrm>
                <a:off x="13335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I_m = \frac{V_m}{R_D + R_L} = \frac{12}{106}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113,2 mA</a:t>
                </a:r>
                <a:endParaRPr lang="en-US" sz="1600" dirty="0"/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8445500" y="29845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3048000"/>
            <a:ext cx="38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17000" y="30480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DC-Strom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90170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113,2</m:t>
                        </m:r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36,0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17" name="Text 15"/>
              <p:cNvSpPr/>
              <p:nvPr/>
            </p:nvSpPr>
            <p:spPr>
              <a:xfrm>
                <a:off x="90170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I_{DC} = \frac{I_m}{\pi} = \frac{113{,}2}{\pi}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36,0 mA</a:t>
                </a:r>
                <a:endParaRPr lang="en-US" sz="1600" dirty="0"/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762000" y="41910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3600" y="4254500"/>
            <a:ext cx="4318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33500" y="42545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DC-Spannung V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/>
              <p:nvPr/>
            </p:nvSpPr>
            <p:spPr>
              <a:xfrm>
                <a:off x="13335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=0,036⋅100=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3,60 V</a:t>
                </a:r>
                <a:endParaRPr lang="en-US" sz="1600" dirty="0"/>
              </a:p>
            </p:txBody>
          </p:sp>
        </mc:Choice>
        <mc:Fallback xmlns="">
          <p:sp>
            <p:nvSpPr>
              <p:cNvPr id="21" name="Text 19"/>
              <p:cNvSpPr/>
              <p:nvPr/>
            </p:nvSpPr>
            <p:spPr>
              <a:xfrm>
                <a:off x="13335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V_{DC} = I_{DC} \cdot R_L = 0{,}036 \cdot 100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3,60 V</a:t>
                </a:r>
                <a:endParaRPr lang="en-US" sz="1600" dirty="0"/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8445500" y="41910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47100" y="4254500"/>
            <a:ext cx="4318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017000" y="42545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Effektivstrom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3"/>
              <p:cNvSpPr/>
              <p:nvPr/>
            </p:nvSpPr>
            <p:spPr>
              <a:xfrm>
                <a:off x="90170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𝑟𝑚𝑠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113,2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56,6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25" name="Text 23"/>
              <p:cNvSpPr/>
              <p:nvPr/>
            </p:nvSpPr>
            <p:spPr>
              <a:xfrm>
                <a:off x="90170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I_{rms} = \frac{I_m}{2} = \frac{113{,}2}{2}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56,6 mA</a:t>
                </a:r>
                <a:endParaRPr lang="en-US" sz="1600" dirty="0"/>
              </a:p>
            </p:txBody>
          </p:sp>
        </mc:Fallback>
      </mc:AlternateContent>
      <p:sp>
        <p:nvSpPr>
          <p:cNvPr id="26" name="Shape 24"/>
          <p:cNvSpPr/>
          <p:nvPr/>
        </p:nvSpPr>
        <p:spPr>
          <a:xfrm>
            <a:off x="762000" y="5524500"/>
            <a:ext cx="14732000" cy="1270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16000" y="5613400"/>
            <a:ext cx="381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ERGEBNIS: GLEICHRICHTWIRKGRAD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26"/>
              <p:cNvSpPr/>
              <p:nvPr/>
            </p:nvSpPr>
            <p:spPr>
              <a:xfrm>
                <a:off x="1016000" y="5994400"/>
                <a:ext cx="8890000" cy="635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6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sub>
                        </m:sSub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  <m:sup>
                            <m:r>
                              <a:rPr lang="en-US" sz="8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𝑟𝑚𝑠</m:t>
                            </m:r>
                          </m:sub>
                          <m:sup>
                            <m:r>
                              <a:rPr lang="en-US" sz="8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⋅(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0,1296</m:t>
                        </m:r>
                      </m:num>
                      <m:den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0,340</m:t>
                        </m:r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</m:t>
                    </m:r>
                    <m:r>
                      <a:rPr lang="en-US" sz="16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1800" dirty="0">
                    <a:solidFill>
                      <a:srgbClr val="E2E8F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800" b="1" dirty="0">
                    <a:solidFill>
                      <a:srgbClr val="FC8181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38,1%</a:t>
                </a:r>
                <a:endParaRPr lang="en-US" sz="1600" dirty="0"/>
              </a:p>
            </p:txBody>
          </p:sp>
        </mc:Choice>
        <mc:Fallback>
          <p:sp>
            <p:nvSpPr>
              <p:cNvPr id="28" name="Text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5994400"/>
                <a:ext cx="8890000" cy="635000"/>
              </a:xfrm>
              <a:prstGeom prst="rect">
                <a:avLst/>
              </a:prstGeom>
              <a:blipFill>
                <a:blip r:embed="rId3"/>
                <a:stretch>
                  <a:fillRect l="-823" b="-9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 27"/>
          <p:cNvSpPr/>
          <p:nvPr/>
        </p:nvSpPr>
        <p:spPr>
          <a:xfrm>
            <a:off x="10160000" y="5778500"/>
            <a:ext cx="508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Nahe am theoretischen Maximum von 40,6%. Die restlichen ~60% gehen als Verlust verloren.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Brückengleichrichter - Funktionsweise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1333500"/>
            <a:ext cx="7366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Der </a:t>
            </a: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Brückengleichrichter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(Graetz-Schaltung) verwendet </a:t>
            </a:r>
            <a:r>
              <a:rPr lang="en-US" sz="1600" b="1" dirty="0">
                <a:solidFill>
                  <a:srgbClr val="C53030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vier Dioden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500"/>
              </a:spcBef>
            </a:pP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Positive Halbwelle: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D1 + D2 leiten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Negative Halbwelle: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D3 + D4 leiten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500"/>
              </a:spcBef>
            </a:pP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 beiden Fällen fließt der Strom in </a:t>
            </a:r>
            <a:r>
              <a:rPr lang="en-US" sz="16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gleicher Richtung</a:t>
            </a:r>
            <a:r>
              <a:rPr lang="en-US" sz="16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durch die Last.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492500"/>
            <a:ext cx="6166547" cy="2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42000" y="3683000"/>
            <a:ext cx="50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36000" y="1333500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Spannungsverläufe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36000" y="1778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Eingang (AC)</a:t>
            </a:r>
            <a:endParaRPr lang="en-US" sz="16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10160000" y="1714500"/>
          <a:ext cx="5334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8636000" y="4720115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Ausgang (DC)</a:t>
            </a:r>
            <a:endParaRPr lang="en-US" sz="1600" dirty="0"/>
          </a:p>
        </p:txBody>
      </p:sp>
      <p:graphicFrame>
        <p:nvGraphicFramePr>
          <p:cNvPr id="12" name="Chart 1"/>
          <p:cNvGraphicFramePr/>
          <p:nvPr/>
        </p:nvGraphicFramePr>
        <p:xfrm>
          <a:off x="10160000" y="4656615"/>
          <a:ext cx="5334000" cy="25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9"/>
          <p:cNvSpPr/>
          <p:nvPr/>
        </p:nvSpPr>
        <p:spPr>
          <a:xfrm>
            <a:off x="264799" y="6032500"/>
            <a:ext cx="685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Vorteile im Vergleich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182467"/>
              </p:ext>
            </p:extLst>
          </p:nvPr>
        </p:nvGraphicFramePr>
        <p:xfrm>
          <a:off x="264799" y="6477000"/>
          <a:ext cx="6858000" cy="24765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Kennwert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Brückengleichrichter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Mittelwert VDC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0,637 × Vpeak (doppelt so hoch!)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Wirkgrad (max.)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81,2 %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Brummfrequenz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100 Hz (doppelte Netzfrequenz)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Vorteil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Beide Halbwellen genutzt, geringere Restwelligkeit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200" dirty="0"/>
          </a:p>
        </p:txBody>
      </p:sp>
      <p:pic>
        <p:nvPicPr>
          <p:cNvPr id="16" name="Image 0" descr="https://kimi-img.moonshot.cn/pub/slides/26-05-27-20:33:29-d8be96e1bb2rg194hh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2781" y="3594100"/>
            <a:ext cx="3276600" cy="24384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Brückengleichrichter - Berechnungsbeispiel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1333500"/>
            <a:ext cx="147320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1333500"/>
            <a:ext cx="50800" cy="889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13716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GEGEBEN: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1676400"/>
            <a:ext cx="14224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peak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12 V | R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100 Ω | R</a:t>
            </a:r>
            <a:r>
              <a:rPr lang="en-US" sz="1600" baseline="-400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= 6 Ω je Diode (2 Dioden in Serie)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4765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Schritt-für-Schritt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62000" y="29845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9000" y="3048000"/>
            <a:ext cx="38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33500" y="30480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Scheitelstrom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13335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112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107,1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13" name="Text 11"/>
              <p:cNvSpPr/>
              <p:nvPr/>
            </p:nvSpPr>
            <p:spPr>
              <a:xfrm>
                <a:off x="13335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I_m = \frac{V_m}{2R_D + R_L} = \frac{12}{112}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107,1 mA</a:t>
                </a:r>
                <a:endParaRPr lang="en-US" sz="1600" dirty="0"/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8445500" y="29845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3048000"/>
            <a:ext cx="38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17000" y="30480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DC-Strom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90170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2⋅</m:t>
                        </m:r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214,2</m:t>
                        </m:r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68,2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17" name="Text 15"/>
              <p:cNvSpPr/>
              <p:nvPr/>
            </p:nvSpPr>
            <p:spPr>
              <a:xfrm>
                <a:off x="9017000" y="34036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I_{DC} = \frac{2 \cdot I_m}{\pi} = \frac{214{,}2}{\pi}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68,2 mA</a:t>
                </a:r>
                <a:endParaRPr lang="en-US" sz="1600" dirty="0"/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762000" y="41910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3600" y="4254500"/>
            <a:ext cx="4318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33500" y="42545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DC-Spannung V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DC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/>
              <p:nvPr/>
            </p:nvSpPr>
            <p:spPr>
              <a:xfrm>
                <a:off x="13335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𝐷𝐶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=0,0682⋅100=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6,82 V</a:t>
                </a:r>
                <a:endParaRPr lang="en-US" sz="1600" dirty="0"/>
              </a:p>
            </p:txBody>
          </p:sp>
        </mc:Choice>
        <mc:Fallback xmlns="">
          <p:sp>
            <p:nvSpPr>
              <p:cNvPr id="21" name="Text 19"/>
              <p:cNvSpPr/>
              <p:nvPr/>
            </p:nvSpPr>
            <p:spPr>
              <a:xfrm>
                <a:off x="13335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V_{DC} = I_{DC} \cdot R_L = 0{,}0682 \cdot 100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6,82 V</a:t>
                </a:r>
                <a:endParaRPr lang="en-US" sz="1600" dirty="0"/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8445500" y="4191000"/>
            <a:ext cx="7048500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47100" y="4254500"/>
            <a:ext cx="4318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017000" y="4254500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Effektivstrom I</a:t>
            </a:r>
            <a:r>
              <a:rPr lang="en-US" sz="1400" baseline="-40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rms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3"/>
              <p:cNvSpPr/>
              <p:nvPr/>
            </p:nvSpPr>
            <p:spPr>
              <a:xfrm>
                <a:off x="90170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𝑟𝑚𝑠</m:t>
                        </m:r>
                      </m:sub>
                    </m:sSub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rad>
                          <m:rad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8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107,1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1,414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75,7 mA</a:t>
                </a:r>
                <a:endParaRPr lang="en-US" sz="1600" dirty="0"/>
              </a:p>
            </p:txBody>
          </p:sp>
        </mc:Choice>
        <mc:Fallback xmlns="">
          <p:sp>
            <p:nvSpPr>
              <p:cNvPr id="25" name="Text 23"/>
              <p:cNvSpPr/>
              <p:nvPr/>
            </p:nvSpPr>
            <p:spPr>
              <a:xfrm>
                <a:off x="9017000" y="4610100"/>
                <a:ext cx="6223000" cy="482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I_{rms} = \frac{I_m}{\sqrt{2}} = \frac{107{,}1}{1{,}414} = )</a:t>
                </a:r>
                <a:pPr>
                  <a:lnSpc>
                    <a:spcPct val="14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4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75,7 mA</a:t>
                </a:r>
                <a:endParaRPr lang="en-US" sz="1600" dirty="0"/>
              </a:p>
            </p:txBody>
          </p:sp>
        </mc:Fallback>
      </mc:AlternateContent>
      <p:sp>
        <p:nvSpPr>
          <p:cNvPr id="26" name="Shape 24"/>
          <p:cNvSpPr/>
          <p:nvPr/>
        </p:nvSpPr>
        <p:spPr>
          <a:xfrm>
            <a:off x="762000" y="5524500"/>
            <a:ext cx="14732000" cy="1270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16000" y="5613400"/>
            <a:ext cx="381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ERGEBNIS: GLEICHRICHTWIRKGRAD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26"/>
              <p:cNvSpPr/>
              <p:nvPr/>
            </p:nvSpPr>
            <p:spPr>
              <a:xfrm>
                <a:off x="1016000" y="5994400"/>
                <a:ext cx="8890000" cy="635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sub>
                        </m:sSub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𝐷𝐶</m:t>
                            </m:r>
                          </m:sub>
                          <m:sup>
                            <m:r>
                              <a:rPr lang="en-US" sz="8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𝑟𝑚𝑠</m:t>
                            </m:r>
                          </m:sub>
                          <m:sup>
                            <m:r>
                              <a:rPr lang="en-US" sz="8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⋅(2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⋅100=</m:t>
                    </m:r>
                    <m:f>
                      <m:f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0,465</m:t>
                        </m:r>
                      </m:num>
                      <m:den>
                        <m:r>
                          <a:rPr lang="en-US" sz="110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0,643</m:t>
                        </m:r>
                      </m:den>
                    </m:f>
                    <m:r>
                      <a:rPr lang="en-US" sz="160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⋅100≈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800" b="1" dirty="0">
                    <a:solidFill>
                      <a:srgbClr val="FC8181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72,3%</a:t>
                </a:r>
                <a:endParaRPr lang="en-US" sz="1600" dirty="0"/>
              </a:p>
            </p:txBody>
          </p:sp>
        </mc:Choice>
        <mc:Fallback>
          <p:sp>
            <p:nvSpPr>
              <p:cNvPr id="28" name="Text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5994400"/>
                <a:ext cx="8890000" cy="635000"/>
              </a:xfrm>
              <a:prstGeom prst="rect">
                <a:avLst/>
              </a:prstGeom>
              <a:blipFill>
                <a:blip r:embed="rId3"/>
                <a:stretch>
                  <a:fillRect l="-823" b="-95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 27"/>
          <p:cNvSpPr/>
          <p:nvPr/>
        </p:nvSpPr>
        <p:spPr>
          <a:xfrm>
            <a:off x="10160000" y="5778500"/>
            <a:ext cx="508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 doppelter Wirkgrad und fast doppelte DC-Spannung gegenüber dem Einweggleichrichter!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62000" y="7048500"/>
            <a:ext cx="14732000" cy="762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62000" y="7048500"/>
            <a:ext cx="50800" cy="762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16000" y="7112000"/>
            <a:ext cx="142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Vergleich:</a:t>
            </a: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Einweg: 3,60 V bei 38,1% Wirkgrad | Brücke: </a:t>
            </a:r>
            <a:r>
              <a:rPr lang="en-US" sz="1500" b="1" dirty="0">
                <a:solidFill>
                  <a:srgbClr val="C5303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6,82 V bei 72,3% Wirkgrad</a:t>
            </a: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DC-Spannung fast verdoppelt, Verluste halbiert!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Glättung und Filterung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13335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Die gleichgerichtete Spannung ist noch </a:t>
            </a:r>
            <a:r>
              <a:rPr lang="en-US" sz="1700" b="1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pulsierend</a:t>
            </a:r>
            <a:r>
              <a:rPr lang="en-US" sz="1700" dirty="0">
                <a:solidFill>
                  <a:srgbClr val="1A202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 Für stabile DC-Versorgung muss sie geglättet werden. Drei Methoden im Vergleich: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4699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4699000" cy="5080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41400" y="24765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355600" y="163354"/>
                </a:moveTo>
                <a:cubicBezTo>
                  <a:pt x="343853" y="171133"/>
                  <a:pt x="330359" y="177403"/>
                  <a:pt x="316309" y="182404"/>
                </a:cubicBezTo>
                <a:cubicBezTo>
                  <a:pt x="279003" y="195739"/>
                  <a:pt x="230029" y="203200"/>
                  <a:pt x="177800" y="203200"/>
                </a:cubicBezTo>
                <a:cubicBezTo>
                  <a:pt x="125571" y="203200"/>
                  <a:pt x="76518" y="195659"/>
                  <a:pt x="39291" y="182404"/>
                </a:cubicBezTo>
                <a:cubicBezTo>
                  <a:pt x="25321" y="177403"/>
                  <a:pt x="11747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79613" y="292100"/>
                  <a:pt x="177800" y="292100"/>
                </a:cubicBezTo>
                <a:cubicBezTo>
                  <a:pt x="275987" y="292100"/>
                  <a:pt x="355600" y="263684"/>
                  <a:pt x="355600" y="228600"/>
                </a:cubicBezTo>
                <a:lnTo>
                  <a:pt x="355600" y="163354"/>
                </a:lnTo>
                <a:close/>
                <a:moveTo>
                  <a:pt x="355600" y="101600"/>
                </a:moveTo>
                <a:lnTo>
                  <a:pt x="355600" y="63500"/>
                </a:lnTo>
                <a:cubicBezTo>
                  <a:pt x="355600" y="28416"/>
                  <a:pt x="275987" y="0"/>
                  <a:pt x="177800" y="0"/>
                </a:cubicBezTo>
                <a:cubicBezTo>
                  <a:pt x="79613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79613" y="165100"/>
                  <a:pt x="177800" y="165100"/>
                </a:cubicBezTo>
                <a:cubicBezTo>
                  <a:pt x="275987" y="165100"/>
                  <a:pt x="355600" y="136684"/>
                  <a:pt x="355600" y="101600"/>
                </a:cubicBezTo>
                <a:close/>
                <a:moveTo>
                  <a:pt x="316309" y="309404"/>
                </a:moveTo>
                <a:cubicBezTo>
                  <a:pt x="279083" y="322659"/>
                  <a:pt x="230108" y="330200"/>
                  <a:pt x="177800" y="330200"/>
                </a:cubicBezTo>
                <a:cubicBezTo>
                  <a:pt x="125492" y="330200"/>
                  <a:pt x="76518" y="322659"/>
                  <a:pt x="39291" y="309404"/>
                </a:cubicBezTo>
                <a:cubicBezTo>
                  <a:pt x="25321" y="304403"/>
                  <a:pt x="11747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79613" y="406400"/>
                  <a:pt x="177800" y="406400"/>
                </a:cubicBezTo>
                <a:cubicBezTo>
                  <a:pt x="275987" y="406400"/>
                  <a:pt x="355600" y="377984"/>
                  <a:pt x="355600" y="342900"/>
                </a:cubicBezTo>
                <a:lnTo>
                  <a:pt x="355600" y="290354"/>
                </a:lnTo>
                <a:cubicBezTo>
                  <a:pt x="343853" y="298133"/>
                  <a:pt x="330359" y="304403"/>
                  <a:pt x="316309" y="309404"/>
                </a:cubicBezTo>
                <a:close/>
              </a:path>
            </a:pathLst>
          </a:cu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549400" y="2476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Kondensator-Glättung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1016000" y="3048000"/>
                <a:ext cx="4191000" cy="2286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Elektrolytkondensator parallel zur Last</a:t>
                </a:r>
                <a:endParaRPr lang="en-US" sz="1600" dirty="0"/>
              </a:p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Wird auf Spitzenspannung geladen</a:t>
                </a:r>
                <a:endParaRPr lang="en-US" sz="1600" dirty="0"/>
              </a:p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Entlädt sich langsam über die Last</a:t>
                </a:r>
                <a:endParaRPr lang="en-US" sz="1600" dirty="0"/>
              </a:p>
              <a:p>
                <a:pPr>
                  <a:lnSpc>
                    <a:spcPct val="155000"/>
                  </a:lnSpc>
                  <a:spcBef>
                    <a:spcPts val="800"/>
                  </a:spcBef>
                </a:pPr>
                <a:r>
                  <a:rPr lang="en-US" sz="14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Formel:</a:t>
                </a:r>
                <a:endParaRPr lang="en-US" sz="1600" dirty="0"/>
              </a:p>
              <a:p>
                <a:pPr algn="l">
                  <a:lnSpc>
                    <a:spcPct val="155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dirty="0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dirty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800" i="1" dirty="0">
                                  <a:latin typeface="Cambria Math" panose="02040503050406030204" pitchFamily="18" charset="0"/>
                                </a:rPr>
                                <m:t>𝐿𝑎𝑠𝑡</m:t>
                              </m:r>
                            </m:sub>
                          </m:sSub>
                        </m:num>
                        <m:den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100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5000"/>
                  </a:lnSpc>
                  <a:spcBef>
                    <a:spcPts val="600"/>
                  </a:spcBef>
                </a:pPr>
                <a:r>
                  <a:rPr lang="en-US" sz="14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Faustregel: 1000 µF pro Ampere</a:t>
                </a:r>
                <a:endParaRPr lang="en-US" sz="1600" dirty="0"/>
              </a:p>
            </p:txBody>
          </p:sp>
        </mc:Choice>
        <mc:Fallback xmlns="">
          <p:sp>
            <p:nvSpPr>
              <p:cNvPr id="10" name="Text 8"/>
              <p:cNvSpPr/>
              <p:nvPr/>
            </p:nvSpPr>
            <p:spPr>
              <a:xfrm>
                <a:off x="1016000" y="3048000"/>
                <a:ext cx="4191000" cy="22860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Elektrolytkondensator parallel zur Last</a:t>
                </a:r>
                <a:endParaRPr lang="en-US" sz="1600" dirty="0"/>
              </a:p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Wird auf Spitzenspannung geladen</a:t>
                </a:r>
                <a:endParaRPr lang="en-US" sz="1600" dirty="0"/>
              </a:p>
              <a:p>
                <a:pPr>
                  <a:lnSpc>
                    <a:spcPct val="155000"/>
                  </a:lnSpc>
                </a:pPr>
                <a:r>
                  <a:rPr lang="en-US" sz="14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• Entlädt sich langsam über die Last</a:t>
                </a:r>
                <a:endParaRPr lang="en-US" sz="1600" dirty="0"/>
              </a:p>
              <a:p>
                <a:pPr>
                  <a:lnSpc>
                    <a:spcPct val="155000"/>
                  </a:lnSpc>
                  <a:spcBef>
                    <a:spcPts val="800"/>
                  </a:spcBef>
                </a:pPr>
                <a:r>
                  <a:rPr lang="en-US" sz="14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Formel:</a:t>
                </a:r>
                <a:endParaRPr lang="en-US" sz="1600" dirty="0"/>
              </a:p>
              <a:p>
                <a:pPr algn="l">
                  <a:lnSpc>
                    <a:spcPct val="155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\Delta U \approx \frac{I_{Last}}{f \cdot C} )</a:t>
                </a:r>
                <a:endParaRPr lang="en-US" sz="1600" dirty="0"/>
              </a:p>
              <a:p>
                <a:pPr>
                  <a:lnSpc>
                    <a:spcPct val="155000"/>
                  </a:lnSpc>
                  <a:spcBef>
                    <a:spcPts val="600"/>
                  </a:spcBef>
                </a:pPr>
                <a:r>
                  <a:rPr lang="en-US" sz="1400" b="1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Faustregel: 1000 µF pro Ampere</a:t>
                </a:r>
                <a:endParaRPr lang="en-US" sz="1600" dirty="0"/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5778500" y="2222500"/>
            <a:ext cx="4699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778500" y="2222500"/>
            <a:ext cx="4699000" cy="508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325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400" y="50800"/>
                </a:moveTo>
                <a:cubicBezTo>
                  <a:pt x="15161" y="50800"/>
                  <a:pt x="5874" y="56991"/>
                  <a:pt x="1905" y="66516"/>
                </a:cubicBezTo>
                <a:cubicBezTo>
                  <a:pt x="-2064" y="76041"/>
                  <a:pt x="159" y="86916"/>
                  <a:pt x="7461" y="94139"/>
                </a:cubicBezTo>
                <a:lnTo>
                  <a:pt x="152400" y="239157"/>
                </a:lnTo>
                <a:lnTo>
                  <a:pt x="152400" y="330200"/>
                </a:lnTo>
                <a:cubicBezTo>
                  <a:pt x="152400" y="336947"/>
                  <a:pt x="155099" y="343376"/>
                  <a:pt x="159861" y="348139"/>
                </a:cubicBezTo>
                <a:lnTo>
                  <a:pt x="210661" y="398939"/>
                </a:lnTo>
                <a:cubicBezTo>
                  <a:pt x="217964" y="406241"/>
                  <a:pt x="228838" y="408384"/>
                  <a:pt x="238363" y="404416"/>
                </a:cubicBezTo>
                <a:cubicBezTo>
                  <a:pt x="247888" y="400447"/>
                  <a:pt x="254000" y="391239"/>
                  <a:pt x="254000" y="381000"/>
                </a:cubicBezTo>
                <a:lnTo>
                  <a:pt x="254000" y="239157"/>
                </a:lnTo>
                <a:lnTo>
                  <a:pt x="398939" y="94218"/>
                </a:lnTo>
                <a:cubicBezTo>
                  <a:pt x="406241" y="86916"/>
                  <a:pt x="408384" y="76041"/>
                  <a:pt x="404416" y="66516"/>
                </a:cubicBezTo>
                <a:cubicBezTo>
                  <a:pt x="400447" y="56991"/>
                  <a:pt x="391239" y="50800"/>
                  <a:pt x="381000" y="50800"/>
                </a:cubicBezTo>
                <a:lnTo>
                  <a:pt x="25400" y="50800"/>
                </a:lnTo>
                <a:close/>
              </a:path>
            </a:pathLst>
          </a:cu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65900" y="2476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Pi-Filter (π-Filter)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32500" y="30480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Zwei Kondensatoren + Drossel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C1 gleicht erste Spannungsspitzen aus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Drossel bremst Wechselstromanteile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C2 filtert verbleibende Restwelligkeit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Deutlich bessere Filterung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als Kondensator allein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0795000" y="2222500"/>
            <a:ext cx="4699000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95000" y="2222500"/>
            <a:ext cx="4699000" cy="50800"/>
          </a:xfrm>
          <a:prstGeom prst="rect">
            <a:avLst/>
          </a:pr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0490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139700" y="19050"/>
                </a:moveTo>
                <a:cubicBezTo>
                  <a:pt x="139700" y="8493"/>
                  <a:pt x="131207" y="0"/>
                  <a:pt x="120650" y="0"/>
                </a:cubicBezTo>
                <a:cubicBezTo>
                  <a:pt x="110093" y="0"/>
                  <a:pt x="101600" y="8493"/>
                  <a:pt x="101600" y="19050"/>
                </a:cubicBezTo>
                <a:lnTo>
                  <a:pt x="101600" y="50800"/>
                </a:lnTo>
                <a:cubicBezTo>
                  <a:pt x="73581" y="50800"/>
                  <a:pt x="50800" y="73581"/>
                  <a:pt x="50800" y="101600"/>
                </a:cubicBezTo>
                <a:lnTo>
                  <a:pt x="19050" y="101600"/>
                </a:lnTo>
                <a:cubicBezTo>
                  <a:pt x="8493" y="101600"/>
                  <a:pt x="0" y="110093"/>
                  <a:pt x="0" y="120650"/>
                </a:cubicBezTo>
                <a:cubicBezTo>
                  <a:pt x="0" y="131207"/>
                  <a:pt x="8493" y="139700"/>
                  <a:pt x="19050" y="139700"/>
                </a:cubicBezTo>
                <a:lnTo>
                  <a:pt x="50800" y="139700"/>
                </a:lnTo>
                <a:lnTo>
                  <a:pt x="50800" y="184150"/>
                </a:lnTo>
                <a:lnTo>
                  <a:pt x="19050" y="184150"/>
                </a:lnTo>
                <a:cubicBezTo>
                  <a:pt x="8493" y="184150"/>
                  <a:pt x="0" y="192643"/>
                  <a:pt x="0" y="203200"/>
                </a:cubicBezTo>
                <a:cubicBezTo>
                  <a:pt x="0" y="213757"/>
                  <a:pt x="8493" y="222250"/>
                  <a:pt x="19050" y="222250"/>
                </a:cubicBezTo>
                <a:lnTo>
                  <a:pt x="50800" y="222250"/>
                </a:lnTo>
                <a:lnTo>
                  <a:pt x="50800" y="266700"/>
                </a:lnTo>
                <a:lnTo>
                  <a:pt x="19050" y="266700"/>
                </a:lnTo>
                <a:cubicBezTo>
                  <a:pt x="8493" y="266700"/>
                  <a:pt x="0" y="275193"/>
                  <a:pt x="0" y="285750"/>
                </a:cubicBezTo>
                <a:cubicBezTo>
                  <a:pt x="0" y="296307"/>
                  <a:pt x="8493" y="304800"/>
                  <a:pt x="19050" y="304800"/>
                </a:cubicBezTo>
                <a:lnTo>
                  <a:pt x="50800" y="304800"/>
                </a:lnTo>
                <a:cubicBezTo>
                  <a:pt x="50800" y="332819"/>
                  <a:pt x="73581" y="355600"/>
                  <a:pt x="101600" y="355600"/>
                </a:cubicBezTo>
                <a:lnTo>
                  <a:pt x="101600" y="387350"/>
                </a:lnTo>
                <a:cubicBezTo>
                  <a:pt x="101600" y="397907"/>
                  <a:pt x="110093" y="406400"/>
                  <a:pt x="120650" y="406400"/>
                </a:cubicBezTo>
                <a:cubicBezTo>
                  <a:pt x="131207" y="406400"/>
                  <a:pt x="139700" y="397907"/>
                  <a:pt x="139700" y="387350"/>
                </a:cubicBezTo>
                <a:lnTo>
                  <a:pt x="139700" y="355600"/>
                </a:lnTo>
                <a:lnTo>
                  <a:pt x="184150" y="355600"/>
                </a:lnTo>
                <a:lnTo>
                  <a:pt x="184150" y="387350"/>
                </a:lnTo>
                <a:cubicBezTo>
                  <a:pt x="184150" y="397907"/>
                  <a:pt x="192643" y="406400"/>
                  <a:pt x="203200" y="406400"/>
                </a:cubicBezTo>
                <a:cubicBezTo>
                  <a:pt x="213757" y="406400"/>
                  <a:pt x="222250" y="397907"/>
                  <a:pt x="222250" y="387350"/>
                </a:cubicBezTo>
                <a:lnTo>
                  <a:pt x="222250" y="355600"/>
                </a:lnTo>
                <a:lnTo>
                  <a:pt x="266700" y="355600"/>
                </a:lnTo>
                <a:lnTo>
                  <a:pt x="266700" y="387350"/>
                </a:lnTo>
                <a:cubicBezTo>
                  <a:pt x="266700" y="397907"/>
                  <a:pt x="275193" y="406400"/>
                  <a:pt x="285750" y="406400"/>
                </a:cubicBezTo>
                <a:cubicBezTo>
                  <a:pt x="296307" y="406400"/>
                  <a:pt x="304800" y="397907"/>
                  <a:pt x="304800" y="387350"/>
                </a:cubicBezTo>
                <a:lnTo>
                  <a:pt x="304800" y="355600"/>
                </a:lnTo>
                <a:cubicBezTo>
                  <a:pt x="332819" y="355600"/>
                  <a:pt x="355600" y="332819"/>
                  <a:pt x="355600" y="304800"/>
                </a:cubicBezTo>
                <a:lnTo>
                  <a:pt x="387350" y="304800"/>
                </a:lnTo>
                <a:cubicBezTo>
                  <a:pt x="397907" y="304800"/>
                  <a:pt x="406400" y="296307"/>
                  <a:pt x="406400" y="285750"/>
                </a:cubicBezTo>
                <a:cubicBezTo>
                  <a:pt x="406400" y="275193"/>
                  <a:pt x="397907" y="266700"/>
                  <a:pt x="387350" y="266700"/>
                </a:cubicBezTo>
                <a:lnTo>
                  <a:pt x="355600" y="266700"/>
                </a:lnTo>
                <a:lnTo>
                  <a:pt x="355600" y="222250"/>
                </a:lnTo>
                <a:lnTo>
                  <a:pt x="387350" y="222250"/>
                </a:lnTo>
                <a:cubicBezTo>
                  <a:pt x="397907" y="222250"/>
                  <a:pt x="406400" y="213757"/>
                  <a:pt x="406400" y="203200"/>
                </a:cubicBezTo>
                <a:cubicBezTo>
                  <a:pt x="406400" y="192643"/>
                  <a:pt x="397907" y="184150"/>
                  <a:pt x="387350" y="184150"/>
                </a:cubicBezTo>
                <a:lnTo>
                  <a:pt x="355600" y="184150"/>
                </a:lnTo>
                <a:lnTo>
                  <a:pt x="355600" y="139700"/>
                </a:lnTo>
                <a:lnTo>
                  <a:pt x="387350" y="139700"/>
                </a:lnTo>
                <a:cubicBezTo>
                  <a:pt x="397907" y="139700"/>
                  <a:pt x="406400" y="131207"/>
                  <a:pt x="406400" y="120650"/>
                </a:cubicBezTo>
                <a:cubicBezTo>
                  <a:pt x="406400" y="110093"/>
                  <a:pt x="397907" y="101600"/>
                  <a:pt x="387350" y="101600"/>
                </a:cubicBezTo>
                <a:lnTo>
                  <a:pt x="355600" y="101600"/>
                </a:lnTo>
                <a:cubicBezTo>
                  <a:pt x="355600" y="73581"/>
                  <a:pt x="332819" y="50800"/>
                  <a:pt x="304800" y="50800"/>
                </a:cubicBezTo>
                <a:lnTo>
                  <a:pt x="304800" y="19050"/>
                </a:lnTo>
                <a:cubicBezTo>
                  <a:pt x="304800" y="8493"/>
                  <a:pt x="296307" y="0"/>
                  <a:pt x="285750" y="0"/>
                </a:cubicBezTo>
                <a:cubicBezTo>
                  <a:pt x="275193" y="0"/>
                  <a:pt x="266700" y="8493"/>
                  <a:pt x="266700" y="19050"/>
                </a:cubicBezTo>
                <a:lnTo>
                  <a:pt x="266700" y="50800"/>
                </a:lnTo>
                <a:lnTo>
                  <a:pt x="222250" y="50800"/>
                </a:lnTo>
                <a:lnTo>
                  <a:pt x="222250" y="19050"/>
                </a:lnTo>
                <a:cubicBezTo>
                  <a:pt x="222250" y="8493"/>
                  <a:pt x="213757" y="0"/>
                  <a:pt x="203200" y="0"/>
                </a:cubicBezTo>
                <a:cubicBezTo>
                  <a:pt x="192643" y="0"/>
                  <a:pt x="184150" y="8493"/>
                  <a:pt x="184150" y="19050"/>
                </a:cubicBezTo>
                <a:lnTo>
                  <a:pt x="184150" y="50800"/>
                </a:lnTo>
                <a:lnTo>
                  <a:pt x="139700" y="50800"/>
                </a:lnTo>
                <a:lnTo>
                  <a:pt x="139700" y="19050"/>
                </a:lnTo>
                <a:close/>
                <a:moveTo>
                  <a:pt x="127000" y="101600"/>
                </a:moveTo>
                <a:lnTo>
                  <a:pt x="279400" y="101600"/>
                </a:lnTo>
                <a:cubicBezTo>
                  <a:pt x="293449" y="101600"/>
                  <a:pt x="304800" y="112951"/>
                  <a:pt x="304800" y="127000"/>
                </a:cubicBezTo>
                <a:lnTo>
                  <a:pt x="304800" y="279400"/>
                </a:lnTo>
                <a:cubicBezTo>
                  <a:pt x="304800" y="293449"/>
                  <a:pt x="293449" y="304800"/>
                  <a:pt x="279400" y="304800"/>
                </a:cubicBezTo>
                <a:lnTo>
                  <a:pt x="127000" y="304800"/>
                </a:lnTo>
                <a:cubicBezTo>
                  <a:pt x="112951" y="304800"/>
                  <a:pt x="101600" y="293449"/>
                  <a:pt x="101600" y="279400"/>
                </a:cubicBezTo>
                <a:lnTo>
                  <a:pt x="101600" y="127000"/>
                </a:lnTo>
                <a:cubicBezTo>
                  <a:pt x="101600" y="112951"/>
                  <a:pt x="112951" y="101600"/>
                  <a:pt x="127000" y="101600"/>
                </a:cubicBezTo>
                <a:close/>
                <a:moveTo>
                  <a:pt x="139700" y="139700"/>
                </a:moveTo>
                <a:lnTo>
                  <a:pt x="139700" y="266700"/>
                </a:lnTo>
                <a:lnTo>
                  <a:pt x="266700" y="266700"/>
                </a:lnTo>
                <a:lnTo>
                  <a:pt x="266700" y="139700"/>
                </a:lnTo>
                <a:lnTo>
                  <a:pt x="139700" y="139700"/>
                </a:lnTo>
                <a:close/>
              </a:path>
            </a:pathLst>
          </a:cu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582400" y="2476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Spannungsregler-IC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049000" y="3048000"/>
            <a:ext cx="4191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z.B. LM7812 für 12V Ausgang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Konstante Spannung trotz Schwankungen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Reduziert Ripple um </a:t>
            </a:r>
            <a:r>
              <a:rPr lang="en-US" sz="14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&gt; 70 dB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Einfache Beschaltung mit C_in und C_out</a:t>
            </a:r>
            <a:endParaRPr lang="en-US" sz="1600" dirty="0"/>
          </a:p>
          <a:p>
            <a:pPr>
              <a:lnSpc>
                <a:spcPct val="155000"/>
              </a:lnSpc>
              <a:spcBef>
                <a:spcPts val="800"/>
              </a:spcBef>
            </a:pPr>
            <a:r>
              <a:rPr lang="en-US" sz="14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Beste Lösung für</a:t>
            </a:r>
            <a:endParaRPr lang="en-US" sz="1600" dirty="0"/>
          </a:p>
          <a:p>
            <a:pPr>
              <a:lnSpc>
                <a:spcPct val="155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präzise DC-Versorgungen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2000" y="5842000"/>
            <a:ext cx="14732000" cy="127000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2000" y="5842000"/>
            <a:ext cx="50800" cy="1270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16000" y="59436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BEISPIEL-RECHNUNG: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22"/>
              <p:cNvSpPr/>
              <p:nvPr/>
            </p:nvSpPr>
            <p:spPr>
              <a:xfrm>
                <a:off x="1016000" y="6223000"/>
                <a:ext cx="14224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Brückengleichrichter mit 1A Last, 100Hz Brummfrequenz, 1000µF Kondensator:</a:t>
                </a:r>
                <a:endParaRPr lang="en-US" sz="16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600" dirty="0"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800" i="1" dirty="0">
                                <a:latin typeface="Cambria Math" panose="02040503050406030204" pitchFamily="18" charset="0"/>
                              </a:rPr>
                              <m:t>𝐿𝑎𝑠𝑡</m:t>
                            </m:r>
                          </m:sub>
                        </m:sSub>
                      </m:num>
                      <m:den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100" dirty="0">
                            <a:latin typeface="Cambria Math" panose="02040503050406030204" pitchFamily="18" charset="0"/>
                          </a:rPr>
                          <m:t>100⋅0,001</m:t>
                        </m:r>
                      </m:den>
                    </m:f>
                    <m:r>
                      <a:rPr lang="en-US" sz="160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10 V Restwelligung</a:t>
                </a: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→ Bei 12V DC sind das noch 83% Ripple! Lösung: Größerer C oder Spannungsregler.</a:t>
                </a:r>
                <a:endParaRPr lang="en-US" sz="1600" dirty="0"/>
              </a:p>
            </p:txBody>
          </p:sp>
        </mc:Choice>
        <mc:Fallback xmlns="">
          <p:sp>
            <p:nvSpPr>
              <p:cNvPr id="24" name="Text 22"/>
              <p:cNvSpPr/>
              <p:nvPr/>
            </p:nvSpPr>
            <p:spPr>
              <a:xfrm>
                <a:off x="1016000" y="6223000"/>
                <a:ext cx="14224000" cy="7874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Brückengleichrichter mit 1A Last, 100Hz Brummfrequenz, 1000µF Kondensator:</a:t>
                </a:r>
                <a:endParaRPr lang="en-US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Sans" pitchFamily="34" charset="0"/>
                    <a:ea typeface="QuattrocentoSans" pitchFamily="34" charset="-122"/>
                    <a:cs typeface="QuattrocentoSans" pitchFamily="34" charset="-120"/>
                  </a:rPr>
                  <a:t>( \Delta U = \frac{I_{Last}}{f \cdot C} = \frac{1}{100 \cdot 0{,}001} = )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</a:t>
                </a:r>
                <a:pPr>
                  <a:lnSpc>
                    <a:spcPct val="150000"/>
                  </a:lnSpc>
                </a:pPr>
                <a:r>
                  <a:rPr lang="en-US" sz="1600" b="1" dirty="0">
                    <a:solidFill>
                      <a:srgbClr val="C53030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10 V Restwelligung</a:t>
                </a:r>
                <a:pPr>
                  <a:lnSpc>
                    <a:spcPct val="150000"/>
                  </a:lnSpc>
                </a:pPr>
                <a:r>
                  <a:rPr lang="en-US" sz="1600" dirty="0">
                    <a:solidFill>
                      <a:srgbClr val="1A202C"/>
                    </a:solidFill>
                    <a:latin typeface="Quattrocento Sans" pitchFamily="34" charset="0"/>
                    <a:ea typeface="Quattrocento Sans" pitchFamily="34" charset="-122"/>
                    <a:cs typeface="Quattrocento Sans" pitchFamily="34" charset="-120"/>
                  </a:rPr>
                  <a:t> → Bei 12V DC sind das noch 83% Ripple! Lösung: Größerer C oder Spannungsregler.</a:t>
                </a:r>
                <a:endParaRPr lang="en-US" sz="1600" dirty="0"/>
              </a:p>
            </p:txBody>
          </p:sp>
        </mc:Fallback>
      </mc:AlternateContent>
      <p:sp>
        <p:nvSpPr>
          <p:cNvPr id="25" name="Text 23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37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02400" cy="9144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02400" y="0"/>
            <a:ext cx="9753600" cy="9144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02400" y="0"/>
            <a:ext cx="63500" cy="9144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794000"/>
            <a:ext cx="49784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200" dirty="0">
                <a:solidFill>
                  <a:srgbClr val="C5303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62000" y="4191000"/>
            <a:ext cx="49784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kern="0" spc="200" dirty="0">
                <a:solidFill>
                  <a:srgbClr val="A0AEC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KAPITEL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39000" y="3302000"/>
            <a:ext cx="8255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Anwendungen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39000" y="4064000"/>
            <a:ext cx="825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71809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 werden Gleichrichter überall eingesetzt?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Anwendungen von Gleichrichtern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41400" y="15875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101600" y="-25400"/>
                </a:moveTo>
                <a:cubicBezTo>
                  <a:pt x="115649" y="-25400"/>
                  <a:pt x="127000" y="-14049"/>
                  <a:pt x="127000" y="0"/>
                </a:cubicBezTo>
                <a:lnTo>
                  <a:pt x="127000" y="76200"/>
                </a:lnTo>
                <a:lnTo>
                  <a:pt x="228600" y="76200"/>
                </a:lnTo>
                <a:lnTo>
                  <a:pt x="228600" y="0"/>
                </a:lnTo>
                <a:cubicBezTo>
                  <a:pt x="228600" y="-14049"/>
                  <a:pt x="239951" y="-25400"/>
                  <a:pt x="254000" y="-25400"/>
                </a:cubicBezTo>
                <a:cubicBezTo>
                  <a:pt x="268049" y="-25400"/>
                  <a:pt x="279400" y="-14049"/>
                  <a:pt x="279400" y="0"/>
                </a:cubicBezTo>
                <a:lnTo>
                  <a:pt x="279400" y="76200"/>
                </a:lnTo>
                <a:lnTo>
                  <a:pt x="330200" y="76200"/>
                </a:lnTo>
                <a:cubicBezTo>
                  <a:pt x="344249" y="76200"/>
                  <a:pt x="355600" y="87551"/>
                  <a:pt x="355600" y="101600"/>
                </a:cubicBezTo>
                <a:cubicBezTo>
                  <a:pt x="355600" y="115649"/>
                  <a:pt x="344249" y="127000"/>
                  <a:pt x="330200" y="127000"/>
                </a:cubicBezTo>
                <a:lnTo>
                  <a:pt x="330200" y="177800"/>
                </a:lnTo>
                <a:cubicBezTo>
                  <a:pt x="330200" y="253286"/>
                  <a:pt x="275273" y="315992"/>
                  <a:pt x="203200" y="328057"/>
                </a:cubicBezTo>
                <a:lnTo>
                  <a:pt x="203200" y="381000"/>
                </a:lnTo>
                <a:cubicBezTo>
                  <a:pt x="203200" y="395049"/>
                  <a:pt x="191849" y="406400"/>
                  <a:pt x="177800" y="406400"/>
                </a:cubicBezTo>
                <a:cubicBezTo>
                  <a:pt x="163751" y="406400"/>
                  <a:pt x="152400" y="395049"/>
                  <a:pt x="152400" y="381000"/>
                </a:cubicBezTo>
                <a:lnTo>
                  <a:pt x="152400" y="328057"/>
                </a:lnTo>
                <a:cubicBezTo>
                  <a:pt x="80328" y="315992"/>
                  <a:pt x="25400" y="253286"/>
                  <a:pt x="25400" y="177800"/>
                </a:cubicBezTo>
                <a:lnTo>
                  <a:pt x="25400" y="127000"/>
                </a:lnTo>
                <a:cubicBezTo>
                  <a:pt x="11351" y="127000"/>
                  <a:pt x="0" y="115649"/>
                  <a:pt x="0" y="101600"/>
                </a:cubicBezTo>
                <a:cubicBezTo>
                  <a:pt x="0" y="87551"/>
                  <a:pt x="11351" y="76200"/>
                  <a:pt x="25400" y="76200"/>
                </a:cubicBezTo>
                <a:lnTo>
                  <a:pt x="76200" y="76200"/>
                </a:lnTo>
                <a:lnTo>
                  <a:pt x="76200" y="0"/>
                </a:lnTo>
                <a:cubicBezTo>
                  <a:pt x="76200" y="-14049"/>
                  <a:pt x="87551" y="-25400"/>
                  <a:pt x="101600" y="-25400"/>
                </a:cubicBezTo>
                <a:close/>
              </a:path>
            </a:pathLst>
          </a:cu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49400" y="1587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Netzteile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095500"/>
            <a:ext cx="419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Computer, Laptops, Router: Umwandlung von 230V AC auf 5V/12V/19V DC. Jeder PC benötigt ein Netzteil mit Brückengleichrichter.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78500" y="13970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981700" y="15875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419100" y="101600"/>
                </a:moveTo>
                <a:cubicBezTo>
                  <a:pt x="426085" y="101600"/>
                  <a:pt x="431800" y="107315"/>
                  <a:pt x="431800" y="114300"/>
                </a:cubicBezTo>
                <a:lnTo>
                  <a:pt x="431800" y="292100"/>
                </a:lnTo>
                <a:cubicBezTo>
                  <a:pt x="431800" y="299085"/>
                  <a:pt x="426085" y="304800"/>
                  <a:pt x="419100" y="304800"/>
                </a:cubicBezTo>
                <a:lnTo>
                  <a:pt x="88900" y="304800"/>
                </a:lnTo>
                <a:cubicBezTo>
                  <a:pt x="81915" y="304800"/>
                  <a:pt x="76200" y="299085"/>
                  <a:pt x="76200" y="292100"/>
                </a:cubicBezTo>
                <a:lnTo>
                  <a:pt x="76200" y="114300"/>
                </a:lnTo>
                <a:cubicBezTo>
                  <a:pt x="76200" y="107315"/>
                  <a:pt x="81915" y="101600"/>
                  <a:pt x="88900" y="101600"/>
                </a:cubicBezTo>
                <a:lnTo>
                  <a:pt x="419100" y="101600"/>
                </a:lnTo>
                <a:close/>
                <a:moveTo>
                  <a:pt x="88900" y="50800"/>
                </a:moveTo>
                <a:cubicBezTo>
                  <a:pt x="53816" y="50800"/>
                  <a:pt x="25400" y="79216"/>
                  <a:pt x="25400" y="114300"/>
                </a:cubicBezTo>
                <a:lnTo>
                  <a:pt x="25400" y="292100"/>
                </a:lnTo>
                <a:cubicBezTo>
                  <a:pt x="25400" y="327184"/>
                  <a:pt x="53816" y="355600"/>
                  <a:pt x="88900" y="355600"/>
                </a:cubicBezTo>
                <a:lnTo>
                  <a:pt x="419100" y="355600"/>
                </a:lnTo>
                <a:cubicBezTo>
                  <a:pt x="454184" y="355600"/>
                  <a:pt x="482600" y="327184"/>
                  <a:pt x="482600" y="292100"/>
                </a:cubicBezTo>
                <a:lnTo>
                  <a:pt x="482600" y="254000"/>
                </a:lnTo>
                <a:cubicBezTo>
                  <a:pt x="496649" y="254000"/>
                  <a:pt x="508000" y="242649"/>
                  <a:pt x="508000" y="228600"/>
                </a:cubicBezTo>
                <a:lnTo>
                  <a:pt x="508000" y="177800"/>
                </a:lnTo>
                <a:cubicBezTo>
                  <a:pt x="508000" y="163751"/>
                  <a:pt x="496649" y="152400"/>
                  <a:pt x="482600" y="152400"/>
                </a:cubicBezTo>
                <a:lnTo>
                  <a:pt x="482600" y="114300"/>
                </a:lnTo>
                <a:cubicBezTo>
                  <a:pt x="482600" y="79216"/>
                  <a:pt x="454184" y="50800"/>
                  <a:pt x="419100" y="50800"/>
                </a:cubicBezTo>
                <a:lnTo>
                  <a:pt x="88900" y="50800"/>
                </a:lnTo>
                <a:close/>
                <a:moveTo>
                  <a:pt x="133350" y="139700"/>
                </a:moveTo>
                <a:cubicBezTo>
                  <a:pt x="122793" y="139700"/>
                  <a:pt x="114300" y="148193"/>
                  <a:pt x="114300" y="158750"/>
                </a:cubicBezTo>
                <a:lnTo>
                  <a:pt x="114300" y="247650"/>
                </a:lnTo>
                <a:cubicBezTo>
                  <a:pt x="114300" y="258207"/>
                  <a:pt x="122793" y="266700"/>
                  <a:pt x="133350" y="266700"/>
                </a:cubicBezTo>
                <a:lnTo>
                  <a:pt x="374650" y="266700"/>
                </a:lnTo>
                <a:cubicBezTo>
                  <a:pt x="385207" y="266700"/>
                  <a:pt x="393700" y="258207"/>
                  <a:pt x="393700" y="247650"/>
                </a:cubicBezTo>
                <a:lnTo>
                  <a:pt x="393700" y="158750"/>
                </a:lnTo>
                <a:cubicBezTo>
                  <a:pt x="393700" y="148193"/>
                  <a:pt x="385207" y="139700"/>
                  <a:pt x="374650" y="139700"/>
                </a:cubicBezTo>
                <a:lnTo>
                  <a:pt x="133350" y="139700"/>
                </a:lnTo>
                <a:close/>
              </a:path>
            </a:pathLst>
          </a:cu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65900" y="1587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Ladegeräte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2500" y="2095500"/>
            <a:ext cx="419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Smartphones, Tablets, E-Autos: AC wird in DC umgewandelt, um Batterien zu laden. Vom USB-Ladegerät bis zur Wallbox.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795000" y="13970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049000" y="1587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400" y="25400"/>
                </a:moveTo>
                <a:cubicBezTo>
                  <a:pt x="11351" y="25400"/>
                  <a:pt x="0" y="36751"/>
                  <a:pt x="0" y="50800"/>
                </a:cubicBezTo>
                <a:lnTo>
                  <a:pt x="0" y="342900"/>
                </a:lnTo>
                <a:cubicBezTo>
                  <a:pt x="0" y="363934"/>
                  <a:pt x="17066" y="381000"/>
                  <a:pt x="38100" y="381000"/>
                </a:cubicBezTo>
                <a:lnTo>
                  <a:pt x="368300" y="381000"/>
                </a:lnTo>
                <a:cubicBezTo>
                  <a:pt x="389334" y="381000"/>
                  <a:pt x="406400" y="363934"/>
                  <a:pt x="406400" y="342900"/>
                </a:cubicBezTo>
                <a:lnTo>
                  <a:pt x="406400" y="120809"/>
                </a:lnTo>
                <a:cubicBezTo>
                  <a:pt x="406400" y="106363"/>
                  <a:pt x="391001" y="97234"/>
                  <a:pt x="378301" y="104061"/>
                </a:cubicBezTo>
                <a:lnTo>
                  <a:pt x="254000" y="170974"/>
                </a:lnTo>
                <a:lnTo>
                  <a:pt x="254000" y="120809"/>
                </a:lnTo>
                <a:cubicBezTo>
                  <a:pt x="254000" y="106363"/>
                  <a:pt x="238601" y="97234"/>
                  <a:pt x="225901" y="104061"/>
                </a:cubicBezTo>
                <a:lnTo>
                  <a:pt x="101600" y="170974"/>
                </a:lnTo>
                <a:lnTo>
                  <a:pt x="101600" y="50800"/>
                </a:lnTo>
                <a:cubicBezTo>
                  <a:pt x="101600" y="36751"/>
                  <a:pt x="90249" y="25400"/>
                  <a:pt x="76200" y="25400"/>
                </a:cubicBezTo>
                <a:lnTo>
                  <a:pt x="25400" y="25400"/>
                </a:lnTo>
                <a:close/>
              </a:path>
            </a:pathLst>
          </a:cu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582400" y="15875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Industrielle DC-Versorgung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049000" y="2095500"/>
            <a:ext cx="419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Umspannwerke, Steuerungen, Schutzrelais: Zuverlässige 24V/48V/110V DC für kritische Infrastruktur und Industrieanlagen.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38735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65200" y="40640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330121" y="167084"/>
                </a:moveTo>
                <a:cubicBezTo>
                  <a:pt x="339804" y="164465"/>
                  <a:pt x="349964" y="169069"/>
                  <a:pt x="354330" y="178038"/>
                </a:cubicBezTo>
                <a:lnTo>
                  <a:pt x="369094" y="207883"/>
                </a:lnTo>
                <a:cubicBezTo>
                  <a:pt x="377269" y="208994"/>
                  <a:pt x="385286" y="211217"/>
                  <a:pt x="392827" y="214313"/>
                </a:cubicBezTo>
                <a:lnTo>
                  <a:pt x="420608" y="195818"/>
                </a:lnTo>
                <a:cubicBezTo>
                  <a:pt x="428943" y="190262"/>
                  <a:pt x="439976" y="191373"/>
                  <a:pt x="447040" y="198438"/>
                </a:cubicBezTo>
                <a:lnTo>
                  <a:pt x="462280" y="213678"/>
                </a:lnTo>
                <a:cubicBezTo>
                  <a:pt x="469344" y="220742"/>
                  <a:pt x="470456" y="231854"/>
                  <a:pt x="464899" y="240109"/>
                </a:cubicBezTo>
                <a:lnTo>
                  <a:pt x="446405" y="267811"/>
                </a:lnTo>
                <a:cubicBezTo>
                  <a:pt x="447913" y="271542"/>
                  <a:pt x="449263" y="275431"/>
                  <a:pt x="450374" y="279479"/>
                </a:cubicBezTo>
                <a:cubicBezTo>
                  <a:pt x="451485" y="283528"/>
                  <a:pt x="452199" y="287496"/>
                  <a:pt x="452755" y="291544"/>
                </a:cubicBezTo>
                <a:lnTo>
                  <a:pt x="482679" y="306308"/>
                </a:lnTo>
                <a:cubicBezTo>
                  <a:pt x="491649" y="310753"/>
                  <a:pt x="496253" y="320913"/>
                  <a:pt x="493633" y="330518"/>
                </a:cubicBezTo>
                <a:lnTo>
                  <a:pt x="488077" y="351314"/>
                </a:lnTo>
                <a:cubicBezTo>
                  <a:pt x="485458" y="360918"/>
                  <a:pt x="476488" y="367427"/>
                  <a:pt x="466487" y="366792"/>
                </a:cubicBezTo>
                <a:lnTo>
                  <a:pt x="433149" y="364649"/>
                </a:lnTo>
                <a:cubicBezTo>
                  <a:pt x="428149" y="371078"/>
                  <a:pt x="422354" y="377031"/>
                  <a:pt x="415766" y="382111"/>
                </a:cubicBezTo>
                <a:lnTo>
                  <a:pt x="417909" y="415369"/>
                </a:lnTo>
                <a:cubicBezTo>
                  <a:pt x="418544" y="425371"/>
                  <a:pt x="412036" y="434419"/>
                  <a:pt x="402431" y="436959"/>
                </a:cubicBezTo>
                <a:lnTo>
                  <a:pt x="381635" y="442516"/>
                </a:lnTo>
                <a:cubicBezTo>
                  <a:pt x="371951" y="445135"/>
                  <a:pt x="361871" y="440531"/>
                  <a:pt x="357426" y="431562"/>
                </a:cubicBezTo>
                <a:lnTo>
                  <a:pt x="342662" y="401717"/>
                </a:lnTo>
                <a:cubicBezTo>
                  <a:pt x="334486" y="400606"/>
                  <a:pt x="326469" y="398383"/>
                  <a:pt x="318929" y="395288"/>
                </a:cubicBezTo>
                <a:lnTo>
                  <a:pt x="291148" y="413782"/>
                </a:lnTo>
                <a:cubicBezTo>
                  <a:pt x="282813" y="419338"/>
                  <a:pt x="271780" y="418227"/>
                  <a:pt x="264716" y="411163"/>
                </a:cubicBezTo>
                <a:lnTo>
                  <a:pt x="249476" y="395923"/>
                </a:lnTo>
                <a:cubicBezTo>
                  <a:pt x="242411" y="388858"/>
                  <a:pt x="241300" y="377825"/>
                  <a:pt x="246856" y="369491"/>
                </a:cubicBezTo>
                <a:lnTo>
                  <a:pt x="265351" y="341709"/>
                </a:lnTo>
                <a:cubicBezTo>
                  <a:pt x="263843" y="337979"/>
                  <a:pt x="262493" y="334089"/>
                  <a:pt x="261382" y="330041"/>
                </a:cubicBezTo>
                <a:cubicBezTo>
                  <a:pt x="260271" y="325993"/>
                  <a:pt x="259556" y="321945"/>
                  <a:pt x="259001" y="317976"/>
                </a:cubicBezTo>
                <a:lnTo>
                  <a:pt x="229076" y="303213"/>
                </a:lnTo>
                <a:cubicBezTo>
                  <a:pt x="220107" y="298768"/>
                  <a:pt x="215583" y="288608"/>
                  <a:pt x="218123" y="279003"/>
                </a:cubicBezTo>
                <a:lnTo>
                  <a:pt x="223679" y="258207"/>
                </a:lnTo>
                <a:cubicBezTo>
                  <a:pt x="226298" y="248602"/>
                  <a:pt x="235268" y="242094"/>
                  <a:pt x="245269" y="242729"/>
                </a:cubicBezTo>
                <a:lnTo>
                  <a:pt x="278527" y="244872"/>
                </a:lnTo>
                <a:cubicBezTo>
                  <a:pt x="283528" y="238442"/>
                  <a:pt x="289322" y="232489"/>
                  <a:pt x="295910" y="227409"/>
                </a:cubicBezTo>
                <a:lnTo>
                  <a:pt x="293767" y="194231"/>
                </a:lnTo>
                <a:cubicBezTo>
                  <a:pt x="293132" y="184229"/>
                  <a:pt x="299641" y="175181"/>
                  <a:pt x="309245" y="172641"/>
                </a:cubicBezTo>
                <a:lnTo>
                  <a:pt x="330041" y="167084"/>
                </a:lnTo>
                <a:close/>
                <a:moveTo>
                  <a:pt x="355918" y="269875"/>
                </a:moveTo>
                <a:cubicBezTo>
                  <a:pt x="336642" y="269897"/>
                  <a:pt x="321010" y="285564"/>
                  <a:pt x="321032" y="304840"/>
                </a:cubicBezTo>
                <a:cubicBezTo>
                  <a:pt x="321054" y="324115"/>
                  <a:pt x="336721" y="339747"/>
                  <a:pt x="355997" y="339725"/>
                </a:cubicBezTo>
                <a:cubicBezTo>
                  <a:pt x="375273" y="339703"/>
                  <a:pt x="390904" y="324036"/>
                  <a:pt x="390882" y="304760"/>
                </a:cubicBezTo>
                <a:cubicBezTo>
                  <a:pt x="390860" y="285485"/>
                  <a:pt x="375193" y="269853"/>
                  <a:pt x="355918" y="269875"/>
                </a:cubicBezTo>
                <a:close/>
                <a:moveTo>
                  <a:pt x="178514" y="-36116"/>
                </a:moveTo>
                <a:lnTo>
                  <a:pt x="199311" y="-30559"/>
                </a:lnTo>
                <a:cubicBezTo>
                  <a:pt x="208915" y="-27940"/>
                  <a:pt x="215424" y="-18891"/>
                  <a:pt x="214789" y="-8969"/>
                </a:cubicBezTo>
                <a:lnTo>
                  <a:pt x="212646" y="24209"/>
                </a:lnTo>
                <a:cubicBezTo>
                  <a:pt x="219234" y="29289"/>
                  <a:pt x="225028" y="35163"/>
                  <a:pt x="230029" y="41672"/>
                </a:cubicBezTo>
                <a:lnTo>
                  <a:pt x="263366" y="39529"/>
                </a:lnTo>
                <a:cubicBezTo>
                  <a:pt x="273288" y="38894"/>
                  <a:pt x="282337" y="45403"/>
                  <a:pt x="284956" y="55007"/>
                </a:cubicBezTo>
                <a:lnTo>
                  <a:pt x="290513" y="75803"/>
                </a:lnTo>
                <a:cubicBezTo>
                  <a:pt x="293053" y="85408"/>
                  <a:pt x="288528" y="95568"/>
                  <a:pt x="279559" y="100013"/>
                </a:cubicBezTo>
                <a:lnTo>
                  <a:pt x="249634" y="114776"/>
                </a:lnTo>
                <a:cubicBezTo>
                  <a:pt x="249079" y="118824"/>
                  <a:pt x="248285" y="122873"/>
                  <a:pt x="247253" y="126841"/>
                </a:cubicBezTo>
                <a:cubicBezTo>
                  <a:pt x="246221" y="130810"/>
                  <a:pt x="244793" y="134779"/>
                  <a:pt x="243284" y="138509"/>
                </a:cubicBezTo>
                <a:lnTo>
                  <a:pt x="261779" y="166291"/>
                </a:lnTo>
                <a:cubicBezTo>
                  <a:pt x="267335" y="174625"/>
                  <a:pt x="266224" y="185658"/>
                  <a:pt x="259159" y="192722"/>
                </a:cubicBezTo>
                <a:lnTo>
                  <a:pt x="243919" y="207963"/>
                </a:lnTo>
                <a:cubicBezTo>
                  <a:pt x="236855" y="215027"/>
                  <a:pt x="225822" y="216138"/>
                  <a:pt x="217488" y="210582"/>
                </a:cubicBezTo>
                <a:lnTo>
                  <a:pt x="189706" y="192088"/>
                </a:lnTo>
                <a:cubicBezTo>
                  <a:pt x="182166" y="195183"/>
                  <a:pt x="174149" y="197406"/>
                  <a:pt x="165973" y="198517"/>
                </a:cubicBezTo>
                <a:lnTo>
                  <a:pt x="151209" y="228362"/>
                </a:lnTo>
                <a:cubicBezTo>
                  <a:pt x="146764" y="237331"/>
                  <a:pt x="136604" y="241856"/>
                  <a:pt x="127000" y="239316"/>
                </a:cubicBezTo>
                <a:lnTo>
                  <a:pt x="106204" y="233759"/>
                </a:lnTo>
                <a:cubicBezTo>
                  <a:pt x="96520" y="231140"/>
                  <a:pt x="90091" y="222091"/>
                  <a:pt x="90726" y="212169"/>
                </a:cubicBezTo>
                <a:lnTo>
                  <a:pt x="92869" y="178911"/>
                </a:lnTo>
                <a:cubicBezTo>
                  <a:pt x="86281" y="173831"/>
                  <a:pt x="80486" y="167958"/>
                  <a:pt x="75486" y="161449"/>
                </a:cubicBezTo>
                <a:lnTo>
                  <a:pt x="42148" y="163592"/>
                </a:lnTo>
                <a:cubicBezTo>
                  <a:pt x="32226" y="164227"/>
                  <a:pt x="23178" y="157718"/>
                  <a:pt x="20558" y="148114"/>
                </a:cubicBezTo>
                <a:lnTo>
                  <a:pt x="15002" y="127318"/>
                </a:lnTo>
                <a:cubicBezTo>
                  <a:pt x="12462" y="117713"/>
                  <a:pt x="16986" y="107553"/>
                  <a:pt x="25956" y="103108"/>
                </a:cubicBezTo>
                <a:lnTo>
                  <a:pt x="55880" y="88344"/>
                </a:lnTo>
                <a:cubicBezTo>
                  <a:pt x="56436" y="84296"/>
                  <a:pt x="57229" y="80328"/>
                  <a:pt x="58261" y="76279"/>
                </a:cubicBezTo>
                <a:cubicBezTo>
                  <a:pt x="59373" y="72231"/>
                  <a:pt x="60643" y="68342"/>
                  <a:pt x="62230" y="64611"/>
                </a:cubicBezTo>
                <a:lnTo>
                  <a:pt x="43736" y="36909"/>
                </a:lnTo>
                <a:cubicBezTo>
                  <a:pt x="38179" y="28575"/>
                  <a:pt x="39291" y="17542"/>
                  <a:pt x="46355" y="10478"/>
                </a:cubicBezTo>
                <a:lnTo>
                  <a:pt x="61595" y="-4762"/>
                </a:lnTo>
                <a:cubicBezTo>
                  <a:pt x="68659" y="-11827"/>
                  <a:pt x="79693" y="-12938"/>
                  <a:pt x="88027" y="-7382"/>
                </a:cubicBezTo>
                <a:lnTo>
                  <a:pt x="115808" y="11113"/>
                </a:lnTo>
                <a:cubicBezTo>
                  <a:pt x="123349" y="8017"/>
                  <a:pt x="131366" y="5794"/>
                  <a:pt x="139541" y="4683"/>
                </a:cubicBezTo>
                <a:lnTo>
                  <a:pt x="154305" y="-25162"/>
                </a:lnTo>
                <a:cubicBezTo>
                  <a:pt x="158750" y="-34131"/>
                  <a:pt x="168831" y="-38656"/>
                  <a:pt x="178514" y="-36116"/>
                </a:cubicBezTo>
                <a:close/>
                <a:moveTo>
                  <a:pt x="152718" y="66675"/>
                </a:moveTo>
                <a:cubicBezTo>
                  <a:pt x="133442" y="66675"/>
                  <a:pt x="117793" y="82324"/>
                  <a:pt x="117793" y="101600"/>
                </a:cubicBezTo>
                <a:cubicBezTo>
                  <a:pt x="117793" y="120876"/>
                  <a:pt x="133442" y="136525"/>
                  <a:pt x="152718" y="136525"/>
                </a:cubicBezTo>
                <a:cubicBezTo>
                  <a:pt x="171993" y="136525"/>
                  <a:pt x="187643" y="120876"/>
                  <a:pt x="187643" y="101600"/>
                </a:cubicBezTo>
                <a:cubicBezTo>
                  <a:pt x="187643" y="82324"/>
                  <a:pt x="171993" y="66675"/>
                  <a:pt x="152718" y="66675"/>
                </a:cubicBezTo>
                <a:close/>
              </a:path>
            </a:pathLst>
          </a:cu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49400" y="4064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Antriebstechnik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6000" y="4572000"/>
            <a:ext cx="419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Gleichstrommotoren in Förderbändern, Aufzügen, Werkzeugmaschinen. Präzise Drehzahlsteuerung durch variable DC-Spannung.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78500" y="38735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07100" y="40640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96679" y="25400"/>
                </a:moveTo>
                <a:cubicBezTo>
                  <a:pt x="72866" y="25400"/>
                  <a:pt x="52229" y="41910"/>
                  <a:pt x="47069" y="65167"/>
                </a:cubicBezTo>
                <a:lnTo>
                  <a:pt x="7620" y="242967"/>
                </a:lnTo>
                <a:cubicBezTo>
                  <a:pt x="556" y="274717"/>
                  <a:pt x="24686" y="304800"/>
                  <a:pt x="57150" y="304800"/>
                </a:cubicBezTo>
                <a:lnTo>
                  <a:pt x="203279" y="304800"/>
                </a:lnTo>
                <a:lnTo>
                  <a:pt x="203279" y="355600"/>
                </a:lnTo>
                <a:lnTo>
                  <a:pt x="152479" y="355600"/>
                </a:lnTo>
                <a:cubicBezTo>
                  <a:pt x="138430" y="355600"/>
                  <a:pt x="127079" y="366951"/>
                  <a:pt x="127079" y="381000"/>
                </a:cubicBezTo>
                <a:cubicBezTo>
                  <a:pt x="127079" y="395049"/>
                  <a:pt x="138430" y="406400"/>
                  <a:pt x="152479" y="406400"/>
                </a:cubicBezTo>
                <a:lnTo>
                  <a:pt x="304879" y="406400"/>
                </a:lnTo>
                <a:cubicBezTo>
                  <a:pt x="318929" y="406400"/>
                  <a:pt x="330279" y="395049"/>
                  <a:pt x="330279" y="381000"/>
                </a:cubicBezTo>
                <a:cubicBezTo>
                  <a:pt x="330279" y="366951"/>
                  <a:pt x="318929" y="355600"/>
                  <a:pt x="304879" y="355600"/>
                </a:cubicBezTo>
                <a:lnTo>
                  <a:pt x="254079" y="355600"/>
                </a:lnTo>
                <a:lnTo>
                  <a:pt x="254079" y="304800"/>
                </a:lnTo>
                <a:lnTo>
                  <a:pt x="400209" y="304800"/>
                </a:lnTo>
                <a:cubicBezTo>
                  <a:pt x="432673" y="304800"/>
                  <a:pt x="456883" y="274717"/>
                  <a:pt x="449818" y="242967"/>
                </a:cubicBezTo>
                <a:lnTo>
                  <a:pt x="410289" y="65167"/>
                </a:lnTo>
                <a:cubicBezTo>
                  <a:pt x="405130" y="41910"/>
                  <a:pt x="384572" y="25400"/>
                  <a:pt x="360759" y="25400"/>
                </a:cubicBezTo>
                <a:lnTo>
                  <a:pt x="96679" y="25400"/>
                </a:lnTo>
                <a:close/>
                <a:moveTo>
                  <a:pt x="194945" y="76200"/>
                </a:moveTo>
                <a:lnTo>
                  <a:pt x="262573" y="76200"/>
                </a:lnTo>
                <a:lnTo>
                  <a:pt x="268367" y="146050"/>
                </a:lnTo>
                <a:lnTo>
                  <a:pt x="189151" y="146050"/>
                </a:lnTo>
                <a:lnTo>
                  <a:pt x="194945" y="76200"/>
                </a:lnTo>
                <a:close/>
                <a:moveTo>
                  <a:pt x="150892" y="146050"/>
                </a:moveTo>
                <a:lnTo>
                  <a:pt x="81201" y="146050"/>
                </a:lnTo>
                <a:lnTo>
                  <a:pt x="96758" y="76200"/>
                </a:lnTo>
                <a:lnTo>
                  <a:pt x="156766" y="76200"/>
                </a:lnTo>
                <a:lnTo>
                  <a:pt x="150971" y="146050"/>
                </a:lnTo>
                <a:close/>
                <a:moveTo>
                  <a:pt x="72708" y="184150"/>
                </a:moveTo>
                <a:lnTo>
                  <a:pt x="147717" y="184150"/>
                </a:lnTo>
                <a:lnTo>
                  <a:pt x="141922" y="254000"/>
                </a:lnTo>
                <a:lnTo>
                  <a:pt x="57229" y="254000"/>
                </a:lnTo>
                <a:lnTo>
                  <a:pt x="72787" y="184150"/>
                </a:lnTo>
                <a:close/>
                <a:moveTo>
                  <a:pt x="185896" y="184150"/>
                </a:moveTo>
                <a:lnTo>
                  <a:pt x="271463" y="184150"/>
                </a:lnTo>
                <a:lnTo>
                  <a:pt x="277257" y="254000"/>
                </a:lnTo>
                <a:lnTo>
                  <a:pt x="180023" y="254000"/>
                </a:lnTo>
                <a:lnTo>
                  <a:pt x="185817" y="184150"/>
                </a:lnTo>
                <a:close/>
                <a:moveTo>
                  <a:pt x="309721" y="184150"/>
                </a:moveTo>
                <a:lnTo>
                  <a:pt x="384731" y="184150"/>
                </a:lnTo>
                <a:lnTo>
                  <a:pt x="400288" y="254000"/>
                </a:lnTo>
                <a:lnTo>
                  <a:pt x="315595" y="254000"/>
                </a:lnTo>
                <a:lnTo>
                  <a:pt x="309801" y="184150"/>
                </a:lnTo>
                <a:close/>
                <a:moveTo>
                  <a:pt x="376238" y="146050"/>
                </a:moveTo>
                <a:lnTo>
                  <a:pt x="306546" y="146050"/>
                </a:lnTo>
                <a:lnTo>
                  <a:pt x="300752" y="76200"/>
                </a:lnTo>
                <a:lnTo>
                  <a:pt x="360759" y="76200"/>
                </a:lnTo>
                <a:lnTo>
                  <a:pt x="376317" y="146050"/>
                </a:lnTo>
                <a:close/>
              </a:path>
            </a:pathLst>
          </a:custGeom>
          <a:solidFill>
            <a:srgbClr val="DD6B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65900" y="4064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Erneuerbare Energien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32500" y="4572000"/>
            <a:ext cx="41910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Photovoltaik-Wechselrichter arbeiten mit Gleichrichtern. DC-Wechselrichter für die Netzeinspeisung erfordern Gleichrichter-Technologie.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795000" y="3873500"/>
            <a:ext cx="4699000" cy="215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023600" y="40640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47308" y="7779"/>
                </a:moveTo>
                <a:cubicBezTo>
                  <a:pt x="37544" y="3810"/>
                  <a:pt x="26432" y="8493"/>
                  <a:pt x="22543" y="18256"/>
                </a:cubicBezTo>
                <a:cubicBezTo>
                  <a:pt x="12065" y="44053"/>
                  <a:pt x="6350" y="72152"/>
                  <a:pt x="6350" y="101600"/>
                </a:cubicBezTo>
                <a:cubicBezTo>
                  <a:pt x="6350" y="131048"/>
                  <a:pt x="12065" y="159147"/>
                  <a:pt x="22543" y="184944"/>
                </a:cubicBezTo>
                <a:cubicBezTo>
                  <a:pt x="26511" y="194707"/>
                  <a:pt x="37624" y="199390"/>
                  <a:pt x="47387" y="195421"/>
                </a:cubicBezTo>
                <a:cubicBezTo>
                  <a:pt x="57150" y="191452"/>
                  <a:pt x="61833" y="180340"/>
                  <a:pt x="57864" y="170577"/>
                </a:cubicBezTo>
                <a:cubicBezTo>
                  <a:pt x="49213" y="149384"/>
                  <a:pt x="44450" y="126048"/>
                  <a:pt x="44450" y="101600"/>
                </a:cubicBezTo>
                <a:cubicBezTo>
                  <a:pt x="44450" y="77152"/>
                  <a:pt x="49213" y="53816"/>
                  <a:pt x="57864" y="32544"/>
                </a:cubicBezTo>
                <a:cubicBezTo>
                  <a:pt x="61833" y="22781"/>
                  <a:pt x="57071" y="11668"/>
                  <a:pt x="47387" y="7699"/>
                </a:cubicBezTo>
                <a:close/>
                <a:moveTo>
                  <a:pt x="409892" y="7779"/>
                </a:moveTo>
                <a:cubicBezTo>
                  <a:pt x="400129" y="11748"/>
                  <a:pt x="395446" y="22860"/>
                  <a:pt x="399415" y="32623"/>
                </a:cubicBezTo>
                <a:cubicBezTo>
                  <a:pt x="408067" y="53896"/>
                  <a:pt x="412829" y="77232"/>
                  <a:pt x="412829" y="101679"/>
                </a:cubicBezTo>
                <a:cubicBezTo>
                  <a:pt x="412829" y="126127"/>
                  <a:pt x="408067" y="149463"/>
                  <a:pt x="399415" y="170736"/>
                </a:cubicBezTo>
                <a:cubicBezTo>
                  <a:pt x="395446" y="180499"/>
                  <a:pt x="400209" y="191611"/>
                  <a:pt x="409893" y="195580"/>
                </a:cubicBezTo>
                <a:cubicBezTo>
                  <a:pt x="419576" y="199549"/>
                  <a:pt x="430768" y="194786"/>
                  <a:pt x="434737" y="185103"/>
                </a:cubicBezTo>
                <a:cubicBezTo>
                  <a:pt x="445135" y="159306"/>
                  <a:pt x="450929" y="131207"/>
                  <a:pt x="450929" y="101759"/>
                </a:cubicBezTo>
                <a:cubicBezTo>
                  <a:pt x="450929" y="72311"/>
                  <a:pt x="445214" y="44212"/>
                  <a:pt x="434737" y="18415"/>
                </a:cubicBezTo>
                <a:cubicBezTo>
                  <a:pt x="430768" y="8652"/>
                  <a:pt x="419656" y="3969"/>
                  <a:pt x="409893" y="7938"/>
                </a:cubicBezTo>
                <a:close/>
                <a:moveTo>
                  <a:pt x="269954" y="131128"/>
                </a:moveTo>
                <a:cubicBezTo>
                  <a:pt x="275908" y="122793"/>
                  <a:pt x="279400" y="112633"/>
                  <a:pt x="279400" y="101600"/>
                </a:cubicBezTo>
                <a:cubicBezTo>
                  <a:pt x="279400" y="73581"/>
                  <a:pt x="256619" y="50800"/>
                  <a:pt x="228600" y="50800"/>
                </a:cubicBezTo>
                <a:cubicBezTo>
                  <a:pt x="200581" y="50800"/>
                  <a:pt x="177800" y="73581"/>
                  <a:pt x="177800" y="101600"/>
                </a:cubicBezTo>
                <a:cubicBezTo>
                  <a:pt x="177800" y="112633"/>
                  <a:pt x="181293" y="122793"/>
                  <a:pt x="187246" y="131128"/>
                </a:cubicBezTo>
                <a:lnTo>
                  <a:pt x="78502" y="370523"/>
                </a:lnTo>
                <a:cubicBezTo>
                  <a:pt x="72708" y="383302"/>
                  <a:pt x="78343" y="398383"/>
                  <a:pt x="91123" y="404178"/>
                </a:cubicBezTo>
                <a:cubicBezTo>
                  <a:pt x="103902" y="409972"/>
                  <a:pt x="118983" y="404336"/>
                  <a:pt x="124778" y="391557"/>
                </a:cubicBezTo>
                <a:lnTo>
                  <a:pt x="141129" y="355679"/>
                </a:lnTo>
                <a:lnTo>
                  <a:pt x="316230" y="355679"/>
                </a:lnTo>
                <a:lnTo>
                  <a:pt x="332581" y="391557"/>
                </a:lnTo>
                <a:cubicBezTo>
                  <a:pt x="338376" y="404336"/>
                  <a:pt x="353457" y="409972"/>
                  <a:pt x="366236" y="404178"/>
                </a:cubicBezTo>
                <a:cubicBezTo>
                  <a:pt x="379016" y="398383"/>
                  <a:pt x="384651" y="383302"/>
                  <a:pt x="378857" y="370523"/>
                </a:cubicBezTo>
                <a:lnTo>
                  <a:pt x="269954" y="131128"/>
                </a:lnTo>
                <a:close/>
                <a:moveTo>
                  <a:pt x="298847" y="317500"/>
                </a:moveTo>
                <a:lnTo>
                  <a:pt x="158353" y="317500"/>
                </a:lnTo>
                <a:lnTo>
                  <a:pt x="175657" y="279400"/>
                </a:lnTo>
                <a:lnTo>
                  <a:pt x="281464" y="279400"/>
                </a:lnTo>
                <a:lnTo>
                  <a:pt x="298768" y="317500"/>
                </a:lnTo>
                <a:close/>
                <a:moveTo>
                  <a:pt x="228600" y="162957"/>
                </a:moveTo>
                <a:lnTo>
                  <a:pt x="264160" y="241300"/>
                </a:lnTo>
                <a:lnTo>
                  <a:pt x="192961" y="241300"/>
                </a:lnTo>
                <a:lnTo>
                  <a:pt x="228521" y="162957"/>
                </a:lnTo>
                <a:close/>
                <a:moveTo>
                  <a:pt x="129619" y="58420"/>
                </a:moveTo>
                <a:cubicBezTo>
                  <a:pt x="133826" y="48816"/>
                  <a:pt x="129461" y="37544"/>
                  <a:pt x="119777" y="33337"/>
                </a:cubicBezTo>
                <a:cubicBezTo>
                  <a:pt x="110093" y="29131"/>
                  <a:pt x="98901" y="33496"/>
                  <a:pt x="94694" y="43180"/>
                </a:cubicBezTo>
                <a:cubicBezTo>
                  <a:pt x="86916" y="61119"/>
                  <a:pt x="82550" y="80883"/>
                  <a:pt x="82550" y="101600"/>
                </a:cubicBezTo>
                <a:cubicBezTo>
                  <a:pt x="82550" y="122317"/>
                  <a:pt x="86916" y="142081"/>
                  <a:pt x="94694" y="160020"/>
                </a:cubicBezTo>
                <a:cubicBezTo>
                  <a:pt x="98901" y="169624"/>
                  <a:pt x="110173" y="174069"/>
                  <a:pt x="119777" y="169863"/>
                </a:cubicBezTo>
                <a:cubicBezTo>
                  <a:pt x="129381" y="165656"/>
                  <a:pt x="133826" y="154384"/>
                  <a:pt x="129619" y="144780"/>
                </a:cubicBezTo>
                <a:cubicBezTo>
                  <a:pt x="123825" y="131604"/>
                  <a:pt x="120650" y="116999"/>
                  <a:pt x="120650" y="101600"/>
                </a:cubicBezTo>
                <a:cubicBezTo>
                  <a:pt x="120650" y="86201"/>
                  <a:pt x="123825" y="71596"/>
                  <a:pt x="129619" y="58420"/>
                </a:cubicBezTo>
                <a:close/>
                <a:moveTo>
                  <a:pt x="362506" y="43180"/>
                </a:moveTo>
                <a:cubicBezTo>
                  <a:pt x="358299" y="33576"/>
                  <a:pt x="347028" y="29131"/>
                  <a:pt x="337423" y="33338"/>
                </a:cubicBezTo>
                <a:cubicBezTo>
                  <a:pt x="327819" y="37544"/>
                  <a:pt x="323374" y="48816"/>
                  <a:pt x="327581" y="58420"/>
                </a:cubicBezTo>
                <a:cubicBezTo>
                  <a:pt x="333375" y="71596"/>
                  <a:pt x="336550" y="86201"/>
                  <a:pt x="336550" y="101600"/>
                </a:cubicBezTo>
                <a:cubicBezTo>
                  <a:pt x="336550" y="116999"/>
                  <a:pt x="333375" y="131604"/>
                  <a:pt x="327581" y="144780"/>
                </a:cubicBezTo>
                <a:cubicBezTo>
                  <a:pt x="323374" y="154384"/>
                  <a:pt x="327739" y="165656"/>
                  <a:pt x="337423" y="169863"/>
                </a:cubicBezTo>
                <a:cubicBezTo>
                  <a:pt x="347107" y="174069"/>
                  <a:pt x="358299" y="169704"/>
                  <a:pt x="362506" y="160020"/>
                </a:cubicBezTo>
                <a:cubicBezTo>
                  <a:pt x="370284" y="142081"/>
                  <a:pt x="374650" y="122317"/>
                  <a:pt x="374650" y="101600"/>
                </a:cubicBezTo>
                <a:cubicBezTo>
                  <a:pt x="374650" y="80883"/>
                  <a:pt x="370284" y="61119"/>
                  <a:pt x="362506" y="43180"/>
                </a:cubicBezTo>
                <a:close/>
              </a:path>
            </a:pathLst>
          </a:custGeom>
          <a:solidFill>
            <a:srgbClr val="31979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582400" y="4064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Telekommunikation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049000" y="4572000"/>
            <a:ext cx="4191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Basisstationen, Server, Rechenzentren: Stabile DC-Versorgung für 24/7-Betrieb. Redundante Gleichrichter-Systeme.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6413500"/>
            <a:ext cx="14732000" cy="1016000"/>
          </a:xfrm>
          <a:prstGeom prst="rect">
            <a:avLst/>
          </a:prstGeom>
          <a:solidFill>
            <a:srgbClr val="3A3A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111250" y="6604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508397" y="238125"/>
                </a:moveTo>
                <a:lnTo>
                  <a:pt x="333772" y="238125"/>
                </a:lnTo>
                <a:cubicBezTo>
                  <a:pt x="316210" y="238125"/>
                  <a:pt x="302022" y="223937"/>
                  <a:pt x="302022" y="206375"/>
                </a:cubicBezTo>
                <a:lnTo>
                  <a:pt x="302022" y="31750"/>
                </a:lnTo>
                <a:cubicBezTo>
                  <a:pt x="302022" y="14188"/>
                  <a:pt x="316309" y="-198"/>
                  <a:pt x="333673" y="2084"/>
                </a:cubicBezTo>
                <a:cubicBezTo>
                  <a:pt x="439837" y="16173"/>
                  <a:pt x="523974" y="100310"/>
                  <a:pt x="538063" y="206474"/>
                </a:cubicBezTo>
                <a:cubicBezTo>
                  <a:pt x="540345" y="223838"/>
                  <a:pt x="525959" y="238125"/>
                  <a:pt x="508397" y="238125"/>
                </a:cubicBezTo>
                <a:close/>
                <a:moveTo>
                  <a:pt x="220861" y="36909"/>
                </a:moveTo>
                <a:cubicBezTo>
                  <a:pt x="238820" y="33139"/>
                  <a:pt x="254397" y="47823"/>
                  <a:pt x="254397" y="66179"/>
                </a:cubicBezTo>
                <a:lnTo>
                  <a:pt x="254397" y="261937"/>
                </a:lnTo>
                <a:cubicBezTo>
                  <a:pt x="254397" y="267494"/>
                  <a:pt x="256381" y="272852"/>
                  <a:pt x="259854" y="277118"/>
                </a:cubicBezTo>
                <a:lnTo>
                  <a:pt x="390922" y="435273"/>
                </a:lnTo>
                <a:cubicBezTo>
                  <a:pt x="402530" y="449263"/>
                  <a:pt x="400050" y="470396"/>
                  <a:pt x="384076" y="479028"/>
                </a:cubicBezTo>
                <a:cubicBezTo>
                  <a:pt x="350242" y="497483"/>
                  <a:pt x="311448" y="508000"/>
                  <a:pt x="270272" y="508000"/>
                </a:cubicBezTo>
                <a:cubicBezTo>
                  <a:pt x="138807" y="508000"/>
                  <a:pt x="32147" y="401340"/>
                  <a:pt x="32147" y="269875"/>
                </a:cubicBezTo>
                <a:cubicBezTo>
                  <a:pt x="32147" y="155277"/>
                  <a:pt x="113010" y="59630"/>
                  <a:pt x="220861" y="36909"/>
                </a:cubicBezTo>
                <a:close/>
                <a:moveTo>
                  <a:pt x="474067" y="285750"/>
                </a:moveTo>
                <a:lnTo>
                  <a:pt x="537567" y="285750"/>
                </a:lnTo>
                <a:cubicBezTo>
                  <a:pt x="555923" y="285750"/>
                  <a:pt x="570607" y="301327"/>
                  <a:pt x="566837" y="319286"/>
                </a:cubicBezTo>
                <a:cubicBezTo>
                  <a:pt x="556716" y="367308"/>
                  <a:pt x="532110" y="409972"/>
                  <a:pt x="497780" y="442516"/>
                </a:cubicBezTo>
                <a:cubicBezTo>
                  <a:pt x="485577" y="454124"/>
                  <a:pt x="466427" y="451644"/>
                  <a:pt x="455712" y="438646"/>
                </a:cubicBezTo>
                <a:lnTo>
                  <a:pt x="371971" y="337741"/>
                </a:lnTo>
                <a:cubicBezTo>
                  <a:pt x="354806" y="317004"/>
                  <a:pt x="369590" y="285750"/>
                  <a:pt x="396379" y="285750"/>
                </a:cubicBezTo>
                <a:lnTo>
                  <a:pt x="473968" y="285750"/>
                </a:lnTo>
                <a:close/>
              </a:path>
            </a:pathLst>
          </a:cu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905000" y="6540500"/>
            <a:ext cx="1333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Über 95%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aller Gleichrichter sind </a:t>
            </a: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ungesteuerte Diodengleichrichter</a:t>
            </a:r>
            <a:r>
              <a:rPr lang="en-US" sz="16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Sie sind das Rückgrat unserer elektronischen Infrastruktur - vom kleinsten USB-Ladegerät bis zum industriellen DC-Versorgungssystem mit 500A Ausgangsstrom.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381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5080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Zusammenfassung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117600"/>
            <a:ext cx="14732000" cy="25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1460500"/>
            <a:ext cx="7048500" cy="1206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1460500"/>
            <a:ext cx="50800" cy="11430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38225" y="17780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235307" y="-6876"/>
                </a:moveTo>
                <a:cubicBezTo>
                  <a:pt x="243572" y="-903"/>
                  <a:pt x="246628" y="9932"/>
                  <a:pt x="242878" y="19377"/>
                </a:cubicBezTo>
                <a:lnTo>
                  <a:pt x="188426" y="155575"/>
                </a:lnTo>
                <a:lnTo>
                  <a:pt x="288925" y="155575"/>
                </a:lnTo>
                <a:cubicBezTo>
                  <a:pt x="298301" y="155575"/>
                  <a:pt x="306636" y="161409"/>
                  <a:pt x="309830" y="170230"/>
                </a:cubicBezTo>
                <a:cubicBezTo>
                  <a:pt x="313025" y="179050"/>
                  <a:pt x="310317" y="188913"/>
                  <a:pt x="303163" y="194885"/>
                </a:cubicBezTo>
                <a:lnTo>
                  <a:pt x="103138" y="361573"/>
                </a:lnTo>
                <a:cubicBezTo>
                  <a:pt x="95290" y="368102"/>
                  <a:pt x="84108" y="368449"/>
                  <a:pt x="75843" y="362476"/>
                </a:cubicBezTo>
                <a:cubicBezTo>
                  <a:pt x="67578" y="356503"/>
                  <a:pt x="64522" y="345668"/>
                  <a:pt x="68272" y="336223"/>
                </a:cubicBezTo>
                <a:lnTo>
                  <a:pt x="122724" y="200025"/>
                </a:lnTo>
                <a:lnTo>
                  <a:pt x="22225" y="200025"/>
                </a:lnTo>
                <a:cubicBezTo>
                  <a:pt x="12849" y="200025"/>
                  <a:pt x="4514" y="194191"/>
                  <a:pt x="1320" y="185370"/>
                </a:cubicBezTo>
                <a:cubicBezTo>
                  <a:pt x="-1875" y="176550"/>
                  <a:pt x="833" y="166688"/>
                  <a:pt x="7987" y="160715"/>
                </a:cubicBezTo>
                <a:lnTo>
                  <a:pt x="208012" y="-5973"/>
                </a:lnTo>
                <a:cubicBezTo>
                  <a:pt x="215860" y="-12502"/>
                  <a:pt x="227042" y="-12849"/>
                  <a:pt x="235307" y="-6876"/>
                </a:cubicBezTo>
                <a:close/>
              </a:path>
            </a:pathLst>
          </a:cu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524000" y="1549400"/>
            <a:ext cx="6096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Grundfunktion:</a:t>
            </a:r>
            <a:r>
              <a:rPr lang="en-US" sz="15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Der Gleichrichter wandelt Wechselstrom (AC) in Gleichstrom (DC) um - die Grundvoraussetzung für fast alle elektronischen Geräte.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45500" y="1460500"/>
            <a:ext cx="7048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445500" y="1460500"/>
            <a:ext cx="50800" cy="114300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69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55563"/>
                </a:moveTo>
                <a:cubicBezTo>
                  <a:pt x="0" y="37157"/>
                  <a:pt x="14932" y="22225"/>
                  <a:pt x="33337" y="22225"/>
                </a:cubicBezTo>
                <a:lnTo>
                  <a:pt x="100013" y="22225"/>
                </a:lnTo>
                <a:cubicBezTo>
                  <a:pt x="118418" y="22225"/>
                  <a:pt x="133350" y="37157"/>
                  <a:pt x="133350" y="55563"/>
                </a:cubicBezTo>
                <a:lnTo>
                  <a:pt x="133350" y="66675"/>
                </a:lnTo>
                <a:lnTo>
                  <a:pt x="222250" y="66675"/>
                </a:lnTo>
                <a:lnTo>
                  <a:pt x="222250" y="55563"/>
                </a:lnTo>
                <a:cubicBezTo>
                  <a:pt x="222250" y="37157"/>
                  <a:pt x="237182" y="22225"/>
                  <a:pt x="255587" y="22225"/>
                </a:cubicBezTo>
                <a:lnTo>
                  <a:pt x="322263" y="22225"/>
                </a:lnTo>
                <a:cubicBezTo>
                  <a:pt x="340668" y="22225"/>
                  <a:pt x="355600" y="37157"/>
                  <a:pt x="355600" y="55563"/>
                </a:cubicBezTo>
                <a:lnTo>
                  <a:pt x="355600" y="122238"/>
                </a:lnTo>
                <a:cubicBezTo>
                  <a:pt x="355600" y="140643"/>
                  <a:pt x="340668" y="155575"/>
                  <a:pt x="322263" y="155575"/>
                </a:cubicBezTo>
                <a:lnTo>
                  <a:pt x="255587" y="155575"/>
                </a:lnTo>
                <a:cubicBezTo>
                  <a:pt x="237182" y="155575"/>
                  <a:pt x="222250" y="140643"/>
                  <a:pt x="222250" y="122238"/>
                </a:cubicBezTo>
                <a:lnTo>
                  <a:pt x="222250" y="111125"/>
                </a:lnTo>
                <a:lnTo>
                  <a:pt x="133350" y="111125"/>
                </a:lnTo>
                <a:lnTo>
                  <a:pt x="133350" y="122238"/>
                </a:lnTo>
                <a:cubicBezTo>
                  <a:pt x="133350" y="127308"/>
                  <a:pt x="132169" y="132169"/>
                  <a:pt x="130155" y="136475"/>
                </a:cubicBezTo>
                <a:lnTo>
                  <a:pt x="177800" y="200025"/>
                </a:lnTo>
                <a:lnTo>
                  <a:pt x="233363" y="200025"/>
                </a:lnTo>
                <a:cubicBezTo>
                  <a:pt x="251768" y="200025"/>
                  <a:pt x="266700" y="214957"/>
                  <a:pt x="266700" y="233363"/>
                </a:cubicBezTo>
                <a:lnTo>
                  <a:pt x="266700" y="300038"/>
                </a:lnTo>
                <a:cubicBezTo>
                  <a:pt x="266700" y="318443"/>
                  <a:pt x="251768" y="333375"/>
                  <a:pt x="233363" y="333375"/>
                </a:cubicBezTo>
                <a:lnTo>
                  <a:pt x="166688" y="333375"/>
                </a:lnTo>
                <a:cubicBezTo>
                  <a:pt x="148282" y="333375"/>
                  <a:pt x="133350" y="318443"/>
                  <a:pt x="133350" y="300038"/>
                </a:cubicBezTo>
                <a:lnTo>
                  <a:pt x="133350" y="233363"/>
                </a:lnTo>
                <a:cubicBezTo>
                  <a:pt x="133350" y="228292"/>
                  <a:pt x="134531" y="223431"/>
                  <a:pt x="136545" y="219125"/>
                </a:cubicBezTo>
                <a:lnTo>
                  <a:pt x="88900" y="155575"/>
                </a:lnTo>
                <a:lnTo>
                  <a:pt x="33337" y="155575"/>
                </a:lnTo>
                <a:cubicBezTo>
                  <a:pt x="14932" y="155575"/>
                  <a:pt x="0" y="140643"/>
                  <a:pt x="0" y="122238"/>
                </a:cubicBezTo>
                <a:lnTo>
                  <a:pt x="0" y="55563"/>
                </a:lnTo>
                <a:close/>
              </a:path>
            </a:pathLst>
          </a:custGeom>
          <a:solidFill>
            <a:srgbClr val="3182C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500" y="1587500"/>
            <a:ext cx="609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Schaltungen: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Einweggleichrichter (1 Diode, 40% Wirkgrad) vs. Brückengleichrichter (4 Dioden, 81% Wirkgrad).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2857500"/>
            <a:ext cx="7048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2857500"/>
            <a:ext cx="50800" cy="11430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16000" y="3175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22238" y="16669"/>
                </a:moveTo>
                <a:cubicBezTo>
                  <a:pt x="122238" y="7431"/>
                  <a:pt x="114806" y="0"/>
                  <a:pt x="105569" y="0"/>
                </a:cubicBezTo>
                <a:cubicBezTo>
                  <a:pt x="96331" y="0"/>
                  <a:pt x="88900" y="7431"/>
                  <a:pt x="88900" y="16669"/>
                </a:cubicBezTo>
                <a:lnTo>
                  <a:pt x="88900" y="44450"/>
                </a:lnTo>
                <a:cubicBezTo>
                  <a:pt x="64383" y="44450"/>
                  <a:pt x="44450" y="64383"/>
                  <a:pt x="44450" y="88900"/>
                </a:cubicBezTo>
                <a:lnTo>
                  <a:pt x="16669" y="88900"/>
                </a:lnTo>
                <a:cubicBezTo>
                  <a:pt x="7431" y="88900"/>
                  <a:pt x="0" y="96331"/>
                  <a:pt x="0" y="105569"/>
                </a:cubicBezTo>
                <a:cubicBezTo>
                  <a:pt x="0" y="114806"/>
                  <a:pt x="7431" y="122238"/>
                  <a:pt x="16669" y="122238"/>
                </a:cubicBezTo>
                <a:lnTo>
                  <a:pt x="44450" y="122238"/>
                </a:lnTo>
                <a:lnTo>
                  <a:pt x="44450" y="161131"/>
                </a:lnTo>
                <a:lnTo>
                  <a:pt x="16669" y="161131"/>
                </a:lnTo>
                <a:cubicBezTo>
                  <a:pt x="7431" y="161131"/>
                  <a:pt x="0" y="168563"/>
                  <a:pt x="0" y="177800"/>
                </a:cubicBezTo>
                <a:cubicBezTo>
                  <a:pt x="0" y="187037"/>
                  <a:pt x="7431" y="194469"/>
                  <a:pt x="16669" y="194469"/>
                </a:cubicBezTo>
                <a:lnTo>
                  <a:pt x="44450" y="194469"/>
                </a:lnTo>
                <a:lnTo>
                  <a:pt x="44450" y="233363"/>
                </a:lnTo>
                <a:lnTo>
                  <a:pt x="16669" y="233363"/>
                </a:lnTo>
                <a:cubicBezTo>
                  <a:pt x="7431" y="233363"/>
                  <a:pt x="0" y="240794"/>
                  <a:pt x="0" y="250031"/>
                </a:cubicBezTo>
                <a:cubicBezTo>
                  <a:pt x="0" y="259269"/>
                  <a:pt x="7431" y="266700"/>
                  <a:pt x="16669" y="266700"/>
                </a:cubicBezTo>
                <a:lnTo>
                  <a:pt x="44450" y="266700"/>
                </a:lnTo>
                <a:cubicBezTo>
                  <a:pt x="44450" y="291217"/>
                  <a:pt x="64383" y="311150"/>
                  <a:pt x="88900" y="311150"/>
                </a:cubicBezTo>
                <a:lnTo>
                  <a:pt x="88900" y="338931"/>
                </a:lnTo>
                <a:cubicBezTo>
                  <a:pt x="88900" y="348169"/>
                  <a:pt x="96331" y="355600"/>
                  <a:pt x="105569" y="355600"/>
                </a:cubicBezTo>
                <a:cubicBezTo>
                  <a:pt x="114806" y="355600"/>
                  <a:pt x="122238" y="348169"/>
                  <a:pt x="122238" y="338931"/>
                </a:cubicBezTo>
                <a:lnTo>
                  <a:pt x="122238" y="311150"/>
                </a:lnTo>
                <a:lnTo>
                  <a:pt x="161131" y="311150"/>
                </a:lnTo>
                <a:lnTo>
                  <a:pt x="161131" y="338931"/>
                </a:lnTo>
                <a:cubicBezTo>
                  <a:pt x="161131" y="348169"/>
                  <a:pt x="168563" y="355600"/>
                  <a:pt x="177800" y="355600"/>
                </a:cubicBezTo>
                <a:cubicBezTo>
                  <a:pt x="187037" y="355600"/>
                  <a:pt x="194469" y="348169"/>
                  <a:pt x="194469" y="338931"/>
                </a:cubicBezTo>
                <a:lnTo>
                  <a:pt x="194469" y="311150"/>
                </a:lnTo>
                <a:lnTo>
                  <a:pt x="233363" y="311150"/>
                </a:lnTo>
                <a:lnTo>
                  <a:pt x="233363" y="338931"/>
                </a:lnTo>
                <a:cubicBezTo>
                  <a:pt x="233363" y="348169"/>
                  <a:pt x="240794" y="355600"/>
                  <a:pt x="250031" y="355600"/>
                </a:cubicBezTo>
                <a:cubicBezTo>
                  <a:pt x="259269" y="355600"/>
                  <a:pt x="266700" y="348169"/>
                  <a:pt x="266700" y="338931"/>
                </a:cubicBezTo>
                <a:lnTo>
                  <a:pt x="266700" y="311150"/>
                </a:lnTo>
                <a:cubicBezTo>
                  <a:pt x="291217" y="311150"/>
                  <a:pt x="311150" y="291217"/>
                  <a:pt x="311150" y="266700"/>
                </a:cubicBezTo>
                <a:lnTo>
                  <a:pt x="338931" y="266700"/>
                </a:lnTo>
                <a:cubicBezTo>
                  <a:pt x="348169" y="266700"/>
                  <a:pt x="355600" y="259269"/>
                  <a:pt x="355600" y="250031"/>
                </a:cubicBezTo>
                <a:cubicBezTo>
                  <a:pt x="355600" y="240794"/>
                  <a:pt x="348169" y="233363"/>
                  <a:pt x="338931" y="233363"/>
                </a:cubicBezTo>
                <a:lnTo>
                  <a:pt x="311150" y="233363"/>
                </a:lnTo>
                <a:lnTo>
                  <a:pt x="311150" y="194469"/>
                </a:lnTo>
                <a:lnTo>
                  <a:pt x="338931" y="194469"/>
                </a:lnTo>
                <a:cubicBezTo>
                  <a:pt x="348169" y="194469"/>
                  <a:pt x="355600" y="187037"/>
                  <a:pt x="355600" y="177800"/>
                </a:cubicBezTo>
                <a:cubicBezTo>
                  <a:pt x="355600" y="168563"/>
                  <a:pt x="348169" y="161131"/>
                  <a:pt x="338931" y="161131"/>
                </a:cubicBezTo>
                <a:lnTo>
                  <a:pt x="311150" y="161131"/>
                </a:lnTo>
                <a:lnTo>
                  <a:pt x="311150" y="122238"/>
                </a:lnTo>
                <a:lnTo>
                  <a:pt x="338931" y="122238"/>
                </a:lnTo>
                <a:cubicBezTo>
                  <a:pt x="348169" y="122238"/>
                  <a:pt x="355600" y="114806"/>
                  <a:pt x="355600" y="105569"/>
                </a:cubicBezTo>
                <a:cubicBezTo>
                  <a:pt x="355600" y="96331"/>
                  <a:pt x="348169" y="88900"/>
                  <a:pt x="338931" y="88900"/>
                </a:cubicBezTo>
                <a:lnTo>
                  <a:pt x="311150" y="88900"/>
                </a:lnTo>
                <a:cubicBezTo>
                  <a:pt x="311150" y="64383"/>
                  <a:pt x="291217" y="44450"/>
                  <a:pt x="266700" y="44450"/>
                </a:cubicBezTo>
                <a:lnTo>
                  <a:pt x="266700" y="16669"/>
                </a:lnTo>
                <a:cubicBezTo>
                  <a:pt x="266700" y="7431"/>
                  <a:pt x="259269" y="0"/>
                  <a:pt x="250031" y="0"/>
                </a:cubicBezTo>
                <a:cubicBezTo>
                  <a:pt x="240794" y="0"/>
                  <a:pt x="233363" y="7431"/>
                  <a:pt x="233363" y="16669"/>
                </a:cubicBezTo>
                <a:lnTo>
                  <a:pt x="233363" y="44450"/>
                </a:lnTo>
                <a:lnTo>
                  <a:pt x="194469" y="44450"/>
                </a:lnTo>
                <a:lnTo>
                  <a:pt x="194469" y="16669"/>
                </a:lnTo>
                <a:cubicBezTo>
                  <a:pt x="194469" y="7431"/>
                  <a:pt x="187037" y="0"/>
                  <a:pt x="177800" y="0"/>
                </a:cubicBezTo>
                <a:cubicBezTo>
                  <a:pt x="168563" y="0"/>
                  <a:pt x="161131" y="7431"/>
                  <a:pt x="161131" y="16669"/>
                </a:cubicBezTo>
                <a:lnTo>
                  <a:pt x="161131" y="44450"/>
                </a:lnTo>
                <a:lnTo>
                  <a:pt x="122238" y="44450"/>
                </a:lnTo>
                <a:lnTo>
                  <a:pt x="122238" y="16669"/>
                </a:lnTo>
                <a:close/>
                <a:moveTo>
                  <a:pt x="111125" y="88900"/>
                </a:moveTo>
                <a:lnTo>
                  <a:pt x="244475" y="88900"/>
                </a:lnTo>
                <a:cubicBezTo>
                  <a:pt x="256768" y="88900"/>
                  <a:pt x="266700" y="98832"/>
                  <a:pt x="266700" y="111125"/>
                </a:cubicBezTo>
                <a:lnTo>
                  <a:pt x="266700" y="244475"/>
                </a:lnTo>
                <a:cubicBezTo>
                  <a:pt x="266700" y="256768"/>
                  <a:pt x="256768" y="266700"/>
                  <a:pt x="244475" y="266700"/>
                </a:cubicBezTo>
                <a:lnTo>
                  <a:pt x="111125" y="266700"/>
                </a:lnTo>
                <a:cubicBezTo>
                  <a:pt x="98832" y="266700"/>
                  <a:pt x="88900" y="256768"/>
                  <a:pt x="88900" y="244475"/>
                </a:cubicBezTo>
                <a:lnTo>
                  <a:pt x="88900" y="111125"/>
                </a:lnTo>
                <a:cubicBezTo>
                  <a:pt x="88900" y="98832"/>
                  <a:pt x="98832" y="88900"/>
                  <a:pt x="111125" y="88900"/>
                </a:cubicBezTo>
                <a:close/>
                <a:moveTo>
                  <a:pt x="122238" y="122238"/>
                </a:moveTo>
                <a:lnTo>
                  <a:pt x="122238" y="233363"/>
                </a:lnTo>
                <a:lnTo>
                  <a:pt x="233363" y="233363"/>
                </a:lnTo>
                <a:lnTo>
                  <a:pt x="233363" y="122238"/>
                </a:lnTo>
                <a:lnTo>
                  <a:pt x="122238" y="122238"/>
                </a:lnTo>
                <a:close/>
              </a:path>
            </a:pathLst>
          </a:custGeom>
          <a:solidFill>
            <a:srgbClr val="38A1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524000" y="2984500"/>
            <a:ext cx="609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Bauteile: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Dioden als Kern, ergänzt durch Transformator, Glättungskondensator und optional Spannungsregler.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45500" y="2857500"/>
            <a:ext cx="7048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445500" y="2857500"/>
            <a:ext cx="50800" cy="1143000"/>
          </a:xfrm>
          <a:prstGeom prst="rect">
            <a:avLst/>
          </a:pr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699500" y="3175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44450" y="66675"/>
                </a:moveTo>
                <a:cubicBezTo>
                  <a:pt x="44450" y="54382"/>
                  <a:pt x="54382" y="44450"/>
                  <a:pt x="66675" y="44450"/>
                </a:cubicBezTo>
                <a:lnTo>
                  <a:pt x="177800" y="44450"/>
                </a:lnTo>
                <a:cubicBezTo>
                  <a:pt x="190093" y="44450"/>
                  <a:pt x="200025" y="54382"/>
                  <a:pt x="200025" y="66675"/>
                </a:cubicBezTo>
                <a:lnTo>
                  <a:pt x="200025" y="266700"/>
                </a:lnTo>
                <a:lnTo>
                  <a:pt x="266700" y="266700"/>
                </a:lnTo>
                <a:lnTo>
                  <a:pt x="266700" y="177800"/>
                </a:lnTo>
                <a:cubicBezTo>
                  <a:pt x="266700" y="165507"/>
                  <a:pt x="276632" y="155575"/>
                  <a:pt x="288925" y="155575"/>
                </a:cubicBezTo>
                <a:lnTo>
                  <a:pt x="333375" y="155575"/>
                </a:lnTo>
                <a:cubicBezTo>
                  <a:pt x="345668" y="155575"/>
                  <a:pt x="355600" y="165507"/>
                  <a:pt x="355600" y="177800"/>
                </a:cubicBezTo>
                <a:cubicBezTo>
                  <a:pt x="355600" y="190093"/>
                  <a:pt x="345668" y="200025"/>
                  <a:pt x="333375" y="200025"/>
                </a:cubicBezTo>
                <a:lnTo>
                  <a:pt x="311150" y="200025"/>
                </a:lnTo>
                <a:lnTo>
                  <a:pt x="311150" y="288925"/>
                </a:lnTo>
                <a:cubicBezTo>
                  <a:pt x="311150" y="301218"/>
                  <a:pt x="301218" y="311150"/>
                  <a:pt x="288925" y="311150"/>
                </a:cubicBezTo>
                <a:lnTo>
                  <a:pt x="177800" y="311150"/>
                </a:lnTo>
                <a:cubicBezTo>
                  <a:pt x="165507" y="311150"/>
                  <a:pt x="155575" y="301218"/>
                  <a:pt x="155575" y="288925"/>
                </a:cubicBezTo>
                <a:lnTo>
                  <a:pt x="155575" y="88900"/>
                </a:lnTo>
                <a:lnTo>
                  <a:pt x="88900" y="88900"/>
                </a:lnTo>
                <a:lnTo>
                  <a:pt x="88900" y="177800"/>
                </a:lnTo>
                <a:cubicBezTo>
                  <a:pt x="88900" y="190093"/>
                  <a:pt x="78968" y="200025"/>
                  <a:pt x="66675" y="200025"/>
                </a:cubicBezTo>
                <a:lnTo>
                  <a:pt x="22225" y="200025"/>
                </a:lnTo>
                <a:cubicBezTo>
                  <a:pt x="9932" y="200025"/>
                  <a:pt x="0" y="190093"/>
                  <a:pt x="0" y="177800"/>
                </a:cubicBezTo>
                <a:cubicBezTo>
                  <a:pt x="0" y="165507"/>
                  <a:pt x="9932" y="155575"/>
                  <a:pt x="22225" y="155575"/>
                </a:cubicBezTo>
                <a:lnTo>
                  <a:pt x="44450" y="155575"/>
                </a:lnTo>
                <a:lnTo>
                  <a:pt x="44450" y="66675"/>
                </a:lnTo>
                <a:close/>
              </a:path>
            </a:pathLst>
          </a:custGeom>
          <a:solidFill>
            <a:srgbClr val="805A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07500" y="2984500"/>
            <a:ext cx="609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Glättung:</a:t>
            </a:r>
            <a:r>
              <a:rPr lang="en-US" sz="1600" dirty="0">
                <a:solidFill>
                  <a:srgbClr val="1A202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Kondensatoren, LC-/Pi-Filter und Spannungsregler minimieren die Restwelligkeit der DC-Spannung.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62000" y="4318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Vergleich: Einweg vs. Brücke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030762"/>
              </p:ext>
            </p:extLst>
          </p:nvPr>
        </p:nvGraphicFramePr>
        <p:xfrm>
          <a:off x="762000" y="4826000"/>
          <a:ext cx="14732000" cy="2540000"/>
        </p:xfrm>
        <a:graphic>
          <a:graphicData uri="http://schemas.openxmlformats.org/drawingml/2006/table">
            <a:tbl>
              <a:tblPr/>
              <a:tblGrid>
                <a:gridCol w="412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Kenngröße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Einweggleichrichter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FFFF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Brückengleichrichter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DC-Spannung VDC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0,318 × Vpeak (3,60 V)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0,637 × Vpeak (6,82 V)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Wirkgrad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max. 40,6% (38,1%)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C53030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max. 81,2% (72,3%)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Brummfrequenz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50 Hz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100 Hz (doppelte Filterwirkung)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Bauteilaufwand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 Diode (einfach)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A202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 Dioden (moderat)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62000" y="76835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2D374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Vom USB-Ladegerät bis zum industriellen DC-Versorgungssystem - Gleichrichter sind unverzichtbar.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4986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718096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810000"/>
            <a:ext cx="1270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kern="0" spc="3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VIELEN DANK!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223000" y="4445397"/>
            <a:ext cx="3810000" cy="254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9093200"/>
            <a:ext cx="16256000" cy="50800"/>
          </a:xfrm>
          <a:prstGeom prst="rect">
            <a:avLst/>
          </a:prstGeom>
          <a:solidFill>
            <a:srgbClr val="C5303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1400</Words>
  <Application>Microsoft Office PowerPoint</Application>
  <PresentationFormat>Custom</PresentationFormat>
  <Paragraphs>280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Quattrocento Sans</vt:lpstr>
      <vt:lpstr>Arial</vt:lpstr>
      <vt:lpstr>QuattrocentoSans</vt:lpstr>
      <vt:lpstr>Liter</vt:lpstr>
      <vt:lpstr>Cambria Math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Gleichrichter</dc:title>
  <dc:subject>Der Gleichrichter</dc:subject>
  <dc:creator>Kimi</dc:creator>
  <cp:lastModifiedBy>FRONTHALER Samuel, SchülerIn</cp:lastModifiedBy>
  <cp:revision>3</cp:revision>
  <dcterms:created xsi:type="dcterms:W3CDTF">2026-05-27T12:48:24Z</dcterms:created>
  <dcterms:modified xsi:type="dcterms:W3CDTF">2026-05-27T14:28:27Z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{"Label":"Der Gleichrichter","ContentProducer":"001191110108MACG2KBH8F10000","ProduceID":"19e69629-c2b2-8dcf-8000-00002dabd11f","ReservedCode1":"","ContentPropagator":"001191110108MACG2KBH8F20000","PropagateID":"19e69629-c2b2-8dcf-8000-00002dabd11f","ReservedCode2":""}</vt:lpwstr>
  </property>
</Properties>
</file>