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6256000" cy="9144000"/>
  <p:notesSz cx="9144000" cy="16256000"/>
  <p:embeddedFontLst>
    <p:embeddedFont>
      <p:font typeface="Quattrocento Sans" charset="-122" pitchFamily="34"/>
      <p:regular r:id="rId25"/>
    </p:embeddedFont>
    <p:embeddedFont>
      <p:font typeface="Liter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C53030"/>
            </a:solidFill>
            <a:ln w="25400" cap="flat">
              <a:solidFill>
                <a:srgbClr val="C53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53030"/>
              </a:solidFill>
              <a:ln w="9525" cap="flat">
                <a:solidFill>
                  <a:srgbClr val="C53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C53030"/>
            </a:solidFill>
            <a:ln w="25400" cap="flat">
              <a:solidFill>
                <a:srgbClr val="C53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53030"/>
              </a:solidFill>
              <a:ln w="9525" cap="flat">
                <a:solidFill>
                  <a:srgbClr val="C53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D3748"/>
            </a:solidFill>
            <a:ln w="25400" cap="flat">
              <a:solidFill>
                <a:srgbClr val="2D37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3748"/>
              </a:solidFill>
              <a:ln w="9525" cap="flat">
                <a:solidFill>
                  <a:srgbClr val="2D37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C53030"/>
            </a:solidFill>
            <a:ln w="25400" cap="flat">
              <a:solidFill>
                <a:srgbClr val="C53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53030"/>
              </a:solidFill>
              <a:ln w="9525" cap="flat">
                <a:solidFill>
                  <a:srgbClr val="C53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D3748"/>
            </a:solidFill>
            <a:ln w="25400" cap="flat">
              <a:solidFill>
                <a:srgbClr val="2D37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3748"/>
              </a:solidFill>
              <a:ln w="9525" cap="flat">
                <a:solidFill>
                  <a:srgbClr val="2D37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C53030"/>
            </a:solidFill>
            <a:ln w="25400" cap="flat">
              <a:solidFill>
                <a:srgbClr val="C53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53030"/>
              </a:solidFill>
              <a:ln w="9525" cap="flat">
                <a:solidFill>
                  <a:srgbClr val="C53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04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 GLEICHRICHTER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223000" y="4064000"/>
            <a:ext cx="3810000" cy="254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43815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Von Wechselstrom zu Gleichstrom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0" y="4953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Grundlagen, Schaltungen und Anwendungen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27950" y="59690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605076" y="-17681"/>
                </a:moveTo>
                <a:cubicBezTo>
                  <a:pt x="626328" y="-2322"/>
                  <a:pt x="634186" y="25539"/>
                  <a:pt x="624542" y="49828"/>
                </a:cubicBezTo>
                <a:lnTo>
                  <a:pt x="484525" y="400050"/>
                </a:lnTo>
                <a:lnTo>
                  <a:pt x="742950" y="400050"/>
                </a:lnTo>
                <a:cubicBezTo>
                  <a:pt x="767060" y="400050"/>
                  <a:pt x="788491" y="415052"/>
                  <a:pt x="796707" y="437733"/>
                </a:cubicBezTo>
                <a:cubicBezTo>
                  <a:pt x="804922" y="460415"/>
                  <a:pt x="797957" y="485775"/>
                  <a:pt x="779562" y="501134"/>
                </a:cubicBezTo>
                <a:lnTo>
                  <a:pt x="265212" y="929759"/>
                </a:lnTo>
                <a:cubicBezTo>
                  <a:pt x="245031" y="946547"/>
                  <a:pt x="216277" y="947440"/>
                  <a:pt x="195024" y="932081"/>
                </a:cubicBezTo>
                <a:cubicBezTo>
                  <a:pt x="173772" y="916722"/>
                  <a:pt x="165914" y="888861"/>
                  <a:pt x="175558" y="864572"/>
                </a:cubicBezTo>
                <a:lnTo>
                  <a:pt x="315575" y="514350"/>
                </a:lnTo>
                <a:lnTo>
                  <a:pt x="57150" y="514350"/>
                </a:lnTo>
                <a:cubicBezTo>
                  <a:pt x="33040" y="514350"/>
                  <a:pt x="11609" y="499348"/>
                  <a:pt x="3393" y="476667"/>
                </a:cubicBezTo>
                <a:cubicBezTo>
                  <a:pt x="-4822" y="453985"/>
                  <a:pt x="2143" y="428625"/>
                  <a:pt x="20538" y="413266"/>
                </a:cubicBezTo>
                <a:lnTo>
                  <a:pt x="534888" y="-15359"/>
                </a:lnTo>
                <a:cubicBezTo>
                  <a:pt x="555069" y="-32147"/>
                  <a:pt x="583823" y="-33040"/>
                  <a:pt x="605076" y="-17681"/>
                </a:cubicBezTo>
                <a:close/>
              </a:path>
            </a:pathLst>
          </a:custGeom>
          <a:solidFill>
            <a:srgbClr val="C5303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C5303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INHALTSÜBERSICHT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3302000" cy="5334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86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556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Grundlagen &amp; Eigenschaften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445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Definition, Funktionsweise und wichtige Kenngrößen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032000"/>
            <a:ext cx="3302000" cy="5334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4826000" y="2286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00" y="3556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Notwendige Bauteile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6000" y="4445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Dioden, Transformatoren, Kondensatoren und Drosseln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2032000"/>
            <a:ext cx="3302000" cy="5334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2286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3556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Schaltungen &amp; Berechnungen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4445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Einweg- und Brückengleichrichter mit durchgerechneten Beispielen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192000" y="2032000"/>
            <a:ext cx="3302000" cy="5334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12446000" y="2286000"/>
            <a:ext cx="127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46000" y="3556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Anwendungen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46000" y="4445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Netzteile, Ladegeräte und industrielle DC-Versorgungen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6502400" y="0"/>
            <a:ext cx="63500" cy="9144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KAPITEL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0" y="3048000"/>
            <a:ext cx="825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Grundlagen &amp; Eigenschaften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39000" y="38100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 ist ein Gleichrichter und welche Kenngrößen sind wichtig?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ist ein Gleichrichter?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Ein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Gleichrichter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wandelt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Wechselstrom (AC)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Gleichstrom (DC)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um.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Die Grundfunktion basiert auf der Richtungsabhängigkeit von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Dioden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Leiten Strom nur in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5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eine Richtung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Sperren in der anderen Richtung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Ergebnis: Eine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pulsierende Gleichspannung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7336" y="4191000"/>
            <a:ext cx="8128000" cy="1270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7" name="Shape 5"/>
          <p:cNvSpPr/>
          <p:nvPr/>
        </p:nvSpPr>
        <p:spPr>
          <a:xfrm>
            <a:off x="677336" y="4191000"/>
            <a:ext cx="50800" cy="1270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931336" y="4318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 alle elektronischen Geräte benötigen Gleichstrom, obwohl das Stromnetz Wechselstrom liefert. Gleichrichter schließen diese Lücke.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98000" y="1397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Prinzip der Gleichrichtung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25000" y="19685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AC-Eingang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049000" y="1778000"/>
            <a:ext cx="4318000" cy="20806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10922000" y="1587500"/>
          <a:ext cx="4191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13017500" y="3873500"/>
            <a:ext cx="0" cy="381000"/>
          </a:xfrm>
          <a:prstGeom prst="straightConnector1">
            <a:avLst/>
          </a:prstGeom>
          <a:noFill/>
          <a:ln w="25400">
            <a:solidFill>
              <a:srgbClr val="718096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11874500" y="4318000"/>
            <a:ext cx="2286000" cy="635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Text 12"/>
          <p:cNvSpPr/>
          <p:nvPr/>
        </p:nvSpPr>
        <p:spPr>
          <a:xfrm>
            <a:off x="11874500" y="431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GLEICHRICHTER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017500" y="5143500"/>
            <a:ext cx="0" cy="381000"/>
          </a:xfrm>
          <a:prstGeom prst="straightConnector1">
            <a:avLst/>
          </a:prstGeom>
          <a:noFill/>
          <a:ln w="25400">
            <a:solidFill>
              <a:srgbClr val="718096"/>
            </a:solidFill>
            <a:prstDash val="solid"/>
            <a:headEnd type="none"/>
            <a:tailEnd type="arrow"/>
          </a:ln>
        </p:spPr>
      </p:sp>
      <p:sp>
        <p:nvSpPr>
          <p:cNvPr id="17" name="Text 14"/>
          <p:cNvSpPr/>
          <p:nvPr/>
        </p:nvSpPr>
        <p:spPr>
          <a:xfrm>
            <a:off x="9525000" y="584198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DC-Ausgang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1049000" y="5676900"/>
            <a:ext cx="4318000" cy="246589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9" name="Chart 1" descr=""/>
          <p:cNvGraphicFramePr/>
          <p:nvPr/>
        </p:nvGraphicFramePr>
        <p:xfrm>
          <a:off x="10922000" y="5676900"/>
          <a:ext cx="4191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762000" y="5920338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Zwei Haupttypen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77336" y="6392336"/>
            <a:ext cx="27940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4336" y="6392336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Einweggleichrichter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Diode, nur positive Halbwelle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852336" y="6392336"/>
            <a:ext cx="2921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979336" y="6392336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Brückengleichrichter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Dioden, beide Halbwellen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Kenngrößen und Eigenschaften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Kenngröße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Beschreibung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Typische Werte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Gleichricht- wirkgrad η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Verhältnis DC-Leistung zu AC-Leistung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5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Einweg: 40,6% | Brücke: 81,2%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Formfaktor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Verhältnis Effektivwert zu Mittelwert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Einweg: 1,57 | Brücke: 1,11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Restwelligkeit (Ripple)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Verbleibende Wechselspannung auf DC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Abhängig von Filterung (z.B. &lt; 1% mit Regler)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Sperrspannung UR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Max. Spannung in Sperrrichtung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Typ. 400V+ bei Netzgleichrichtern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Durchlassspannung UF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Spannungsabfall in Durchlassrichtung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5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ca. 0,7 V (Si-Diode)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33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Wichtige Formeln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905500"/>
            <a:ext cx="457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2500" y="5969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Einweg (Mittelwert)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/>
              <p:cNvSpPr/>
              <p:nvPr/>
            </p:nvSpPr>
            <p:spPr>
              <a:xfrm>
                <a:off x="952500" y="62865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V</m:t>
                          </m:r>
                        </m:e>
                        <m:sub>
                          <m:r>
                            <a:rPr lang="en-US" sz="1100" i="1" dirty="0"/>
                            <m:t>D</m:t>
                          </m:r>
                          <m:r>
                            <a:rPr lang="en-US" sz="1100" i="1" dirty="0"/>
                            <m:t>C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V</m:t>
                              </m:r>
                            </m:e>
                            <m:sub>
                              <m:r>
                                <a:rPr lang="en-US" sz="800" i="1" dirty="0"/>
                                <m:t>p</m:t>
                              </m:r>
                              <m:r>
                                <a:rPr lang="en-US" sz="800" i="1" dirty="0"/>
                                <m:t>e</m:t>
                              </m:r>
                              <m:r>
                                <a:rPr lang="en-US" sz="800" i="1" dirty="0"/>
                                <m:t>a</m:t>
                              </m:r>
                              <m:r>
                                <a:rPr lang="en-US" sz="800" i="1" dirty="0"/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1100" i="1" dirty="0"/>
                            <m:t>π</m:t>
                          </m:r>
                        </m:den>
                      </m:f>
                      <m:r>
                        <a:rPr lang="en-US" sz="1600" dirty="0"/>
                        <m:t>≈</m:t>
                      </m:r>
                      <m:r>
                        <a:rPr lang="en-US" sz="1600" dirty="0"/>
                        <m:t>0,318</m:t>
                      </m:r>
                      <m:r>
                        <a:rPr lang="en-US" sz="1600" dirty="0"/>
                        <m:t>⋅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V</m:t>
                          </m:r>
                        </m:e>
                        <m:sub>
                          <m:r>
                            <a:rPr lang="en-US" sz="1100" i="1" dirty="0"/>
                            <m:t>p</m:t>
                          </m:r>
                          <m:r>
                            <a:rPr lang="en-US" sz="1100" i="1" dirty="0"/>
                            <m:t>e</m:t>
                          </m:r>
                          <m:r>
                            <a:rPr lang="en-US" sz="1100" i="1" dirty="0"/>
                            <m:t>a</m:t>
                          </m:r>
                          <m:r>
                            <a:rPr lang="en-US" sz="1100" i="1" dirty="0"/>
                            <m:t>k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 6"/>
              <p:cNvSpPr/>
              <p:nvPr/>
            </p:nvSpPr>
            <p:spPr>
              <a:xfrm>
                <a:off x="952500" y="62865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V_{DC} = \frac{V_{peak}}{\pi} \approx 0{,}318 \cdot V_{peak} )</a:t>
                </a:r>
                <a:endParaRPr lang="en-US" sz="1600" dirty="0"/>
              </a:p>
            </p:txBody>
          </p:sp>
        </mc:Fallback>
      </mc:AlternateContent>
      <p:sp>
        <p:nvSpPr>
          <p:cNvPr id="10" name="Shape 7"/>
          <p:cNvSpPr/>
          <p:nvPr/>
        </p:nvSpPr>
        <p:spPr>
          <a:xfrm>
            <a:off x="5715000" y="5905500"/>
            <a:ext cx="457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05500" y="5969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Brücke (Mittelwert)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9"/>
              <p:cNvSpPr/>
              <p:nvPr/>
            </p:nvSpPr>
            <p:spPr>
              <a:xfrm>
                <a:off x="5905500" y="62865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V</m:t>
                          </m:r>
                        </m:e>
                        <m:sub>
                          <m:r>
                            <a:rPr lang="en-US" sz="1100" i="1" dirty="0"/>
                            <m:t>D</m:t>
                          </m:r>
                          <m:r>
                            <a:rPr lang="en-US" sz="1100" i="1" dirty="0"/>
                            <m:t>C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2</m:t>
                          </m:r>
                          <m:r>
                            <a:rPr lang="en-US" sz="1100" dirty="0"/>
                            <m:t>⋅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V</m:t>
                              </m:r>
                            </m:e>
                            <m:sub>
                              <m:r>
                                <a:rPr lang="en-US" sz="800" i="1" dirty="0"/>
                                <m:t>p</m:t>
                              </m:r>
                              <m:r>
                                <a:rPr lang="en-US" sz="800" i="1" dirty="0"/>
                                <m:t>e</m:t>
                              </m:r>
                              <m:r>
                                <a:rPr lang="en-US" sz="800" i="1" dirty="0"/>
                                <m:t>a</m:t>
                              </m:r>
                              <m:r>
                                <a:rPr lang="en-US" sz="800" i="1" dirty="0"/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1100" i="1" dirty="0"/>
                            <m:t>π</m:t>
                          </m:r>
                        </m:den>
                      </m:f>
                      <m:r>
                        <a:rPr lang="en-US" sz="1600" dirty="0"/>
                        <m:t>≈</m:t>
                      </m:r>
                      <m:r>
                        <a:rPr lang="en-US" sz="1600" dirty="0"/>
                        <m:t>0,637</m:t>
                      </m:r>
                      <m:r>
                        <a:rPr lang="en-US" sz="1600" dirty="0"/>
                        <m:t>⋅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V</m:t>
                          </m:r>
                        </m:e>
                        <m:sub>
                          <m:r>
                            <a:rPr lang="en-US" sz="1100" i="1" dirty="0"/>
                            <m:t>p</m:t>
                          </m:r>
                          <m:r>
                            <a:rPr lang="en-US" sz="1100" i="1" dirty="0"/>
                            <m:t>e</m:t>
                          </m:r>
                          <m:r>
                            <a:rPr lang="en-US" sz="1100" i="1" dirty="0"/>
                            <m:t>a</m:t>
                          </m:r>
                          <m:r>
                            <a:rPr lang="en-US" sz="1100" i="1" dirty="0"/>
                            <m:t>k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 9"/>
              <p:cNvSpPr/>
              <p:nvPr/>
            </p:nvSpPr>
            <p:spPr>
              <a:xfrm>
                <a:off x="5905500" y="6286500"/>
                <a:ext cx="4191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V_{DC} = \frac{2 \cdot V_{peak}}{\pi} \approx 0{,}637 \cdot V_{peak} )</a:t>
                </a:r>
                <a:endParaRPr lang="en-US" sz="1600" dirty="0"/>
              </a:p>
            </p:txBody>
          </p:sp>
        </mc:Fallback>
      </mc:AlternateContent>
      <p:sp>
        <p:nvSpPr>
          <p:cNvPr id="13" name="Shape 10"/>
          <p:cNvSpPr/>
          <p:nvPr/>
        </p:nvSpPr>
        <p:spPr>
          <a:xfrm>
            <a:off x="10668000" y="5905500"/>
            <a:ext cx="482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58500" y="5969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Wirkgrad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2"/>
              <p:cNvSpPr/>
              <p:nvPr/>
            </p:nvSpPr>
            <p:spPr>
              <a:xfrm>
                <a:off x="10858500" y="6286500"/>
                <a:ext cx="4445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η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P</m:t>
                              </m:r>
                            </m:e>
                            <m:sub>
                              <m:r>
                                <a:rPr lang="en-US" sz="800" i="1" dirty="0"/>
                                <m:t>D</m:t>
                              </m:r>
                              <m:r>
                                <a:rPr lang="en-US" sz="800" i="1" dirty="0"/>
                                <m:t>C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P</m:t>
                              </m:r>
                            </m:e>
                            <m:sub>
                              <m:r>
                                <a:rPr lang="en-US" sz="800" i="1" dirty="0"/>
                                <m:t>A</m:t>
                              </m:r>
                              <m:r>
                                <a:rPr lang="en-US" sz="800" i="1" dirty="0"/>
                                <m:t>C</m:t>
                              </m:r>
                            </m:sub>
                          </m:sSub>
                        </m:den>
                      </m:f>
                      <m:r>
                        <a:rPr lang="en-US" sz="1600" dirty="0"/>
                        <m:t>⋅</m:t>
                      </m:r>
                      <m:r>
                        <a:rPr lang="en-US" sz="1600" dirty="0"/>
                        <m:t>100</m:t>
                      </m:r>
                      <m:r>
                        <a:rPr lang="en-US" sz="1600" dirty="0"/>
                        <m:t>%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 12"/>
              <p:cNvSpPr/>
              <p:nvPr/>
            </p:nvSpPr>
            <p:spPr>
              <a:xfrm>
                <a:off x="10858500" y="6286500"/>
                <a:ext cx="4445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\eta = \frac{P_{DC}}{P_{AC}} \cdot 100\% )</a:t>
                </a:r>
                <a:endParaRPr lang="en-US" sz="1600" dirty="0"/>
              </a:p>
            </p:txBody>
          </p:sp>
        </mc:Fallback>
      </mc:AlternateContent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6502400" y="0"/>
            <a:ext cx="63500" cy="9144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KAPITEL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0" y="3302000"/>
            <a:ext cx="825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Notwendige Bauteile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39000" y="4064000"/>
            <a:ext cx="825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Die Komponenten hinter der Gleichrichtung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Die Diode - Das Kernbauteil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7620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Die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Diode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ist das zentrale Bauelement jedes Gleichrichters.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Sie besteht aus einem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p-n-Übergang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p-Bereich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positive Ladungsträger (Löcher)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n-Bereich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negative Ladungsträger (Elektronen)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Durchlassrichtung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leitet sie mit geringem Widerstand.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Sperrrichtung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sperrt sie nahezu vollständig.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412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Kennwerte (Silizium)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4572000"/>
            <a:ext cx="3556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4635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Durchlassspannung: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530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≈ 0,7 V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4572000"/>
            <a:ext cx="3556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500" y="4635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Sperrspannung: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bis 1000V+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0" y="1397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Diode - Schaltzeichen &amp; Aufbau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890000" y="1968500"/>
            <a:ext cx="6604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11303000" y="2540000"/>
            <a:ext cx="1016000" cy="762000"/>
          </a:xfrm>
          <a:prstGeom prst="triangle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92000" y="2476500"/>
            <a:ext cx="101600" cy="889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0" y="2921000"/>
            <a:ext cx="1270000" cy="0"/>
          </a:xfrm>
          <a:prstGeom prst="straightConnector1">
            <a:avLst/>
          </a:prstGeom>
          <a:noFill/>
          <a:ln w="25400">
            <a:solidFill>
              <a:srgbClr val="2D374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2293600" y="2921000"/>
            <a:ext cx="1270000" cy="0"/>
          </a:xfrm>
          <a:prstGeom prst="straightConnector1">
            <a:avLst/>
          </a:prstGeom>
          <a:noFill/>
          <a:ln w="25400">
            <a:solidFill>
              <a:srgbClr val="2D374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906000" y="30480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Anode (+)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573000" y="30480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Kathode (-)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35560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530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p-n-Übergang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000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 Stromfluss: Anode → Kathode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4381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 Dreieck zeigt die Durchlassrichtung. Der Strich (Kathode) sperrt den Strom in Gegenrichtung.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Weitere Bauteile im Überblick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0485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2159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Shape 5"/>
          <p:cNvSpPr/>
          <p:nvPr/>
        </p:nvSpPr>
        <p:spPr>
          <a:xfrm>
            <a:off x="1044575" y="1587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1587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590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Wandelt Netzspannung (230V) auf benötigte AC-Spannung herab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Galvanische Trennung zum Netz (Schutz!)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Sekundärspannung bestimmt die Ausgangsspannung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1397000"/>
            <a:ext cx="70485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45500" y="1397000"/>
            <a:ext cx="50800" cy="2159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2" name="Shape 10"/>
          <p:cNvSpPr/>
          <p:nvPr/>
        </p:nvSpPr>
        <p:spPr>
          <a:xfrm>
            <a:off x="8728075" y="1587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0" y="1587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Glättungskondensator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99500" y="21590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Elektrolytkondensator parallel zur Last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Speichert Ladung und glättet die pulsierende DC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Faustregel: 1000 µF pro Ampere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873500"/>
            <a:ext cx="70485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3873500"/>
            <a:ext cx="50800" cy="21590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4575" y="4064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0" y="157163"/>
                </a:moveTo>
                <a:lnTo>
                  <a:pt x="0" y="257175"/>
                </a:lnTo>
                <a:cubicBezTo>
                  <a:pt x="0" y="367635"/>
                  <a:pt x="89565" y="457200"/>
                  <a:pt x="200025" y="457200"/>
                </a:cubicBezTo>
                <a:cubicBezTo>
                  <a:pt x="310485" y="457200"/>
                  <a:pt x="400050" y="367635"/>
                  <a:pt x="400050" y="257175"/>
                </a:cubicBezTo>
                <a:lnTo>
                  <a:pt x="400050" y="157163"/>
                </a:lnTo>
                <a:lnTo>
                  <a:pt x="285750" y="157163"/>
                </a:lnTo>
                <a:lnTo>
                  <a:pt x="285750" y="257175"/>
                </a:lnTo>
                <a:cubicBezTo>
                  <a:pt x="285750" y="304502"/>
                  <a:pt x="247352" y="342900"/>
                  <a:pt x="200025" y="342900"/>
                </a:cubicBezTo>
                <a:cubicBezTo>
                  <a:pt x="152698" y="342900"/>
                  <a:pt x="114300" y="304502"/>
                  <a:pt x="114300" y="257175"/>
                </a:cubicBezTo>
                <a:lnTo>
                  <a:pt x="114300" y="157163"/>
                </a:lnTo>
                <a:lnTo>
                  <a:pt x="0" y="157163"/>
                </a:lnTo>
                <a:close/>
                <a:moveTo>
                  <a:pt x="0" y="114300"/>
                </a:moveTo>
                <a:lnTo>
                  <a:pt x="114300" y="114300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ubicBezTo>
                  <a:pt x="12769" y="28575"/>
                  <a:pt x="0" y="41344"/>
                  <a:pt x="0" y="57150"/>
                </a:cubicBezTo>
                <a:lnTo>
                  <a:pt x="0" y="114300"/>
                </a:lnTo>
                <a:close/>
                <a:moveTo>
                  <a:pt x="285750" y="114300"/>
                </a:moveTo>
                <a:lnTo>
                  <a:pt x="400050" y="114300"/>
                </a:lnTo>
                <a:lnTo>
                  <a:pt x="400050" y="57150"/>
                </a:lnTo>
                <a:cubicBezTo>
                  <a:pt x="400050" y="41344"/>
                  <a:pt x="387281" y="28575"/>
                  <a:pt x="371475" y="28575"/>
                </a:cubicBezTo>
                <a:lnTo>
                  <a:pt x="314325" y="28575"/>
                </a:lnTo>
                <a:cubicBezTo>
                  <a:pt x="298519" y="28575"/>
                  <a:pt x="285750" y="41344"/>
                  <a:pt x="285750" y="57150"/>
                </a:cubicBezTo>
                <a:lnTo>
                  <a:pt x="285750" y="114300"/>
                </a:lnTo>
                <a:close/>
              </a:path>
            </a:pathLst>
          </a:custGeom>
          <a:solidFill>
            <a:srgbClr val="38A169"/>
          </a:solidFill>
          <a:ln/>
        </p:spPr>
      </p:sp>
      <p:sp>
        <p:nvSpPr>
          <p:cNvPr id="18" name="Text 16"/>
          <p:cNvSpPr/>
          <p:nvPr/>
        </p:nvSpPr>
        <p:spPr>
          <a:xfrm>
            <a:off x="1651000" y="406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Drossel (Spule)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6355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Hoher Wechselstromwiderstand (X</a:t>
            </a:r>
            <a:pPr>
              <a:lnSpc>
                <a:spcPct val="150000"/>
              </a:lnSpc>
            </a:pPr>
            <a:r>
              <a:rPr lang="en-US" sz="1500" baseline="-40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2πfL)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Bildet mit Kondensatoren LC- oder Pi-Filter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Deutlich bessere Filterung als Kondensator allein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45500" y="3873500"/>
            <a:ext cx="70485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45500" y="3873500"/>
            <a:ext cx="50800" cy="215900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2" name="Shape 20"/>
          <p:cNvSpPr/>
          <p:nvPr/>
        </p:nvSpPr>
        <p:spPr>
          <a:xfrm>
            <a:off x="86995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805AD5"/>
          </a:solidFill>
          <a:ln/>
        </p:spPr>
      </p:sp>
      <p:sp>
        <p:nvSpPr>
          <p:cNvPr id="23" name="Text 21"/>
          <p:cNvSpPr/>
          <p:nvPr/>
        </p:nvSpPr>
        <p:spPr>
          <a:xfrm>
            <a:off x="9334500" y="4064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Spannungsregler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99500" y="46355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ICs wie LM78xx (z.B. LM7812 für 12V)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Konstante Ausgangsspannung trotz Lastschwankungen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Reduziert Restwelligkeit um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70 dB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413500"/>
            <a:ext cx="14732000" cy="1016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6413500"/>
            <a:ext cx="50800" cy="1016000"/>
          </a:xfrm>
          <a:prstGeom prst="rect">
            <a:avLst/>
          </a:prstGeom>
          <a:solidFill>
            <a:srgbClr val="C53030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1016000" y="6540500"/>
                <a:ext cx="14224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Restwelligkeit mit Kondensator: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dirty="0"/>
                        <m:t>Δ</m:t>
                      </m:r>
                      <m:r>
                        <a:rPr lang="en-US" sz="1600" i="1" dirty="0"/>
                        <m:t>U</m:t>
                      </m:r>
                      <m:r>
                        <a:rPr lang="en-US" sz="1600" dirty="0"/>
                        <m:t>≈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L</m:t>
                              </m:r>
                              <m:r>
                                <a:rPr lang="en-US" sz="800" i="1" dirty="0"/>
                                <m:t>a</m:t>
                              </m:r>
                              <m:r>
                                <a:rPr lang="en-US" sz="800" i="1" dirty="0"/>
                                <m:t>s</m:t>
                              </m:r>
                              <m:r>
                                <a:rPr lang="en-US" sz="800" i="1" dirty="0"/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a:rPr lang="en-US" sz="1100" i="1" dirty="0"/>
                            <m:t>f</m:t>
                          </m:r>
                          <m:r>
                            <a:rPr lang="en-US" sz="1100" dirty="0"/>
                            <m:t>⋅</m:t>
                          </m:r>
                          <m:r>
                            <a:rPr lang="en-US" sz="1100" i="1" dirty="0"/>
                            <m:t>C</m:t>
                          </m:r>
                        </m:den>
                      </m:f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| Bei 1A, 100Hz, 1000µF: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dirty="0"/>
                        <m:t>Δ</m:t>
                      </m:r>
                      <m:r>
                        <a:rPr lang="en-US" sz="1600" i="1" dirty="0"/>
                        <m:t>U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</m:t>
                          </m:r>
                        </m:num>
                        <m:den>
                          <m:r>
                            <a:rPr lang="en-US" sz="1100" dirty="0"/>
                            <m:t>100</m:t>
                          </m:r>
                          <m:r>
                            <a:rPr lang="en-US" sz="1100" dirty="0"/>
                            <m:t>⋅</m:t>
                          </m:r>
                          <m:r>
                            <a:rPr lang="en-US" sz="1100" dirty="0"/>
                            <m:t>0,001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  <m:r>
                        <a:rPr lang="en-US" sz="1600" dirty="0"/>
                        <m:t>10</m:t>
                      </m:r>
                      <m:r>
                        <a:rPr lang="en-US" sz="1600" dirty="0"/>
                        <m:t> </m:t>
                      </m:r>
                      <m:r>
                        <a:rPr lang="en-US" sz="1600" i="1" dirty="0"/>
                        <m:t>V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 25"/>
              <p:cNvSpPr/>
              <p:nvPr/>
            </p:nvSpPr>
            <p:spPr>
              <a:xfrm>
                <a:off x="1016000" y="6540500"/>
                <a:ext cx="14224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Restwelligkeit mit Kondensator: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\Delta U \approx \frac{I_{Last}}{f \cdot C} )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| Bei 1A, 100Hz, 1000µF: 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\Delta U = \frac{1}{100 \cdot 0{,}001} = 10\,V )</a:t>
                </a:r>
                <a:endParaRPr lang="en-US" sz="1600" dirty="0"/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6502400" y="0"/>
            <a:ext cx="63500" cy="9144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KAPITEL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0" y="3048000"/>
            <a:ext cx="825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Schaltungen &amp; Berechnungen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39000" y="38100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Einweg- und Brückengleichrichter mit durchgerechneten Beispielen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Einweggleichrichter - Funktionsweise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736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Einweggleichrichter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besteht aus nur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5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einer Diode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Positive Halbwelle: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Diode leitet, Strom fließt zur Last.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Negative Halbwelle: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Diode sperrt, kein Stromfluss.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Ergebnis: Nur die positive Halbwelle erreicht den Verbraucher.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75029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Schaltung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556029"/>
            <a:ext cx="7366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0000" y="4191029"/>
            <a:ext cx="635000" cy="635000"/>
          </a:xfrm>
          <a:prstGeom prst="ellipse">
            <a:avLst/>
          </a:prstGeom>
          <a:solidFill>
            <a:srgbClr val="2D3748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937029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 AC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895" y="4318029"/>
            <a:ext cx="1310105" cy="0"/>
          </a:xfrm>
          <a:prstGeom prst="straightConnector1">
            <a:avLst/>
          </a:prstGeom>
          <a:noFill/>
          <a:ln w="25400">
            <a:solidFill>
              <a:srgbClr val="2D374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rot="5400000">
            <a:off x="2959100" y="4165629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5303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02000" y="4152929"/>
            <a:ext cx="63500" cy="381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1"/>
          <p:cNvSpPr/>
          <p:nvPr/>
        </p:nvSpPr>
        <p:spPr>
          <a:xfrm>
            <a:off x="2794000" y="3810029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C530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65500" y="4343429"/>
            <a:ext cx="1016000" cy="0"/>
          </a:xfrm>
          <a:prstGeom prst="straightConnector1">
            <a:avLst/>
          </a:prstGeom>
          <a:noFill/>
          <a:ln w="25400">
            <a:solidFill>
              <a:srgbClr val="2D374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381500" y="4191029"/>
            <a:ext cx="635000" cy="3048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1500" y="3810029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pPr algn="ctr">
              <a:lnSpc>
                <a:spcPct val="100000"/>
              </a:lnSpc>
            </a:pPr>
            <a:r>
              <a:rPr lang="en-US" sz="1200" baseline="-400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16500" y="4343429"/>
            <a:ext cx="1016000" cy="0"/>
          </a:xfrm>
          <a:prstGeom prst="straightConnector1">
            <a:avLst/>
          </a:prstGeom>
          <a:noFill/>
          <a:ln w="25400">
            <a:solidFill>
              <a:srgbClr val="2D374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032500" y="4343429"/>
            <a:ext cx="0" cy="741947"/>
          </a:xfrm>
          <a:prstGeom prst="straightConnector1">
            <a:avLst/>
          </a:prstGeom>
          <a:noFill/>
          <a:ln w="25400">
            <a:solidFill>
              <a:srgbClr val="2D374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587500" y="5080029"/>
            <a:ext cx="4445000" cy="0"/>
          </a:xfrm>
          <a:prstGeom prst="straightConnector1">
            <a:avLst/>
          </a:prstGeom>
          <a:noFill/>
          <a:ln w="25400">
            <a:solidFill>
              <a:srgbClr val="2D374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587500" y="4445029"/>
            <a:ext cx="0" cy="635000"/>
          </a:xfrm>
          <a:prstGeom prst="straightConnector1">
            <a:avLst/>
          </a:prstGeom>
          <a:noFill/>
          <a:ln w="25400">
            <a:solidFill>
              <a:srgbClr val="2D374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810000" y="4508529"/>
            <a:ext cx="381000" cy="0"/>
          </a:xfrm>
          <a:prstGeom prst="straightConnector1">
            <a:avLst/>
          </a:prstGeom>
          <a:noFill/>
          <a:ln w="12700">
            <a:solidFill>
              <a:srgbClr val="C53030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8636000" y="13335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Spannungsverläufe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6000" y="1778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Eingang (AC)</a:t>
            </a:r>
            <a:endParaRPr lang="en-US" sz="16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10160000" y="1714500"/>
          <a:ext cx="5334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8636000" y="4508529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Ausgang (DC)</a:t>
            </a:r>
            <a:endParaRPr lang="en-US" sz="16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10160000" y="4445029"/>
          <a:ext cx="5334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762000" y="5757283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Kennwerte im Vergleich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201783"/>
          <a:ext cx="6858000" cy="24765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Kennwert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Einweggleichrichter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Mittelwert VDC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5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0,318 × Vpeak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Wirkgrad (max.)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5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40,6 %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Brummfrequenz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Hz (Netzfrequenz)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Nachteil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Hohe Verluste, große Restwelligkeit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9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Einweggleichrichter - Berechnungsbeispiel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33500"/>
            <a:ext cx="50800" cy="889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716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GEGEBEN: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676400"/>
            <a:ext cx="1422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</a:t>
            </a:r>
            <a:pPr>
              <a:lnSpc>
                <a:spcPct val="100000"/>
              </a:lnSpc>
            </a:pPr>
            <a:r>
              <a:rPr lang="en-US" sz="1600" baseline="-40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12 V | R</a:t>
            </a:r>
            <a:pPr>
              <a:lnSpc>
                <a:spcPct val="100000"/>
              </a:lnSpc>
            </a:pPr>
            <a:r>
              <a:rPr lang="en-US" sz="1600" baseline="-40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100 Ω | R</a:t>
            </a:r>
            <a:pPr>
              <a:lnSpc>
                <a:spcPct val="100000"/>
              </a:lnSpc>
            </a:pPr>
            <a:r>
              <a:rPr lang="en-US" sz="1600" baseline="-40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6 Ω (Diodenwiderstand)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47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Schritt-für-Schritt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2984500"/>
            <a:ext cx="70485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000" y="3048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3500" y="304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Scheitelstrom I</a:t>
            </a:r>
            <a:pPr>
              <a:lnSpc>
                <a:spcPct val="100000"/>
              </a:lnSpc>
            </a:pPr>
            <a:r>
              <a:rPr lang="en-US" sz="1400" baseline="-40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1333500" y="34036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I</m:t>
                          </m:r>
                        </m:e>
                        <m:sub>
                          <m:r>
                            <a:rPr lang="en-US" sz="1100" i="1" dirty="0"/>
                            <m:t>m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V</m:t>
                              </m:r>
                            </m:e>
                            <m:sub>
                              <m:r>
                                <a:rPr lang="en-US" sz="800" i="1" dirty="0"/>
                                <m:t>m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D</m:t>
                              </m:r>
                            </m:sub>
                          </m:sSub>
                          <m:r>
                            <a:rPr lang="en-US" sz="1100" dirty="0"/>
                            <m:t>+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L</m:t>
                              </m:r>
                            </m:sub>
                          </m:sSub>
                        </m:den>
                      </m:f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12</m:t>
                          </m:r>
                        </m:num>
                        <m:den>
                          <m:r>
                            <a:rPr lang="en-US" sz="1100" dirty="0"/>
                            <m:t>106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</m:oMath>
                  </m:oMathPara>
                </a14:m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113,2 mA</a:t>
                </a:r>
                <a:endParaRPr lang="en-US" sz="16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1333500" y="34036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I_m = \frac{V_m}{R_D + R_L} = \frac{12}{106} = )</a:t>
                </a:r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113,2 mA</a:t>
                </a:r>
                <a:endParaRPr lang="en-US" sz="1600" dirty="0"/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8445500" y="2984500"/>
            <a:ext cx="70485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2500" y="3048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17000" y="304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DC-Strom I</a:t>
            </a:r>
            <a:pPr>
              <a:lnSpc>
                <a:spcPct val="100000"/>
              </a:lnSpc>
            </a:pPr>
            <a:r>
              <a:rPr lang="en-US" sz="1400" baseline="-40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DC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9017000" y="34036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I</m:t>
                          </m:r>
                        </m:e>
                        <m:sub>
                          <m:r>
                            <a:rPr lang="en-US" sz="1100" i="1" dirty="0"/>
                            <m:t>D</m:t>
                          </m:r>
                          <m:r>
                            <a:rPr lang="en-US" sz="1100" i="1" dirty="0"/>
                            <m:t>C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en-US" sz="1100" i="1" dirty="0"/>
                            <m:t>π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113,2</m:t>
                          </m:r>
                        </m:num>
                        <m:den>
                          <m:r>
                            <a:rPr lang="en-US" sz="1100" i="1" dirty="0"/>
                            <m:t>π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</m:oMath>
                  </m:oMathPara>
                </a14:m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36,0 mA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 15"/>
              <p:cNvSpPr/>
              <p:nvPr/>
            </p:nvSpPr>
            <p:spPr>
              <a:xfrm>
                <a:off x="9017000" y="34036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I_{DC} = \frac{I_m}{\pi} = \frac{113{,}2}{\pi} = )</a:t>
                </a:r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36,0 mA</a:t>
                </a:r>
                <a:endParaRPr lang="en-US" sz="1600" dirty="0"/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762000" y="4191000"/>
            <a:ext cx="70485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600" y="42545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" y="425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DC-Spannung V</a:t>
            </a:r>
            <a:pPr>
              <a:lnSpc>
                <a:spcPct val="100000"/>
              </a:lnSpc>
            </a:pPr>
            <a:r>
              <a:rPr lang="en-US" sz="1400" baseline="-40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DC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1333500" y="46101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V</m:t>
                          </m:r>
                        </m:e>
                        <m:sub>
                          <m:r>
                            <a:rPr lang="en-US" sz="1100" i="1" dirty="0"/>
                            <m:t>D</m:t>
                          </m:r>
                          <m:r>
                            <a:rPr lang="en-US" sz="1100" i="1" dirty="0"/>
                            <m:t>C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I</m:t>
                          </m:r>
                        </m:e>
                        <m:sub>
                          <m:r>
                            <a:rPr lang="en-US" sz="1100" i="1" dirty="0"/>
                            <m:t>D</m:t>
                          </m:r>
                          <m:r>
                            <a:rPr lang="en-US" sz="1100" i="1" dirty="0"/>
                            <m:t>C</m:t>
                          </m:r>
                        </m:sub>
                      </m:sSub>
                      <m:r>
                        <a:rPr lang="en-US" sz="1600" dirty="0"/>
                        <m:t>⋅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R</m:t>
                          </m:r>
                        </m:e>
                        <m:sub>
                          <m:r>
                            <a:rPr lang="en-US" sz="1100" i="1" dirty="0"/>
                            <m:t>L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r>
                        <a:rPr lang="en-US" sz="1600" dirty="0"/>
                        <m:t>0,036</m:t>
                      </m:r>
                      <m:r>
                        <a:rPr lang="en-US" sz="1600" dirty="0"/>
                        <m:t>⋅</m:t>
                      </m:r>
                      <m:r>
                        <a:rPr lang="en-US" sz="1600" dirty="0"/>
                        <m:t>100</m:t>
                      </m:r>
                      <m:r>
                        <a:rPr lang="en-US" sz="1600" dirty="0"/>
                        <m:t>=</m:t>
                      </m:r>
                    </m:oMath>
                  </m:oMathPara>
                </a14:m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3,60 V</a:t>
                </a:r>
                <a:endParaRPr lang="en-US" sz="1600" dirty="0"/>
              </a:p>
            </p:txBody>
          </p:sp>
        </mc:Choice>
        <mc:Fallback xmlns="">
          <p:sp>
            <p:nvSpPr>
              <p:cNvPr id="21" name="Text 19"/>
              <p:cNvSpPr/>
              <p:nvPr/>
            </p:nvSpPr>
            <p:spPr>
              <a:xfrm>
                <a:off x="1333500" y="46101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V_{DC} = I_{DC} \cdot R_L = 0{,}036 \cdot 100 = )</a:t>
                </a:r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3,60 V</a:t>
                </a:r>
                <a:endParaRPr lang="en-US" sz="1600" dirty="0"/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8445500" y="4191000"/>
            <a:ext cx="70485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7100" y="42545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7000" y="425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Effektivstrom I</a:t>
            </a:r>
            <a:pPr>
              <a:lnSpc>
                <a:spcPct val="100000"/>
              </a:lnSpc>
            </a:pPr>
            <a:r>
              <a:rPr lang="en-US" sz="1400" baseline="-40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9017000" y="46101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I</m:t>
                          </m:r>
                        </m:e>
                        <m:sub>
                          <m:r>
                            <a:rPr lang="en-US" sz="1100" i="1" dirty="0"/>
                            <m:t>r</m:t>
                          </m:r>
                          <m:r>
                            <a:rPr lang="en-US" sz="1100" i="1" dirty="0"/>
                            <m:t>m</m:t>
                          </m:r>
                          <m:r>
                            <a:rPr lang="en-US" sz="1100" i="1" dirty="0"/>
                            <m:t>s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en-US" sz="1100" dirty="0"/>
                            <m:t>2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113,2</m:t>
                          </m:r>
                        </m:num>
                        <m:den>
                          <m:r>
                            <a:rPr lang="en-US" sz="1100" dirty="0"/>
                            <m:t>2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</m:oMath>
                  </m:oMathPara>
                </a14:m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56,6 mA</a:t>
                </a:r>
                <a:endParaRPr lang="en-US" sz="1600" dirty="0"/>
              </a:p>
            </p:txBody>
          </p:sp>
        </mc:Choice>
        <mc:Fallback xmlns="">
          <p:sp>
            <p:nvSpPr>
              <p:cNvPr id="25" name="Text 23"/>
              <p:cNvSpPr/>
              <p:nvPr/>
            </p:nvSpPr>
            <p:spPr>
              <a:xfrm>
                <a:off x="9017000" y="46101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I_{rms} = \frac{I_m}{2} = \frac{113{,}2}{2} = )</a:t>
                </a:r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56,6 mA</a:t>
                </a:r>
                <a:endParaRPr lang="en-US" sz="1600" dirty="0"/>
              </a:p>
            </p:txBody>
          </p:sp>
        </mc:Fallback>
      </mc:AlternateContent>
      <p:sp>
        <p:nvSpPr>
          <p:cNvPr id="26" name="Shape 24"/>
          <p:cNvSpPr/>
          <p:nvPr/>
        </p:nvSpPr>
        <p:spPr>
          <a:xfrm>
            <a:off x="762000" y="5524500"/>
            <a:ext cx="14732000" cy="1270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56134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ERGEBNIS: GLEICHRICHTWIRKGRAD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6"/>
              <p:cNvSpPr/>
              <p:nvPr/>
            </p:nvSpPr>
            <p:spPr>
              <a:xfrm>
                <a:off x="1016000" y="5994400"/>
                <a:ext cx="889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η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P</m:t>
                              </m:r>
                            </m:e>
                            <m:sub>
                              <m:r>
                                <a:rPr lang="en-US" sz="800" i="1" dirty="0"/>
                                <m:t>D</m:t>
                              </m:r>
                              <m:r>
                                <a:rPr lang="en-US" sz="800" i="1" dirty="0"/>
                                <m:t>C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P</m:t>
                              </m:r>
                            </m:e>
                            <m:sub>
                              <m:r>
                                <a:rPr lang="en-US" sz="800" i="1" dirty="0"/>
                                <m:t>A</m:t>
                              </m:r>
                              <m:r>
                                <a:rPr lang="en-US" sz="800" i="1" dirty="0"/>
                                <m:t>C</m:t>
                              </m:r>
                            </m:sub>
                          </m:sSub>
                        </m:den>
                      </m:f>
                      <m:r>
                        <a:rPr lang="en-US" sz="1600" dirty="0"/>
                        <m:t>⋅</m:t>
                      </m:r>
                      <m:r>
                        <a:rPr lang="en-US" sz="1600" dirty="0"/>
                        <m:t>100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Sup>
                            <m:sSubSupPr>
                              <m:ctrlPr>
                                <a:rPr lang="en-US" sz="800" dirty="0"/>
                              </m:ctrlPr>
                            </m:sSubSup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D</m:t>
                              </m:r>
                              <m:r>
                                <a:rPr lang="en-US" sz="800" i="1" dirty="0"/>
                                <m:t>C</m:t>
                              </m:r>
                            </m:sub>
                            <m:sup>
                              <m:r>
                                <a:rPr lang="en-US" sz="800" dirty="0"/>
                                <m:t>2</m:t>
                              </m:r>
                            </m:sup>
                          </m:sSubSup>
                          <m:r>
                            <a:rPr lang="en-US" sz="1100" dirty="0"/>
                            <m:t>⋅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L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800" dirty="0"/>
                              </m:ctrlPr>
                            </m:sSubSup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r</m:t>
                              </m:r>
                              <m:r>
                                <a:rPr lang="en-US" sz="800" i="1" dirty="0"/>
                                <m:t>m</m:t>
                              </m:r>
                              <m:r>
                                <a:rPr lang="en-US" sz="800" i="1" dirty="0"/>
                                <m:t>s</m:t>
                              </m:r>
                            </m:sub>
                            <m:sup>
                              <m:r>
                                <a:rPr lang="en-US" sz="800" dirty="0"/>
                                <m:t>2</m:t>
                              </m:r>
                            </m:sup>
                          </m:sSubSup>
                          <m:r>
                            <a:rPr lang="en-US" sz="1100" dirty="0"/>
                            <m:t>⋅</m:t>
                          </m:r>
                          <m:r>
                            <a:rPr lang="en-US" sz="1100" dirty="0"/>
                            <m:t>(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D</m:t>
                              </m:r>
                            </m:sub>
                          </m:sSub>
                          <m:r>
                            <a:rPr lang="en-US" sz="1100" dirty="0"/>
                            <m:t>+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L</m:t>
                              </m:r>
                            </m:sub>
                          </m:sSub>
                          <m:r>
                            <a:rPr lang="en-US" sz="1100" dirty="0"/>
                            <m:t>)</m:t>
                          </m:r>
                        </m:den>
                      </m:f>
                      <m:r>
                        <a:rPr lang="en-US" sz="1600" dirty="0"/>
                        <m:t>⋅</m:t>
                      </m:r>
                      <m:r>
                        <a:rPr lang="en-US" sz="1600" dirty="0"/>
                        <m:t>100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0,1296</m:t>
                          </m:r>
                        </m:num>
                        <m:den>
                          <m:r>
                            <a:rPr lang="en-US" sz="1100" dirty="0"/>
                            <m:t>0,340</m:t>
                          </m:r>
                        </m:den>
                      </m:f>
                      <m:r>
                        <a:rPr lang="en-US" sz="1600" dirty="0"/>
                        <m:t>⋅</m:t>
                      </m:r>
                      <m:r>
                        <a:rPr lang="en-US" sz="1600" dirty="0"/>
                        <m:t>100</m:t>
                      </m:r>
                      <m:r>
                        <a:rPr lang="en-US" sz="1600" dirty="0"/>
                        <m:t>≈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E2E8F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FC8181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38,1%</a:t>
                </a:r>
                <a:endParaRPr lang="en-US" sz="1600" dirty="0"/>
              </a:p>
            </p:txBody>
          </p:sp>
        </mc:Choice>
        <mc:Fallback xmlns="">
          <p:sp>
            <p:nvSpPr>
              <p:cNvPr id="28" name="Text 26"/>
              <p:cNvSpPr/>
              <p:nvPr/>
            </p:nvSpPr>
            <p:spPr>
              <a:xfrm>
                <a:off x="1016000" y="5994400"/>
                <a:ext cx="889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E2E8F0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\eta = \frac{P_{DC}}{P_{AC}} \cdot 100 = \frac{I_{DC}^2 \cdot R_L}{I_{rms}^2 \cdot (R_D + R_L)} \cdot 100 = \frac{0{,}1296}{0{,}340} \cdot 100 \approx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E2E8F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FC8181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38,1%</a:t>
                </a:r>
                <a:endParaRPr lang="en-US" sz="1600" dirty="0"/>
              </a:p>
            </p:txBody>
          </p:sp>
        </mc:Fallback>
      </mc:AlternateContent>
      <p:sp>
        <p:nvSpPr>
          <p:cNvPr id="29" name="Text 27"/>
          <p:cNvSpPr/>
          <p:nvPr/>
        </p:nvSpPr>
        <p:spPr>
          <a:xfrm>
            <a:off x="10160000" y="5778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Nahe am theoretischen Maximum von 40,6%. Die restlichen ~60% gehen als Verlust verloren.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Brückengleichrichter - Funktionsweise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7366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Brückengleichrichter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(Graetz-Schaltung) verwendet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530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vier Dioden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Positive Halbwelle:</a:t>
            </a:r>
            <a:pPr>
              <a:lnSpc>
                <a:spcPct val="150000"/>
              </a:lnSpc>
              <a:spcBef>
                <a:spcPts val="500"/>
              </a:spcBef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D1 + D2 leiten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Negative Halbwelle: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D3 + D4 leiten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beiden Fällen fließt der Strom in </a:t>
            </a:r>
            <a:pPr>
              <a:lnSpc>
                <a:spcPct val="150000"/>
              </a:lnSpc>
              <a:spcBef>
                <a:spcPts val="500"/>
              </a:spcBef>
            </a:pPr>
            <a:r>
              <a:rPr lang="en-US" sz="16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gleicher Richtung</a:t>
            </a:r>
            <a:pPr>
              <a:lnSpc>
                <a:spcPct val="150000"/>
              </a:lnSpc>
              <a:spcBef>
                <a:spcPts val="500"/>
              </a:spcBef>
            </a:pPr>
            <a:r>
              <a:rPr lang="en-US" sz="16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durch die Last.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492500"/>
            <a:ext cx="6166547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42000" y="3683000"/>
            <a:ext cx="50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0" y="13335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Spannungsverläufe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0" y="1778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Eingang (AC)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10160000" y="1714500"/>
          <a:ext cx="5334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8636000" y="4720115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Ausgang (DC)</a:t>
            </a:r>
            <a:endParaRPr lang="en-US" sz="16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10160000" y="4656615"/>
          <a:ext cx="5334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264799" y="60325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Vorteile im Vergleich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4799" y="6477000"/>
          <a:ext cx="6858000" cy="24765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Kennwert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Brückengleichrichter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Mittelwert VDC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5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0,637 × Vpeak (doppelt so hoch!)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Wirkgrad (max.)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5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81,2 %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Brummfrequenz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 Hz (doppelte Netzfrequenz)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Vorteil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Beide Halbwellen genutzt, geringere Restwelligkeit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  <p:pic>
        <p:nvPicPr>
          <p:cNvPr id="16" name="Image 0" descr="https://kimi-img.moonshot.cn/pub/slides/26-05-27-20:33:29-d8be96e1bb2rg194hh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781" y="3594100"/>
            <a:ext cx="3276600" cy="24384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Brückengleichrichter - Berechnungsbeispiel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33500"/>
            <a:ext cx="50800" cy="889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716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GEGEBEN: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676400"/>
            <a:ext cx="1422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</a:t>
            </a:r>
            <a:pPr>
              <a:lnSpc>
                <a:spcPct val="100000"/>
              </a:lnSpc>
            </a:pPr>
            <a:r>
              <a:rPr lang="en-US" sz="1600" baseline="-40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12 V | R</a:t>
            </a:r>
            <a:pPr>
              <a:lnSpc>
                <a:spcPct val="100000"/>
              </a:lnSpc>
            </a:pPr>
            <a:r>
              <a:rPr lang="en-US" sz="1600" baseline="-40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100 Ω | R</a:t>
            </a:r>
            <a:pPr>
              <a:lnSpc>
                <a:spcPct val="100000"/>
              </a:lnSpc>
            </a:pPr>
            <a:r>
              <a:rPr lang="en-US" sz="1600" baseline="-400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6 Ω je Diode (2 Dioden in Serie)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47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Schritt-für-Schritt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2984500"/>
            <a:ext cx="70485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000" y="3048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3500" y="304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Scheitelstrom I</a:t>
            </a:r>
            <a:pPr>
              <a:lnSpc>
                <a:spcPct val="100000"/>
              </a:lnSpc>
            </a:pPr>
            <a:r>
              <a:rPr lang="en-US" sz="1400" baseline="-40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1333500" y="34036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I</m:t>
                          </m:r>
                        </m:e>
                        <m:sub>
                          <m:r>
                            <a:rPr lang="en-US" sz="1100" i="1" dirty="0"/>
                            <m:t>m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V</m:t>
                              </m:r>
                            </m:e>
                            <m:sub>
                              <m:r>
                                <a:rPr lang="en-US" sz="800" i="1" dirty="0"/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en-US" sz="1100" dirty="0"/>
                            <m:t>2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D</m:t>
                              </m:r>
                            </m:sub>
                          </m:sSub>
                          <m:r>
                            <a:rPr lang="en-US" sz="1100" dirty="0"/>
                            <m:t>+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L</m:t>
                              </m:r>
                            </m:sub>
                          </m:sSub>
                        </m:den>
                      </m:f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12</m:t>
                          </m:r>
                        </m:num>
                        <m:den>
                          <m:r>
                            <a:rPr lang="en-US" sz="1100" dirty="0"/>
                            <m:t>112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</m:oMath>
                  </m:oMathPara>
                </a14:m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107,1 mA</a:t>
                </a:r>
                <a:endParaRPr lang="en-US" sz="16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1333500" y="34036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I_m = \frac{V_m}{2R_D + R_L} = \frac{12}{112} = )</a:t>
                </a:r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107,1 mA</a:t>
                </a:r>
                <a:endParaRPr lang="en-US" sz="1600" dirty="0"/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8445500" y="2984500"/>
            <a:ext cx="70485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2500" y="3048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17000" y="304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DC-Strom I</a:t>
            </a:r>
            <a:pPr>
              <a:lnSpc>
                <a:spcPct val="100000"/>
              </a:lnSpc>
            </a:pPr>
            <a:r>
              <a:rPr lang="en-US" sz="1400" baseline="-40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DC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9017000" y="34036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I</m:t>
                          </m:r>
                        </m:e>
                        <m:sub>
                          <m:r>
                            <a:rPr lang="en-US" sz="1100" i="1" dirty="0"/>
                            <m:t>D</m:t>
                          </m:r>
                          <m:r>
                            <a:rPr lang="en-US" sz="1100" i="1" dirty="0"/>
                            <m:t>C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2</m:t>
                          </m:r>
                          <m:r>
                            <a:rPr lang="en-US" sz="1100" dirty="0"/>
                            <m:t>⋅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en-US" sz="1100" i="1" dirty="0"/>
                            <m:t>π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214,2</m:t>
                          </m:r>
                        </m:num>
                        <m:den>
                          <m:r>
                            <a:rPr lang="en-US" sz="1100" i="1" dirty="0"/>
                            <m:t>π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</m:oMath>
                  </m:oMathPara>
                </a14:m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68,2 mA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 15"/>
              <p:cNvSpPr/>
              <p:nvPr/>
            </p:nvSpPr>
            <p:spPr>
              <a:xfrm>
                <a:off x="9017000" y="34036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I_{DC} = \frac{2 \cdot I_m}{\pi} = \frac{214{,}2}{\pi} = )</a:t>
                </a:r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68,2 mA</a:t>
                </a:r>
                <a:endParaRPr lang="en-US" sz="1600" dirty="0"/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762000" y="4191000"/>
            <a:ext cx="70485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600" y="42545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" y="425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DC-Spannung V</a:t>
            </a:r>
            <a:pPr>
              <a:lnSpc>
                <a:spcPct val="100000"/>
              </a:lnSpc>
            </a:pPr>
            <a:r>
              <a:rPr lang="en-US" sz="1400" baseline="-40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DC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1333500" y="46101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V</m:t>
                          </m:r>
                        </m:e>
                        <m:sub>
                          <m:r>
                            <a:rPr lang="en-US" sz="1100" i="1" dirty="0"/>
                            <m:t>D</m:t>
                          </m:r>
                          <m:r>
                            <a:rPr lang="en-US" sz="1100" i="1" dirty="0"/>
                            <m:t>C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I</m:t>
                          </m:r>
                        </m:e>
                        <m:sub>
                          <m:r>
                            <a:rPr lang="en-US" sz="1100" i="1" dirty="0"/>
                            <m:t>D</m:t>
                          </m:r>
                          <m:r>
                            <a:rPr lang="en-US" sz="1100" i="1" dirty="0"/>
                            <m:t>C</m:t>
                          </m:r>
                        </m:sub>
                      </m:sSub>
                      <m:r>
                        <a:rPr lang="en-US" sz="1600" dirty="0"/>
                        <m:t>⋅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R</m:t>
                          </m:r>
                        </m:e>
                        <m:sub>
                          <m:r>
                            <a:rPr lang="en-US" sz="1100" i="1" dirty="0"/>
                            <m:t>L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r>
                        <a:rPr lang="en-US" sz="1600" dirty="0"/>
                        <m:t>0,0682</m:t>
                      </m:r>
                      <m:r>
                        <a:rPr lang="en-US" sz="1600" dirty="0"/>
                        <m:t>⋅</m:t>
                      </m:r>
                      <m:r>
                        <a:rPr lang="en-US" sz="1600" dirty="0"/>
                        <m:t>100</m:t>
                      </m:r>
                      <m:r>
                        <a:rPr lang="en-US" sz="1600" dirty="0"/>
                        <m:t>=</m:t>
                      </m:r>
                    </m:oMath>
                  </m:oMathPara>
                </a14:m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6,82 V</a:t>
                </a:r>
                <a:endParaRPr lang="en-US" sz="1600" dirty="0"/>
              </a:p>
            </p:txBody>
          </p:sp>
        </mc:Choice>
        <mc:Fallback xmlns="">
          <p:sp>
            <p:nvSpPr>
              <p:cNvPr id="21" name="Text 19"/>
              <p:cNvSpPr/>
              <p:nvPr/>
            </p:nvSpPr>
            <p:spPr>
              <a:xfrm>
                <a:off x="1333500" y="46101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V_{DC} = I_{DC} \cdot R_L = 0{,}0682 \cdot 100 = )</a:t>
                </a:r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6,82 V</a:t>
                </a:r>
                <a:endParaRPr lang="en-US" sz="1600" dirty="0"/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8445500" y="4191000"/>
            <a:ext cx="70485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7100" y="42545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7000" y="425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Effektivstrom I</a:t>
            </a:r>
            <a:pPr>
              <a:lnSpc>
                <a:spcPct val="100000"/>
              </a:lnSpc>
            </a:pPr>
            <a:r>
              <a:rPr lang="en-US" sz="1400" baseline="-40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9017000" y="46101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I</m:t>
                          </m:r>
                        </m:e>
                        <m:sub>
                          <m:r>
                            <a:rPr lang="en-US" sz="1100" i="1" dirty="0"/>
                            <m:t>r</m:t>
                          </m:r>
                          <m:r>
                            <a:rPr lang="en-US" sz="1100" i="1" dirty="0"/>
                            <m:t>m</m:t>
                          </m:r>
                          <m:r>
                            <a:rPr lang="en-US" sz="1100" i="1" dirty="0"/>
                            <m:t>s</m:t>
                          </m:r>
                        </m:sub>
                      </m:sSub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m</m:t>
                              </m:r>
                            </m:sub>
                          </m:sSub>
                        </m:num>
                        <m:den>
                          <m:rad>
                            <m:deg/>
                            <m:e>
                              <m:r>
                                <a:rPr lang="en-US" sz="800" dirty="0"/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107,1</m:t>
                          </m:r>
                        </m:num>
                        <m:den>
                          <m:r>
                            <a:rPr lang="en-US" sz="1100" dirty="0"/>
                            <m:t>1,414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</m:oMath>
                  </m:oMathPara>
                </a14:m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75,7 mA</a:t>
                </a:r>
                <a:endParaRPr lang="en-US" sz="1600" dirty="0"/>
              </a:p>
            </p:txBody>
          </p:sp>
        </mc:Choice>
        <mc:Fallback xmlns="">
          <p:sp>
            <p:nvSpPr>
              <p:cNvPr id="25" name="Text 23"/>
              <p:cNvSpPr/>
              <p:nvPr/>
            </p:nvSpPr>
            <p:spPr>
              <a:xfrm>
                <a:off x="9017000" y="4610100"/>
                <a:ext cx="6223000" cy="482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I_{rms} = \frac{I_m}{\sqrt{2}} = \frac{107{,}1}{1{,}414} = )</a:t>
                </a:r>
                <a:pPr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4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75,7 mA</a:t>
                </a:r>
                <a:endParaRPr lang="en-US" sz="1600" dirty="0"/>
              </a:p>
            </p:txBody>
          </p:sp>
        </mc:Fallback>
      </mc:AlternateContent>
      <p:sp>
        <p:nvSpPr>
          <p:cNvPr id="26" name="Shape 24"/>
          <p:cNvSpPr/>
          <p:nvPr/>
        </p:nvSpPr>
        <p:spPr>
          <a:xfrm>
            <a:off x="762000" y="5524500"/>
            <a:ext cx="14732000" cy="1270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56134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ERGEBNIS: GLEICHRICHTWIRKGRAD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6"/>
              <p:cNvSpPr/>
              <p:nvPr/>
            </p:nvSpPr>
            <p:spPr>
              <a:xfrm>
                <a:off x="1016000" y="5994400"/>
                <a:ext cx="889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η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P</m:t>
                              </m:r>
                            </m:e>
                            <m:sub>
                              <m:r>
                                <a:rPr lang="en-US" sz="800" i="1" dirty="0"/>
                                <m:t>D</m:t>
                              </m:r>
                              <m:r>
                                <a:rPr lang="en-US" sz="800" i="1" dirty="0"/>
                                <m:t>C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P</m:t>
                              </m:r>
                            </m:e>
                            <m:sub>
                              <m:r>
                                <a:rPr lang="en-US" sz="800" i="1" dirty="0"/>
                                <m:t>A</m:t>
                              </m:r>
                              <m:r>
                                <a:rPr lang="en-US" sz="800" i="1" dirty="0"/>
                                <m:t>C</m:t>
                              </m:r>
                            </m:sub>
                          </m:sSub>
                        </m:den>
                      </m:f>
                      <m:r>
                        <a:rPr lang="en-US" sz="1600" dirty="0"/>
                        <m:t>⋅</m:t>
                      </m:r>
                      <m:r>
                        <a:rPr lang="en-US" sz="1600" dirty="0"/>
                        <m:t>100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Sup>
                            <m:sSubSupPr>
                              <m:ctrlPr>
                                <a:rPr lang="en-US" sz="800" dirty="0"/>
                              </m:ctrlPr>
                            </m:sSubSup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D</m:t>
                              </m:r>
                              <m:r>
                                <a:rPr lang="en-US" sz="800" i="1" dirty="0"/>
                                <m:t>C</m:t>
                              </m:r>
                            </m:sub>
                            <m:sup>
                              <m:r>
                                <a:rPr lang="en-US" sz="800" dirty="0"/>
                                <m:t>2</m:t>
                              </m:r>
                            </m:sup>
                          </m:sSubSup>
                          <m:r>
                            <a:rPr lang="en-US" sz="1100" dirty="0"/>
                            <m:t>⋅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L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800" dirty="0"/>
                              </m:ctrlPr>
                            </m:sSubSup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r</m:t>
                              </m:r>
                              <m:r>
                                <a:rPr lang="en-US" sz="800" i="1" dirty="0"/>
                                <m:t>m</m:t>
                              </m:r>
                              <m:r>
                                <a:rPr lang="en-US" sz="800" i="1" dirty="0"/>
                                <m:t>s</m:t>
                              </m:r>
                            </m:sub>
                            <m:sup>
                              <m:r>
                                <a:rPr lang="en-US" sz="800" dirty="0"/>
                                <m:t>2</m:t>
                              </m:r>
                            </m:sup>
                          </m:sSubSup>
                          <m:r>
                            <a:rPr lang="en-US" sz="1100" dirty="0"/>
                            <m:t>⋅</m:t>
                          </m:r>
                          <m:r>
                            <a:rPr lang="en-US" sz="1100" dirty="0"/>
                            <m:t>(</m:t>
                          </m:r>
                          <m:r>
                            <a:rPr lang="en-US" sz="1100" dirty="0"/>
                            <m:t>2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D</m:t>
                              </m:r>
                            </m:sub>
                          </m:sSub>
                          <m:r>
                            <a:rPr lang="en-US" sz="1100" dirty="0"/>
                            <m:t>+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R</m:t>
                              </m:r>
                            </m:e>
                            <m:sub>
                              <m:r>
                                <a:rPr lang="en-US" sz="800" i="1" dirty="0"/>
                                <m:t>L</m:t>
                              </m:r>
                            </m:sub>
                          </m:sSub>
                          <m:r>
                            <a:rPr lang="en-US" sz="1100" dirty="0"/>
                            <m:t>)</m:t>
                          </m:r>
                        </m:den>
                      </m:f>
                      <m:r>
                        <a:rPr lang="en-US" sz="1600" dirty="0"/>
                        <m:t>⋅</m:t>
                      </m:r>
                      <m:r>
                        <a:rPr lang="en-US" sz="1600" dirty="0"/>
                        <m:t>100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0,465</m:t>
                          </m:r>
                        </m:num>
                        <m:den>
                          <m:r>
                            <a:rPr lang="en-US" sz="1100" dirty="0"/>
                            <m:t>0,643</m:t>
                          </m:r>
                        </m:den>
                      </m:f>
                      <m:r>
                        <a:rPr lang="en-US" sz="1600" dirty="0"/>
                        <m:t>⋅</m:t>
                      </m:r>
                      <m:r>
                        <a:rPr lang="en-US" sz="1600" dirty="0"/>
                        <m:t>100</m:t>
                      </m:r>
                      <m:r>
                        <a:rPr lang="en-US" sz="1600" dirty="0"/>
                        <m:t>≈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E2E8F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FC8181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72,3%</a:t>
                </a:r>
                <a:endParaRPr lang="en-US" sz="1600" dirty="0"/>
              </a:p>
            </p:txBody>
          </p:sp>
        </mc:Choice>
        <mc:Fallback xmlns="">
          <p:sp>
            <p:nvSpPr>
              <p:cNvPr id="28" name="Text 26"/>
              <p:cNvSpPr/>
              <p:nvPr/>
            </p:nvSpPr>
            <p:spPr>
              <a:xfrm>
                <a:off x="1016000" y="5994400"/>
                <a:ext cx="8890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E2E8F0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\eta = \frac{P_{DC}}{P_{AC}} \cdot 100 = \frac{I_{DC}^2 \cdot R_L}{I_{rms}^2 \cdot (2R_D + R_L)} \cdot 100 = \frac{0{,}465}{0{,}643} \cdot 100 \approx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E2E8F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FC8181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72,3%</a:t>
                </a:r>
                <a:endParaRPr lang="en-US" sz="1600" dirty="0"/>
              </a:p>
            </p:txBody>
          </p:sp>
        </mc:Fallback>
      </mc:AlternateContent>
      <p:sp>
        <p:nvSpPr>
          <p:cNvPr id="29" name="Text 27"/>
          <p:cNvSpPr/>
          <p:nvPr/>
        </p:nvSpPr>
        <p:spPr>
          <a:xfrm>
            <a:off x="10160000" y="5778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doppelter Wirkgrad und fast doppelte DC-Spannung gegenüber dem Einweggleichrichter!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7048500"/>
            <a:ext cx="14732000" cy="762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7048500"/>
            <a:ext cx="50800" cy="762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7112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Vergleich: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Einweg: 3,60 V bei 38,1% Wirkgrad | Brücke: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C530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6,82 V bei 72,3% Wirkgrad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DC-Spannung fast verdoppelt, Verluste halbiert!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Glättung und Filterung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Die gleichgerichtete Spannung ist noch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pulsierend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A20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Für stabile DC-Versorgung muss sie geglättet werden. Drei Methoden im Vergleich: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222500"/>
            <a:ext cx="4699000" cy="508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00" y="2476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9" name="Text 7"/>
          <p:cNvSpPr/>
          <p:nvPr/>
        </p:nvSpPr>
        <p:spPr>
          <a:xfrm>
            <a:off x="1549400" y="2476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Kondensator-Glättung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016000" y="3048000"/>
                <a:ext cx="4191000" cy="228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5000"/>
                  </a:lnSpc>
                </a:pPr>
                <a:r>
                  <a:rPr lang="en-US" sz="14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Elektrolytkondensator parallel zur Last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4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Wird auf Spitzenspannung geladen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4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Entlädt sich langsam über die Last</a:t>
                </a:r>
                <a:endParaRPr lang="en-US" sz="1600" dirty="0"/>
              </a:p>
              <a:p>
                <a:pPr>
                  <a:lnSpc>
                    <a:spcPct val="155000"/>
                  </a:lnSpc>
                  <a:spcBef>
                    <a:spcPts val="800"/>
                  </a:spcBef>
                </a:pPr>
                <a:r>
                  <a:rPr lang="en-US" sz="1400" b="1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Formel:</a:t>
                </a:r>
                <a:endParaRPr lang="en-US" sz="1600" dirty="0"/>
              </a:p>
              <a:p>
                <a:pPr algn="l">
                  <a:lnSpc>
                    <a:spcPct val="15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dirty="0"/>
                        <m:t>Δ</m:t>
                      </m:r>
                      <m:r>
                        <a:rPr lang="en-US" sz="1600" i="1" dirty="0"/>
                        <m:t>U</m:t>
                      </m:r>
                      <m:r>
                        <a:rPr lang="en-US" sz="1600" dirty="0"/>
                        <m:t>≈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L</m:t>
                              </m:r>
                              <m:r>
                                <a:rPr lang="en-US" sz="800" i="1" dirty="0"/>
                                <m:t>a</m:t>
                              </m:r>
                              <m:r>
                                <a:rPr lang="en-US" sz="800" i="1" dirty="0"/>
                                <m:t>s</m:t>
                              </m:r>
                              <m:r>
                                <a:rPr lang="en-US" sz="800" i="1" dirty="0"/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a:rPr lang="en-US" sz="1100" i="1" dirty="0"/>
                            <m:t>f</m:t>
                          </m:r>
                          <m:r>
                            <a:rPr lang="en-US" sz="1100" dirty="0"/>
                            <m:t>⋅</m:t>
                          </m:r>
                          <m:r>
                            <a:rPr lang="en-US" sz="1100" i="1" dirty="0"/>
                            <m:t>C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55000"/>
                  </a:lnSpc>
                  <a:spcBef>
                    <a:spcPts val="600"/>
                  </a:spcBef>
                </a:pPr>
                <a:r>
                  <a:rPr lang="en-US" sz="1400" b="1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Faustregel: 1000 µF pro Ampere</a:t>
                </a:r>
                <a:endParaRPr lang="en-US" sz="16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1016000" y="3048000"/>
                <a:ext cx="4191000" cy="228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5000"/>
                  </a:lnSpc>
                </a:pPr>
                <a:r>
                  <a:rPr lang="en-US" sz="14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Elektrolytkondensator parallel zur Last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4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Wird auf Spitzenspannung geladen</a:t>
                </a:r>
                <a:endParaRPr lang="en-US" sz="1600" dirty="0"/>
              </a:p>
              <a:p>
                <a:pPr>
                  <a:lnSpc>
                    <a:spcPct val="155000"/>
                  </a:lnSpc>
                </a:pPr>
                <a:r>
                  <a:rPr lang="en-US" sz="14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• Entlädt sich langsam über die Last</a:t>
                </a:r>
                <a:endParaRPr lang="en-US" sz="1600" dirty="0"/>
              </a:p>
              <a:p>
                <a:pPr>
                  <a:lnSpc>
                    <a:spcPct val="155000"/>
                  </a:lnSpc>
                  <a:spcBef>
                    <a:spcPts val="800"/>
                  </a:spcBef>
                </a:pPr>
                <a:r>
                  <a:rPr lang="en-US" sz="1400" b="1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Formel:</a:t>
                </a:r>
                <a:endParaRPr lang="en-US" sz="1600" dirty="0"/>
              </a:p>
              <a:p>
                <a:pPr algn="l">
                  <a:lnSpc>
                    <a:spcPct val="155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\Delta U \approx \frac{I_{Last}}{f \cdot C} )</a:t>
                </a:r>
                <a:endParaRPr lang="en-US" sz="1600" dirty="0"/>
              </a:p>
              <a:p>
                <a:pPr>
                  <a:lnSpc>
                    <a:spcPct val="155000"/>
                  </a:lnSpc>
                  <a:spcBef>
                    <a:spcPts val="600"/>
                  </a:spcBef>
                </a:pPr>
                <a:r>
                  <a:rPr lang="en-US" sz="1400" b="1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Faustregel: 1000 µF pro Ampere</a:t>
                </a:r>
                <a:endParaRPr lang="en-US" sz="1600" dirty="0"/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778500" y="22225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8500" y="2222500"/>
            <a:ext cx="4699000" cy="508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38A169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900" y="2476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Pi-Filter (π-Filter)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048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Zwei Kondensatoren + Drossel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C1 gleicht erste Spannungsspitzen aus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Drossel bremst Wechselstromanteile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C2 filtert verbleibende Restwelligkeit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Deutlich bessere Filterung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 Kondensator allein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22225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0" y="2222500"/>
            <a:ext cx="4699000" cy="5080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805AD5"/>
          </a:solidFill>
          <a:ln/>
        </p:spPr>
      </p:sp>
      <p:sp>
        <p:nvSpPr>
          <p:cNvPr id="19" name="Text 17"/>
          <p:cNvSpPr/>
          <p:nvPr/>
        </p:nvSpPr>
        <p:spPr>
          <a:xfrm>
            <a:off x="11582400" y="2476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Spannungsregler-IC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3048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z.B. LM7812 für 12V Ausgang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Konstante Spannung trotz Schwankungen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Reduziert Ripple um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70 dB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Einfache Beschaltung mit C_in und C_out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Beste Lösung für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präzise DC-Versorgungen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842000"/>
            <a:ext cx="50800" cy="1270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943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BEISPIEL-RECHNUNG: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1016000" y="6223000"/>
                <a:ext cx="14224000" cy="787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Brückengleichrichter mit 1A Last, 100Hz Brummfrequenz, 1000µF Kondensator:</a:t>
                </a:r>
                <a:endParaRPr lang="en-US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dirty="0"/>
                        <m:t>Δ</m:t>
                      </m:r>
                      <m:r>
                        <a:rPr lang="en-US" sz="1600" i="1" dirty="0"/>
                        <m:t>U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I</m:t>
                              </m:r>
                            </m:e>
                            <m:sub>
                              <m:r>
                                <a:rPr lang="en-US" sz="800" i="1" dirty="0"/>
                                <m:t>L</m:t>
                              </m:r>
                              <m:r>
                                <a:rPr lang="en-US" sz="800" i="1" dirty="0"/>
                                <m:t>a</m:t>
                              </m:r>
                              <m:r>
                                <a:rPr lang="en-US" sz="800" i="1" dirty="0"/>
                                <m:t>s</m:t>
                              </m:r>
                              <m:r>
                                <a:rPr lang="en-US" sz="800" i="1" dirty="0"/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a:rPr lang="en-US" sz="1100" i="1" dirty="0"/>
                            <m:t>f</m:t>
                          </m:r>
                          <m:r>
                            <a:rPr lang="en-US" sz="1100" dirty="0"/>
                            <m:t>⋅</m:t>
                          </m:r>
                          <m:r>
                            <a:rPr lang="en-US" sz="1100" i="1" dirty="0"/>
                            <m:t>C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</m:t>
                          </m:r>
                        </m:num>
                        <m:den>
                          <m:r>
                            <a:rPr lang="en-US" sz="1100" dirty="0"/>
                            <m:t>100</m:t>
                          </m:r>
                          <m:r>
                            <a:rPr lang="en-US" sz="1100" dirty="0"/>
                            <m:t>⋅</m:t>
                          </m:r>
                          <m:r>
                            <a:rPr lang="en-US" sz="1100" dirty="0"/>
                            <m:t>0,001</m:t>
                          </m:r>
                        </m:den>
                      </m:f>
                      <m:r>
                        <a:rPr lang="en-US" sz="1600" dirty="0"/>
                        <m:t>=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10 V Restwelligung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Bei 12V DC sind das noch 83% Ripple! Lösung: Größerer C oder Spannungsregler.</a:t>
                </a:r>
                <a:endParaRPr lang="en-US" sz="1600" dirty="0"/>
              </a:p>
            </p:txBody>
          </p:sp>
        </mc:Choice>
        <mc:Fallback xmlns="">
          <p:sp>
            <p:nvSpPr>
              <p:cNvPr id="24" name="Text 22"/>
              <p:cNvSpPr/>
              <p:nvPr/>
            </p:nvSpPr>
            <p:spPr>
              <a:xfrm>
                <a:off x="1016000" y="6223000"/>
                <a:ext cx="14224000" cy="787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Brückengleichrichter mit 1A Last, 100Hz Brummfrequenz, 1000µF Kondensator:</a:t>
                </a:r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\Delta U = \frac{I_{Last}}{f \cdot C} = \frac{1}{100 \cdot 0{,}001} = )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C53030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10 V Restwelligung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A202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→ Bei 12V DC sind das noch 83% Ripple! Lösung: Größerer C oder Spannungsregler.</a:t>
                </a:r>
                <a:endParaRPr lang="en-US" sz="1600" dirty="0"/>
              </a:p>
            </p:txBody>
          </p:sp>
        </mc:Fallback>
      </mc:AlternateContent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6502400" y="0"/>
            <a:ext cx="63500" cy="9144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530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KAPITEL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0" y="3302000"/>
            <a:ext cx="825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Anwendungen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39000" y="4064000"/>
            <a:ext cx="825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 werden Gleichrichter überall eingesetzt?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Anwendungen von Gleichrichtern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1400" y="1587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-25400"/>
                </a:moveTo>
                <a:cubicBezTo>
                  <a:pt x="115649" y="-25400"/>
                  <a:pt x="127000" y="-14049"/>
                  <a:pt x="127000" y="0"/>
                </a:cubicBezTo>
                <a:lnTo>
                  <a:pt x="127000" y="76200"/>
                </a:lnTo>
                <a:lnTo>
                  <a:pt x="228600" y="76200"/>
                </a:lnTo>
                <a:lnTo>
                  <a:pt x="228600" y="0"/>
                </a:lnTo>
                <a:cubicBezTo>
                  <a:pt x="228600" y="-14049"/>
                  <a:pt x="239951" y="-25400"/>
                  <a:pt x="254000" y="-25400"/>
                </a:cubicBezTo>
                <a:cubicBezTo>
                  <a:pt x="268049" y="-25400"/>
                  <a:pt x="279400" y="-14049"/>
                  <a:pt x="279400" y="0"/>
                </a:cubicBezTo>
                <a:lnTo>
                  <a:pt x="279400" y="76200"/>
                </a:ln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cubicBezTo>
                  <a:pt x="355600" y="115649"/>
                  <a:pt x="344249" y="127000"/>
                  <a:pt x="330200" y="127000"/>
                </a:cubicBezTo>
                <a:lnTo>
                  <a:pt x="330200" y="177800"/>
                </a:lnTo>
                <a:cubicBezTo>
                  <a:pt x="330200" y="253286"/>
                  <a:pt x="275273" y="315992"/>
                  <a:pt x="203200" y="328057"/>
                </a:cubicBezTo>
                <a:lnTo>
                  <a:pt x="203200" y="381000"/>
                </a:lnTo>
                <a:cubicBezTo>
                  <a:pt x="203200" y="395049"/>
                  <a:pt x="191849" y="406400"/>
                  <a:pt x="177800" y="406400"/>
                </a:cubicBezTo>
                <a:cubicBezTo>
                  <a:pt x="163751" y="406400"/>
                  <a:pt x="152400" y="395049"/>
                  <a:pt x="152400" y="381000"/>
                </a:cubicBezTo>
                <a:lnTo>
                  <a:pt x="152400" y="328057"/>
                </a:lnTo>
                <a:cubicBezTo>
                  <a:pt x="80328" y="315992"/>
                  <a:pt x="25400" y="253286"/>
                  <a:pt x="25400" y="1778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lnTo>
                  <a:pt x="76200" y="0"/>
                </a:lnTo>
                <a:cubicBezTo>
                  <a:pt x="76200" y="-14049"/>
                  <a:pt x="87551" y="-25400"/>
                  <a:pt x="101600" y="-25400"/>
                </a:cubicBezTo>
                <a:close/>
              </a:path>
            </a:pathLst>
          </a:cu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1587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Netzteile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955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Computer, Laptops, Router: Umwandlung von 230V AC auf 5V/12V/19V DC. Jeder PC benötigt ein Netzteil mit Brückengleichrichter.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397000"/>
            <a:ext cx="469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1700" y="1587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419100" y="101600"/>
                </a:moveTo>
                <a:cubicBezTo>
                  <a:pt x="426085" y="101600"/>
                  <a:pt x="431800" y="107315"/>
                  <a:pt x="431800" y="114300"/>
                </a:cubicBezTo>
                <a:lnTo>
                  <a:pt x="431800" y="292100"/>
                </a:lnTo>
                <a:cubicBezTo>
                  <a:pt x="431800" y="299085"/>
                  <a:pt x="426085" y="304800"/>
                  <a:pt x="419100" y="304800"/>
                </a:cubicBezTo>
                <a:lnTo>
                  <a:pt x="88900" y="304800"/>
                </a:lnTo>
                <a:cubicBezTo>
                  <a:pt x="81915" y="304800"/>
                  <a:pt x="76200" y="299085"/>
                  <a:pt x="76200" y="292100"/>
                </a:cubicBezTo>
                <a:lnTo>
                  <a:pt x="76200" y="114300"/>
                </a:lnTo>
                <a:cubicBezTo>
                  <a:pt x="76200" y="107315"/>
                  <a:pt x="81915" y="101600"/>
                  <a:pt x="88900" y="101600"/>
                </a:cubicBezTo>
                <a:lnTo>
                  <a:pt x="419100" y="101600"/>
                </a:lnTo>
                <a:close/>
                <a:moveTo>
                  <a:pt x="88900" y="50800"/>
                </a:moveTo>
                <a:cubicBezTo>
                  <a:pt x="53816" y="50800"/>
                  <a:pt x="25400" y="79216"/>
                  <a:pt x="25400" y="114300"/>
                </a:cubicBezTo>
                <a:lnTo>
                  <a:pt x="25400" y="292100"/>
                </a:lnTo>
                <a:cubicBezTo>
                  <a:pt x="25400" y="327184"/>
                  <a:pt x="53816" y="355600"/>
                  <a:pt x="88900" y="355600"/>
                </a:cubicBezTo>
                <a:lnTo>
                  <a:pt x="419100" y="355600"/>
                </a:lnTo>
                <a:cubicBezTo>
                  <a:pt x="454184" y="355600"/>
                  <a:pt x="482600" y="327184"/>
                  <a:pt x="482600" y="292100"/>
                </a:cubicBezTo>
                <a:lnTo>
                  <a:pt x="482600" y="254000"/>
                </a:lnTo>
                <a:cubicBezTo>
                  <a:pt x="496649" y="254000"/>
                  <a:pt x="508000" y="242649"/>
                  <a:pt x="508000" y="2286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lnTo>
                  <a:pt x="482600" y="114300"/>
                </a:lnTo>
                <a:cubicBezTo>
                  <a:pt x="482600" y="79216"/>
                  <a:pt x="454184" y="50800"/>
                  <a:pt x="419100" y="50800"/>
                </a:cubicBezTo>
                <a:lnTo>
                  <a:pt x="88900" y="50800"/>
                </a:lnTo>
                <a:close/>
                <a:moveTo>
                  <a:pt x="133350" y="139700"/>
                </a:moveTo>
                <a:cubicBezTo>
                  <a:pt x="122793" y="139700"/>
                  <a:pt x="114300" y="148193"/>
                  <a:pt x="114300" y="158750"/>
                </a:cubicBezTo>
                <a:lnTo>
                  <a:pt x="114300" y="247650"/>
                </a:lnTo>
                <a:cubicBezTo>
                  <a:pt x="114300" y="258207"/>
                  <a:pt x="122793" y="266700"/>
                  <a:pt x="133350" y="266700"/>
                </a:cubicBezTo>
                <a:lnTo>
                  <a:pt x="374650" y="266700"/>
                </a:lnTo>
                <a:cubicBezTo>
                  <a:pt x="385207" y="266700"/>
                  <a:pt x="393700" y="258207"/>
                  <a:pt x="393700" y="247650"/>
                </a:cubicBezTo>
                <a:lnTo>
                  <a:pt x="393700" y="158750"/>
                </a:lnTo>
                <a:cubicBezTo>
                  <a:pt x="393700" y="148193"/>
                  <a:pt x="385207" y="139700"/>
                  <a:pt x="374650" y="139700"/>
                </a:cubicBezTo>
                <a:lnTo>
                  <a:pt x="133350" y="139700"/>
                </a:lnTo>
                <a:close/>
              </a:path>
            </a:pathLst>
          </a:custGeom>
          <a:solidFill>
            <a:srgbClr val="38A169"/>
          </a:solidFill>
          <a:ln/>
        </p:spPr>
      </p:sp>
      <p:sp>
        <p:nvSpPr>
          <p:cNvPr id="11" name="Text 9"/>
          <p:cNvSpPr/>
          <p:nvPr/>
        </p:nvSpPr>
        <p:spPr>
          <a:xfrm>
            <a:off x="6565900" y="1587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Ladegeräte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0955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Smartphones, Tablets, E-Autos: AC wird in DC umgewandelt, um Batterien zu laden. Vom USB-Ladegerät bis zur Wallbox.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397000"/>
            <a:ext cx="469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49000" y="158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11351" y="25400"/>
                  <a:pt x="0" y="36751"/>
                  <a:pt x="0" y="508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120809"/>
                </a:lnTo>
                <a:cubicBezTo>
                  <a:pt x="406400" y="106363"/>
                  <a:pt x="391001" y="97234"/>
                  <a:pt x="378301" y="104061"/>
                </a:cubicBezTo>
                <a:lnTo>
                  <a:pt x="254000" y="170974"/>
                </a:lnTo>
                <a:lnTo>
                  <a:pt x="254000" y="120809"/>
                </a:lnTo>
                <a:cubicBezTo>
                  <a:pt x="254000" y="106363"/>
                  <a:pt x="238601" y="97234"/>
                  <a:pt x="225901" y="104061"/>
                </a:cubicBezTo>
                <a:lnTo>
                  <a:pt x="101600" y="170974"/>
                </a:lnTo>
                <a:lnTo>
                  <a:pt x="101600" y="50800"/>
                </a:lnTo>
                <a:cubicBezTo>
                  <a:pt x="101600" y="36751"/>
                  <a:pt x="90249" y="25400"/>
                  <a:pt x="76200" y="25400"/>
                </a:cubicBezTo>
                <a:lnTo>
                  <a:pt x="25400" y="25400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5" name="Text 13"/>
          <p:cNvSpPr/>
          <p:nvPr/>
        </p:nvSpPr>
        <p:spPr>
          <a:xfrm>
            <a:off x="11582400" y="1587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Industrielle DC-Versorgung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0955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Umspannwerke, Steuerungen, Schutzrelais: Zuverlässige 24V/48V/110V DC für kritische Infrastruktur und Industrieanlagen.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873500"/>
            <a:ext cx="469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200" y="4064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30121" y="167084"/>
                </a:moveTo>
                <a:cubicBezTo>
                  <a:pt x="339804" y="164465"/>
                  <a:pt x="349964" y="169069"/>
                  <a:pt x="354330" y="178038"/>
                </a:cubicBezTo>
                <a:lnTo>
                  <a:pt x="369094" y="207883"/>
                </a:lnTo>
                <a:cubicBezTo>
                  <a:pt x="377269" y="208994"/>
                  <a:pt x="385286" y="211217"/>
                  <a:pt x="392827" y="214313"/>
                </a:cubicBezTo>
                <a:lnTo>
                  <a:pt x="420608" y="195818"/>
                </a:lnTo>
                <a:cubicBezTo>
                  <a:pt x="428943" y="190262"/>
                  <a:pt x="439976" y="191373"/>
                  <a:pt x="447040" y="198438"/>
                </a:cubicBezTo>
                <a:lnTo>
                  <a:pt x="462280" y="213678"/>
                </a:lnTo>
                <a:cubicBezTo>
                  <a:pt x="469344" y="220742"/>
                  <a:pt x="470456" y="231854"/>
                  <a:pt x="464899" y="240109"/>
                </a:cubicBezTo>
                <a:lnTo>
                  <a:pt x="446405" y="267811"/>
                </a:lnTo>
                <a:cubicBezTo>
                  <a:pt x="447913" y="271542"/>
                  <a:pt x="449263" y="275431"/>
                  <a:pt x="450374" y="279479"/>
                </a:cubicBezTo>
                <a:cubicBezTo>
                  <a:pt x="451485" y="283528"/>
                  <a:pt x="452199" y="287496"/>
                  <a:pt x="452755" y="291544"/>
                </a:cubicBezTo>
                <a:lnTo>
                  <a:pt x="482679" y="306308"/>
                </a:lnTo>
                <a:cubicBezTo>
                  <a:pt x="491649" y="310753"/>
                  <a:pt x="496253" y="320913"/>
                  <a:pt x="493633" y="330518"/>
                </a:cubicBezTo>
                <a:lnTo>
                  <a:pt x="488077" y="351314"/>
                </a:lnTo>
                <a:cubicBezTo>
                  <a:pt x="485458" y="360918"/>
                  <a:pt x="476488" y="367427"/>
                  <a:pt x="466487" y="366792"/>
                </a:cubicBezTo>
                <a:lnTo>
                  <a:pt x="433149" y="364649"/>
                </a:lnTo>
                <a:cubicBezTo>
                  <a:pt x="428149" y="371078"/>
                  <a:pt x="422354" y="377031"/>
                  <a:pt x="415766" y="382111"/>
                </a:cubicBezTo>
                <a:lnTo>
                  <a:pt x="417909" y="415369"/>
                </a:lnTo>
                <a:cubicBezTo>
                  <a:pt x="418544" y="425371"/>
                  <a:pt x="412036" y="434419"/>
                  <a:pt x="402431" y="436959"/>
                </a:cubicBezTo>
                <a:lnTo>
                  <a:pt x="381635" y="442516"/>
                </a:lnTo>
                <a:cubicBezTo>
                  <a:pt x="371951" y="445135"/>
                  <a:pt x="361871" y="440531"/>
                  <a:pt x="357426" y="431562"/>
                </a:cubicBezTo>
                <a:lnTo>
                  <a:pt x="342662" y="401717"/>
                </a:lnTo>
                <a:cubicBezTo>
                  <a:pt x="334486" y="400606"/>
                  <a:pt x="326469" y="398383"/>
                  <a:pt x="318929" y="395288"/>
                </a:cubicBezTo>
                <a:lnTo>
                  <a:pt x="291148" y="413782"/>
                </a:lnTo>
                <a:cubicBezTo>
                  <a:pt x="282813" y="419338"/>
                  <a:pt x="271780" y="418227"/>
                  <a:pt x="264716" y="411163"/>
                </a:cubicBezTo>
                <a:lnTo>
                  <a:pt x="249476" y="395923"/>
                </a:lnTo>
                <a:cubicBezTo>
                  <a:pt x="242411" y="388858"/>
                  <a:pt x="241300" y="377825"/>
                  <a:pt x="246856" y="369491"/>
                </a:cubicBezTo>
                <a:lnTo>
                  <a:pt x="265351" y="341709"/>
                </a:lnTo>
                <a:cubicBezTo>
                  <a:pt x="263843" y="337979"/>
                  <a:pt x="262493" y="334089"/>
                  <a:pt x="261382" y="330041"/>
                </a:cubicBezTo>
                <a:cubicBezTo>
                  <a:pt x="260271" y="325993"/>
                  <a:pt x="259556" y="321945"/>
                  <a:pt x="259001" y="317976"/>
                </a:cubicBezTo>
                <a:lnTo>
                  <a:pt x="229076" y="303213"/>
                </a:lnTo>
                <a:cubicBezTo>
                  <a:pt x="220107" y="298768"/>
                  <a:pt x="215583" y="288608"/>
                  <a:pt x="218123" y="279003"/>
                </a:cubicBezTo>
                <a:lnTo>
                  <a:pt x="223679" y="258207"/>
                </a:lnTo>
                <a:cubicBezTo>
                  <a:pt x="226298" y="248602"/>
                  <a:pt x="235268" y="242094"/>
                  <a:pt x="245269" y="242729"/>
                </a:cubicBezTo>
                <a:lnTo>
                  <a:pt x="278527" y="244872"/>
                </a:lnTo>
                <a:cubicBezTo>
                  <a:pt x="283528" y="238442"/>
                  <a:pt x="289322" y="232489"/>
                  <a:pt x="295910" y="227409"/>
                </a:cubicBezTo>
                <a:lnTo>
                  <a:pt x="293767" y="194231"/>
                </a:lnTo>
                <a:cubicBezTo>
                  <a:pt x="293132" y="184229"/>
                  <a:pt x="299641" y="175181"/>
                  <a:pt x="309245" y="172641"/>
                </a:cubicBezTo>
                <a:lnTo>
                  <a:pt x="330041" y="167084"/>
                </a:lnTo>
                <a:close/>
                <a:moveTo>
                  <a:pt x="355918" y="269875"/>
                </a:moveTo>
                <a:cubicBezTo>
                  <a:pt x="336642" y="269897"/>
                  <a:pt x="321010" y="285564"/>
                  <a:pt x="321032" y="304840"/>
                </a:cubicBezTo>
                <a:cubicBezTo>
                  <a:pt x="321054" y="324115"/>
                  <a:pt x="336721" y="339747"/>
                  <a:pt x="355997" y="339725"/>
                </a:cubicBezTo>
                <a:cubicBezTo>
                  <a:pt x="375273" y="339703"/>
                  <a:pt x="390904" y="324036"/>
                  <a:pt x="390882" y="304760"/>
                </a:cubicBezTo>
                <a:cubicBezTo>
                  <a:pt x="390860" y="285485"/>
                  <a:pt x="375193" y="269853"/>
                  <a:pt x="355918" y="269875"/>
                </a:cubicBezTo>
                <a:close/>
                <a:moveTo>
                  <a:pt x="178514" y="-36116"/>
                </a:moveTo>
                <a:lnTo>
                  <a:pt x="199311" y="-30559"/>
                </a:lnTo>
                <a:cubicBezTo>
                  <a:pt x="208915" y="-27940"/>
                  <a:pt x="215424" y="-18891"/>
                  <a:pt x="214789" y="-8969"/>
                </a:cubicBezTo>
                <a:lnTo>
                  <a:pt x="212646" y="24209"/>
                </a:lnTo>
                <a:cubicBezTo>
                  <a:pt x="219234" y="29289"/>
                  <a:pt x="225028" y="35163"/>
                  <a:pt x="230029" y="41672"/>
                </a:cubicBezTo>
                <a:lnTo>
                  <a:pt x="263366" y="39529"/>
                </a:lnTo>
                <a:cubicBezTo>
                  <a:pt x="273288" y="38894"/>
                  <a:pt x="282337" y="45403"/>
                  <a:pt x="284956" y="55007"/>
                </a:cubicBezTo>
                <a:lnTo>
                  <a:pt x="290513" y="75803"/>
                </a:lnTo>
                <a:cubicBezTo>
                  <a:pt x="293053" y="85408"/>
                  <a:pt x="288528" y="95568"/>
                  <a:pt x="279559" y="100013"/>
                </a:cubicBezTo>
                <a:lnTo>
                  <a:pt x="249634" y="114776"/>
                </a:lnTo>
                <a:cubicBezTo>
                  <a:pt x="249079" y="118824"/>
                  <a:pt x="248285" y="122873"/>
                  <a:pt x="247253" y="126841"/>
                </a:cubicBezTo>
                <a:cubicBezTo>
                  <a:pt x="246221" y="130810"/>
                  <a:pt x="244793" y="134779"/>
                  <a:pt x="243284" y="138509"/>
                </a:cubicBezTo>
                <a:lnTo>
                  <a:pt x="261779" y="166291"/>
                </a:lnTo>
                <a:cubicBezTo>
                  <a:pt x="267335" y="174625"/>
                  <a:pt x="266224" y="185658"/>
                  <a:pt x="259159" y="192722"/>
                </a:cubicBezTo>
                <a:lnTo>
                  <a:pt x="243919" y="207963"/>
                </a:lnTo>
                <a:cubicBezTo>
                  <a:pt x="236855" y="215027"/>
                  <a:pt x="225822" y="216138"/>
                  <a:pt x="217488" y="210582"/>
                </a:cubicBezTo>
                <a:lnTo>
                  <a:pt x="189706" y="192088"/>
                </a:lnTo>
                <a:cubicBezTo>
                  <a:pt x="182166" y="195183"/>
                  <a:pt x="174149" y="197406"/>
                  <a:pt x="165973" y="198517"/>
                </a:cubicBezTo>
                <a:lnTo>
                  <a:pt x="151209" y="228362"/>
                </a:lnTo>
                <a:cubicBezTo>
                  <a:pt x="146764" y="237331"/>
                  <a:pt x="136604" y="241856"/>
                  <a:pt x="127000" y="239316"/>
                </a:cubicBezTo>
                <a:lnTo>
                  <a:pt x="106204" y="233759"/>
                </a:lnTo>
                <a:cubicBezTo>
                  <a:pt x="96520" y="231140"/>
                  <a:pt x="90091" y="222091"/>
                  <a:pt x="90726" y="212169"/>
                </a:cubicBezTo>
                <a:lnTo>
                  <a:pt x="92869" y="178911"/>
                </a:lnTo>
                <a:cubicBezTo>
                  <a:pt x="86281" y="173831"/>
                  <a:pt x="80486" y="167958"/>
                  <a:pt x="75486" y="161449"/>
                </a:cubicBezTo>
                <a:lnTo>
                  <a:pt x="42148" y="163592"/>
                </a:lnTo>
                <a:cubicBezTo>
                  <a:pt x="32226" y="164227"/>
                  <a:pt x="23178" y="157718"/>
                  <a:pt x="20558" y="148114"/>
                </a:cubicBezTo>
                <a:lnTo>
                  <a:pt x="15002" y="127318"/>
                </a:lnTo>
                <a:cubicBezTo>
                  <a:pt x="12462" y="117713"/>
                  <a:pt x="16986" y="107553"/>
                  <a:pt x="25956" y="103108"/>
                </a:cubicBezTo>
                <a:lnTo>
                  <a:pt x="55880" y="88344"/>
                </a:lnTo>
                <a:cubicBezTo>
                  <a:pt x="56436" y="84296"/>
                  <a:pt x="57229" y="80328"/>
                  <a:pt x="58261" y="76279"/>
                </a:cubicBezTo>
                <a:cubicBezTo>
                  <a:pt x="59373" y="72231"/>
                  <a:pt x="60643" y="68342"/>
                  <a:pt x="62230" y="64611"/>
                </a:cubicBezTo>
                <a:lnTo>
                  <a:pt x="43736" y="36909"/>
                </a:lnTo>
                <a:cubicBezTo>
                  <a:pt x="38179" y="28575"/>
                  <a:pt x="39291" y="17542"/>
                  <a:pt x="46355" y="10478"/>
                </a:cubicBezTo>
                <a:lnTo>
                  <a:pt x="61595" y="-4762"/>
                </a:lnTo>
                <a:cubicBezTo>
                  <a:pt x="68659" y="-11827"/>
                  <a:pt x="79693" y="-12938"/>
                  <a:pt x="88027" y="-7382"/>
                </a:cubicBezTo>
                <a:lnTo>
                  <a:pt x="115808" y="11113"/>
                </a:lnTo>
                <a:cubicBezTo>
                  <a:pt x="123349" y="8017"/>
                  <a:pt x="131366" y="5794"/>
                  <a:pt x="139541" y="4683"/>
                </a:cubicBezTo>
                <a:lnTo>
                  <a:pt x="154305" y="-25162"/>
                </a:lnTo>
                <a:cubicBezTo>
                  <a:pt x="158750" y="-34131"/>
                  <a:pt x="168831" y="-38656"/>
                  <a:pt x="178514" y="-36116"/>
                </a:cubicBezTo>
                <a:close/>
                <a:moveTo>
                  <a:pt x="152718" y="66675"/>
                </a:moveTo>
                <a:cubicBezTo>
                  <a:pt x="133442" y="66675"/>
                  <a:pt x="117793" y="82324"/>
                  <a:pt x="117793" y="101600"/>
                </a:cubicBezTo>
                <a:cubicBezTo>
                  <a:pt x="117793" y="120876"/>
                  <a:pt x="133442" y="136525"/>
                  <a:pt x="152718" y="136525"/>
                </a:cubicBezTo>
                <a:cubicBezTo>
                  <a:pt x="171993" y="136525"/>
                  <a:pt x="187643" y="120876"/>
                  <a:pt x="187643" y="101600"/>
                </a:cubicBezTo>
                <a:cubicBezTo>
                  <a:pt x="187643" y="82324"/>
                  <a:pt x="171993" y="66675"/>
                  <a:pt x="152718" y="66675"/>
                </a:cubicBezTo>
                <a:close/>
              </a:path>
            </a:pathLst>
          </a:custGeom>
          <a:solidFill>
            <a:srgbClr val="805AD5"/>
          </a:solidFill>
          <a:ln/>
        </p:spPr>
      </p:sp>
      <p:sp>
        <p:nvSpPr>
          <p:cNvPr id="19" name="Text 17"/>
          <p:cNvSpPr/>
          <p:nvPr/>
        </p:nvSpPr>
        <p:spPr>
          <a:xfrm>
            <a:off x="1549400" y="4064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Antriebstechnik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572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Gleichstrommotoren in Förderbändern, Aufzügen, Werkzeugmaschinen. Präzise Drehzahlsteuerung durch variable DC-Spannung.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3873500"/>
            <a:ext cx="469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07100" y="406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96679" y="25400"/>
                </a:moveTo>
                <a:cubicBezTo>
                  <a:pt x="72866" y="25400"/>
                  <a:pt x="52229" y="41910"/>
                  <a:pt x="47069" y="65167"/>
                </a:cubicBezTo>
                <a:lnTo>
                  <a:pt x="7620" y="242967"/>
                </a:lnTo>
                <a:cubicBezTo>
                  <a:pt x="556" y="274717"/>
                  <a:pt x="24686" y="304800"/>
                  <a:pt x="57150" y="304800"/>
                </a:cubicBezTo>
                <a:lnTo>
                  <a:pt x="203279" y="304800"/>
                </a:lnTo>
                <a:lnTo>
                  <a:pt x="203279" y="355600"/>
                </a:lnTo>
                <a:lnTo>
                  <a:pt x="152479" y="355600"/>
                </a:lnTo>
                <a:cubicBezTo>
                  <a:pt x="138430" y="355600"/>
                  <a:pt x="127079" y="366951"/>
                  <a:pt x="127079" y="381000"/>
                </a:cubicBezTo>
                <a:cubicBezTo>
                  <a:pt x="127079" y="395049"/>
                  <a:pt x="138430" y="406400"/>
                  <a:pt x="152479" y="406400"/>
                </a:cubicBezTo>
                <a:lnTo>
                  <a:pt x="304879" y="406400"/>
                </a:lnTo>
                <a:cubicBezTo>
                  <a:pt x="318929" y="406400"/>
                  <a:pt x="330279" y="395049"/>
                  <a:pt x="330279" y="381000"/>
                </a:cubicBezTo>
                <a:cubicBezTo>
                  <a:pt x="330279" y="366951"/>
                  <a:pt x="318929" y="355600"/>
                  <a:pt x="304879" y="355600"/>
                </a:cubicBezTo>
                <a:lnTo>
                  <a:pt x="254079" y="355600"/>
                </a:lnTo>
                <a:lnTo>
                  <a:pt x="254079" y="304800"/>
                </a:lnTo>
                <a:lnTo>
                  <a:pt x="400209" y="304800"/>
                </a:lnTo>
                <a:cubicBezTo>
                  <a:pt x="432673" y="304800"/>
                  <a:pt x="456883" y="274717"/>
                  <a:pt x="449818" y="242967"/>
                </a:cubicBezTo>
                <a:lnTo>
                  <a:pt x="410289" y="65167"/>
                </a:lnTo>
                <a:cubicBezTo>
                  <a:pt x="405130" y="41910"/>
                  <a:pt x="384572" y="25400"/>
                  <a:pt x="360759" y="25400"/>
                </a:cubicBezTo>
                <a:lnTo>
                  <a:pt x="96679" y="25400"/>
                </a:lnTo>
                <a:close/>
                <a:moveTo>
                  <a:pt x="194945" y="76200"/>
                </a:moveTo>
                <a:lnTo>
                  <a:pt x="262573" y="76200"/>
                </a:lnTo>
                <a:lnTo>
                  <a:pt x="268367" y="146050"/>
                </a:lnTo>
                <a:lnTo>
                  <a:pt x="189151" y="146050"/>
                </a:lnTo>
                <a:lnTo>
                  <a:pt x="194945" y="76200"/>
                </a:lnTo>
                <a:close/>
                <a:moveTo>
                  <a:pt x="150892" y="146050"/>
                </a:moveTo>
                <a:lnTo>
                  <a:pt x="81201" y="146050"/>
                </a:lnTo>
                <a:lnTo>
                  <a:pt x="96758" y="76200"/>
                </a:lnTo>
                <a:lnTo>
                  <a:pt x="156766" y="76200"/>
                </a:lnTo>
                <a:lnTo>
                  <a:pt x="150971" y="146050"/>
                </a:lnTo>
                <a:close/>
                <a:moveTo>
                  <a:pt x="72708" y="184150"/>
                </a:moveTo>
                <a:lnTo>
                  <a:pt x="147717" y="184150"/>
                </a:lnTo>
                <a:lnTo>
                  <a:pt x="141922" y="254000"/>
                </a:lnTo>
                <a:lnTo>
                  <a:pt x="57229" y="254000"/>
                </a:lnTo>
                <a:lnTo>
                  <a:pt x="72787" y="184150"/>
                </a:lnTo>
                <a:close/>
                <a:moveTo>
                  <a:pt x="185896" y="184150"/>
                </a:moveTo>
                <a:lnTo>
                  <a:pt x="271463" y="184150"/>
                </a:lnTo>
                <a:lnTo>
                  <a:pt x="277257" y="254000"/>
                </a:lnTo>
                <a:lnTo>
                  <a:pt x="180023" y="254000"/>
                </a:lnTo>
                <a:lnTo>
                  <a:pt x="185817" y="184150"/>
                </a:lnTo>
                <a:close/>
                <a:moveTo>
                  <a:pt x="309721" y="184150"/>
                </a:moveTo>
                <a:lnTo>
                  <a:pt x="384731" y="184150"/>
                </a:lnTo>
                <a:lnTo>
                  <a:pt x="400288" y="254000"/>
                </a:lnTo>
                <a:lnTo>
                  <a:pt x="315595" y="254000"/>
                </a:lnTo>
                <a:lnTo>
                  <a:pt x="309801" y="184150"/>
                </a:lnTo>
                <a:close/>
                <a:moveTo>
                  <a:pt x="376238" y="146050"/>
                </a:moveTo>
                <a:lnTo>
                  <a:pt x="306546" y="146050"/>
                </a:lnTo>
                <a:lnTo>
                  <a:pt x="300752" y="76200"/>
                </a:lnTo>
                <a:lnTo>
                  <a:pt x="360759" y="76200"/>
                </a:lnTo>
                <a:lnTo>
                  <a:pt x="376317" y="146050"/>
                </a:lnTo>
                <a:close/>
              </a:path>
            </a:pathLst>
          </a:custGeom>
          <a:solidFill>
            <a:srgbClr val="DD6B20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900" y="4064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Erneuerbare Energien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4572000"/>
            <a:ext cx="4191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Photovoltaik-Wechselrichter arbeiten mit Gleichrichtern. DC-Wechselrichter für die Netzeinspeisung erfordern Gleichrichter-Technologie.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3873500"/>
            <a:ext cx="4699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23600" y="406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7308" y="7779"/>
                </a:moveTo>
                <a:cubicBezTo>
                  <a:pt x="37544" y="3810"/>
                  <a:pt x="26432" y="8493"/>
                  <a:pt x="22543" y="18256"/>
                </a:cubicBezTo>
                <a:cubicBezTo>
                  <a:pt x="12065" y="44053"/>
                  <a:pt x="6350" y="72152"/>
                  <a:pt x="6350" y="101600"/>
                </a:cubicBezTo>
                <a:cubicBezTo>
                  <a:pt x="6350" y="131048"/>
                  <a:pt x="12065" y="159147"/>
                  <a:pt x="22543" y="184944"/>
                </a:cubicBezTo>
                <a:cubicBezTo>
                  <a:pt x="26511" y="194707"/>
                  <a:pt x="37624" y="199390"/>
                  <a:pt x="47387" y="195421"/>
                </a:cubicBezTo>
                <a:cubicBezTo>
                  <a:pt x="57150" y="191452"/>
                  <a:pt x="61833" y="180340"/>
                  <a:pt x="57864" y="170577"/>
                </a:cubicBezTo>
                <a:cubicBezTo>
                  <a:pt x="49213" y="149384"/>
                  <a:pt x="44450" y="126048"/>
                  <a:pt x="44450" y="101600"/>
                </a:cubicBezTo>
                <a:cubicBezTo>
                  <a:pt x="44450" y="77152"/>
                  <a:pt x="49213" y="53816"/>
                  <a:pt x="57864" y="32544"/>
                </a:cubicBezTo>
                <a:cubicBezTo>
                  <a:pt x="61833" y="22781"/>
                  <a:pt x="57071" y="11668"/>
                  <a:pt x="47387" y="7699"/>
                </a:cubicBezTo>
                <a:close/>
                <a:moveTo>
                  <a:pt x="409892" y="7779"/>
                </a:moveTo>
                <a:cubicBezTo>
                  <a:pt x="400129" y="11748"/>
                  <a:pt x="395446" y="22860"/>
                  <a:pt x="399415" y="32623"/>
                </a:cubicBezTo>
                <a:cubicBezTo>
                  <a:pt x="408067" y="53896"/>
                  <a:pt x="412829" y="77232"/>
                  <a:pt x="412829" y="101679"/>
                </a:cubicBezTo>
                <a:cubicBezTo>
                  <a:pt x="412829" y="126127"/>
                  <a:pt x="408067" y="149463"/>
                  <a:pt x="399415" y="170736"/>
                </a:cubicBezTo>
                <a:cubicBezTo>
                  <a:pt x="395446" y="180499"/>
                  <a:pt x="400209" y="191611"/>
                  <a:pt x="409893" y="195580"/>
                </a:cubicBezTo>
                <a:cubicBezTo>
                  <a:pt x="419576" y="199549"/>
                  <a:pt x="430768" y="194786"/>
                  <a:pt x="434737" y="185103"/>
                </a:cubicBezTo>
                <a:cubicBezTo>
                  <a:pt x="445135" y="159306"/>
                  <a:pt x="450929" y="131207"/>
                  <a:pt x="450929" y="101759"/>
                </a:cubicBezTo>
                <a:cubicBezTo>
                  <a:pt x="450929" y="72311"/>
                  <a:pt x="445214" y="44212"/>
                  <a:pt x="434737" y="18415"/>
                </a:cubicBezTo>
                <a:cubicBezTo>
                  <a:pt x="430768" y="8652"/>
                  <a:pt x="419656" y="3969"/>
                  <a:pt x="409893" y="7938"/>
                </a:cubicBezTo>
                <a:close/>
                <a:moveTo>
                  <a:pt x="269954" y="131128"/>
                </a:moveTo>
                <a:cubicBezTo>
                  <a:pt x="275908" y="122793"/>
                  <a:pt x="279400" y="112633"/>
                  <a:pt x="279400" y="101600"/>
                </a:cubicBezTo>
                <a:cubicBezTo>
                  <a:pt x="279400" y="73581"/>
                  <a:pt x="256619" y="50800"/>
                  <a:pt x="228600" y="50800"/>
                </a:cubicBezTo>
                <a:cubicBezTo>
                  <a:pt x="200581" y="50800"/>
                  <a:pt x="177800" y="73581"/>
                  <a:pt x="177800" y="101600"/>
                </a:cubicBezTo>
                <a:cubicBezTo>
                  <a:pt x="177800" y="112633"/>
                  <a:pt x="181293" y="122793"/>
                  <a:pt x="187246" y="131128"/>
                </a:cubicBezTo>
                <a:lnTo>
                  <a:pt x="78502" y="370523"/>
                </a:lnTo>
                <a:cubicBezTo>
                  <a:pt x="72708" y="383302"/>
                  <a:pt x="78343" y="398383"/>
                  <a:pt x="91123" y="404178"/>
                </a:cubicBezTo>
                <a:cubicBezTo>
                  <a:pt x="103902" y="409972"/>
                  <a:pt x="118983" y="404336"/>
                  <a:pt x="124778" y="391557"/>
                </a:cubicBezTo>
                <a:lnTo>
                  <a:pt x="141129" y="355679"/>
                </a:lnTo>
                <a:lnTo>
                  <a:pt x="316230" y="355679"/>
                </a:lnTo>
                <a:lnTo>
                  <a:pt x="332581" y="391557"/>
                </a:lnTo>
                <a:cubicBezTo>
                  <a:pt x="338376" y="404336"/>
                  <a:pt x="353457" y="409972"/>
                  <a:pt x="366236" y="404178"/>
                </a:cubicBezTo>
                <a:cubicBezTo>
                  <a:pt x="379016" y="398383"/>
                  <a:pt x="384651" y="383302"/>
                  <a:pt x="378857" y="370523"/>
                </a:cubicBezTo>
                <a:lnTo>
                  <a:pt x="269954" y="131128"/>
                </a:lnTo>
                <a:close/>
                <a:moveTo>
                  <a:pt x="298847" y="317500"/>
                </a:moveTo>
                <a:lnTo>
                  <a:pt x="158353" y="317500"/>
                </a:lnTo>
                <a:lnTo>
                  <a:pt x="175657" y="279400"/>
                </a:lnTo>
                <a:lnTo>
                  <a:pt x="281464" y="279400"/>
                </a:lnTo>
                <a:lnTo>
                  <a:pt x="298768" y="317500"/>
                </a:lnTo>
                <a:close/>
                <a:moveTo>
                  <a:pt x="228600" y="162957"/>
                </a:moveTo>
                <a:lnTo>
                  <a:pt x="264160" y="241300"/>
                </a:lnTo>
                <a:lnTo>
                  <a:pt x="192961" y="241300"/>
                </a:lnTo>
                <a:lnTo>
                  <a:pt x="228521" y="162957"/>
                </a:lnTo>
                <a:close/>
                <a:moveTo>
                  <a:pt x="129619" y="58420"/>
                </a:moveTo>
                <a:cubicBezTo>
                  <a:pt x="133826" y="48816"/>
                  <a:pt x="129461" y="37544"/>
                  <a:pt x="119777" y="33337"/>
                </a:cubicBezTo>
                <a:cubicBezTo>
                  <a:pt x="110093" y="29131"/>
                  <a:pt x="98901" y="33496"/>
                  <a:pt x="94694" y="43180"/>
                </a:cubicBezTo>
                <a:cubicBezTo>
                  <a:pt x="86916" y="61119"/>
                  <a:pt x="82550" y="80883"/>
                  <a:pt x="82550" y="101600"/>
                </a:cubicBezTo>
                <a:cubicBezTo>
                  <a:pt x="82550" y="122317"/>
                  <a:pt x="86916" y="142081"/>
                  <a:pt x="94694" y="160020"/>
                </a:cubicBezTo>
                <a:cubicBezTo>
                  <a:pt x="98901" y="169624"/>
                  <a:pt x="110173" y="174069"/>
                  <a:pt x="119777" y="169863"/>
                </a:cubicBezTo>
                <a:cubicBezTo>
                  <a:pt x="129381" y="165656"/>
                  <a:pt x="133826" y="154384"/>
                  <a:pt x="129619" y="144780"/>
                </a:cubicBezTo>
                <a:cubicBezTo>
                  <a:pt x="123825" y="131604"/>
                  <a:pt x="120650" y="116999"/>
                  <a:pt x="120650" y="101600"/>
                </a:cubicBezTo>
                <a:cubicBezTo>
                  <a:pt x="120650" y="86201"/>
                  <a:pt x="123825" y="71596"/>
                  <a:pt x="129619" y="58420"/>
                </a:cubicBezTo>
                <a:close/>
                <a:moveTo>
                  <a:pt x="362506" y="43180"/>
                </a:moveTo>
                <a:cubicBezTo>
                  <a:pt x="358299" y="33576"/>
                  <a:pt x="347028" y="29131"/>
                  <a:pt x="337423" y="33338"/>
                </a:cubicBezTo>
                <a:cubicBezTo>
                  <a:pt x="327819" y="37544"/>
                  <a:pt x="323374" y="48816"/>
                  <a:pt x="327581" y="58420"/>
                </a:cubicBezTo>
                <a:cubicBezTo>
                  <a:pt x="333375" y="71596"/>
                  <a:pt x="336550" y="86201"/>
                  <a:pt x="336550" y="101600"/>
                </a:cubicBezTo>
                <a:cubicBezTo>
                  <a:pt x="336550" y="116999"/>
                  <a:pt x="333375" y="131604"/>
                  <a:pt x="327581" y="144780"/>
                </a:cubicBezTo>
                <a:cubicBezTo>
                  <a:pt x="323374" y="154384"/>
                  <a:pt x="327739" y="165656"/>
                  <a:pt x="337423" y="169863"/>
                </a:cubicBezTo>
                <a:cubicBezTo>
                  <a:pt x="347107" y="174069"/>
                  <a:pt x="358299" y="169704"/>
                  <a:pt x="362506" y="160020"/>
                </a:cubicBezTo>
                <a:cubicBezTo>
                  <a:pt x="370284" y="142081"/>
                  <a:pt x="374650" y="122317"/>
                  <a:pt x="374650" y="101600"/>
                </a:cubicBezTo>
                <a:cubicBezTo>
                  <a:pt x="374650" y="80883"/>
                  <a:pt x="370284" y="61119"/>
                  <a:pt x="362506" y="43180"/>
                </a:cubicBezTo>
                <a:close/>
              </a:path>
            </a:pathLst>
          </a:custGeom>
          <a:solidFill>
            <a:srgbClr val="319795"/>
          </a:solidFill>
          <a:ln/>
        </p:spPr>
      </p:sp>
      <p:sp>
        <p:nvSpPr>
          <p:cNvPr id="27" name="Text 25"/>
          <p:cNvSpPr/>
          <p:nvPr/>
        </p:nvSpPr>
        <p:spPr>
          <a:xfrm>
            <a:off x="11582400" y="4064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Telekommunikation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4572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Basisstationen, Server, Rechenzentren: Stabile DC-Versorgung für 24/7-Betrieb. Redundante Gleichrichter-Systeme.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413500"/>
            <a:ext cx="14732000" cy="1016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1250" y="6604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08397" y="238125"/>
                </a:moveTo>
                <a:lnTo>
                  <a:pt x="333772" y="238125"/>
                </a:lnTo>
                <a:cubicBezTo>
                  <a:pt x="316210" y="238125"/>
                  <a:pt x="302022" y="223937"/>
                  <a:pt x="302022" y="206375"/>
                </a:cubicBezTo>
                <a:lnTo>
                  <a:pt x="302022" y="31750"/>
                </a:lnTo>
                <a:cubicBezTo>
                  <a:pt x="302022" y="14188"/>
                  <a:pt x="316309" y="-198"/>
                  <a:pt x="333673" y="2084"/>
                </a:cubicBezTo>
                <a:cubicBezTo>
                  <a:pt x="439837" y="16173"/>
                  <a:pt x="523974" y="100310"/>
                  <a:pt x="538063" y="206474"/>
                </a:cubicBezTo>
                <a:cubicBezTo>
                  <a:pt x="540345" y="223838"/>
                  <a:pt x="525959" y="238125"/>
                  <a:pt x="508397" y="238125"/>
                </a:cubicBezTo>
                <a:close/>
                <a:moveTo>
                  <a:pt x="220861" y="36909"/>
                </a:moveTo>
                <a:cubicBezTo>
                  <a:pt x="238820" y="33139"/>
                  <a:pt x="254397" y="47823"/>
                  <a:pt x="254397" y="66179"/>
                </a:cubicBezTo>
                <a:lnTo>
                  <a:pt x="254397" y="261937"/>
                </a:lnTo>
                <a:cubicBezTo>
                  <a:pt x="254397" y="267494"/>
                  <a:pt x="256381" y="272852"/>
                  <a:pt x="259854" y="277118"/>
                </a:cubicBezTo>
                <a:lnTo>
                  <a:pt x="390922" y="435273"/>
                </a:lnTo>
                <a:cubicBezTo>
                  <a:pt x="402530" y="449263"/>
                  <a:pt x="400050" y="470396"/>
                  <a:pt x="384076" y="479028"/>
                </a:cubicBezTo>
                <a:cubicBezTo>
                  <a:pt x="350242" y="497483"/>
                  <a:pt x="311448" y="508000"/>
                  <a:pt x="270272" y="508000"/>
                </a:cubicBezTo>
                <a:cubicBezTo>
                  <a:pt x="138807" y="508000"/>
                  <a:pt x="32147" y="401340"/>
                  <a:pt x="32147" y="269875"/>
                </a:cubicBezTo>
                <a:cubicBezTo>
                  <a:pt x="32147" y="155277"/>
                  <a:pt x="113010" y="59630"/>
                  <a:pt x="220861" y="36909"/>
                </a:cubicBezTo>
                <a:close/>
                <a:moveTo>
                  <a:pt x="474067" y="285750"/>
                </a:moveTo>
                <a:lnTo>
                  <a:pt x="537567" y="285750"/>
                </a:lnTo>
                <a:cubicBezTo>
                  <a:pt x="555923" y="285750"/>
                  <a:pt x="570607" y="301327"/>
                  <a:pt x="566837" y="319286"/>
                </a:cubicBezTo>
                <a:cubicBezTo>
                  <a:pt x="556716" y="367308"/>
                  <a:pt x="532110" y="409972"/>
                  <a:pt x="497780" y="442516"/>
                </a:cubicBezTo>
                <a:cubicBezTo>
                  <a:pt x="485577" y="454124"/>
                  <a:pt x="466427" y="451644"/>
                  <a:pt x="455712" y="438646"/>
                </a:cubicBezTo>
                <a:lnTo>
                  <a:pt x="371971" y="337741"/>
                </a:lnTo>
                <a:cubicBezTo>
                  <a:pt x="354806" y="317004"/>
                  <a:pt x="369590" y="285750"/>
                  <a:pt x="396379" y="285750"/>
                </a:cubicBezTo>
                <a:lnTo>
                  <a:pt x="473968" y="285750"/>
                </a:lnTo>
                <a:close/>
              </a:path>
            </a:pathLst>
          </a:custGeom>
          <a:solidFill>
            <a:srgbClr val="C53030"/>
          </a:solidFill>
          <a:ln/>
        </p:spPr>
      </p:sp>
      <p:sp>
        <p:nvSpPr>
          <p:cNvPr id="31" name="Text 29"/>
          <p:cNvSpPr/>
          <p:nvPr/>
        </p:nvSpPr>
        <p:spPr>
          <a:xfrm>
            <a:off x="1905000" y="6540500"/>
            <a:ext cx="1333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Über 95%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aller Gleichrichter sind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ungesteuerte Diodengleichrichter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Sie sind das Rückgrat unserer elektronischen Infrastruktur - vom kleinsten USB-Ladegerät bis zum industriellen DC-Versorgungssystem mit 500A Ausgangsstrom.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Zusammenfassung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70485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460500"/>
            <a:ext cx="50800" cy="11430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Shape 5"/>
          <p:cNvSpPr/>
          <p:nvPr/>
        </p:nvSpPr>
        <p:spPr>
          <a:xfrm>
            <a:off x="1038225" y="1778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549400"/>
            <a:ext cx="6096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Grundfunktion: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Der Gleichrichter wandelt Wechselstrom (AC) in Gleichstrom (DC) um - die Grundvoraussetzung für fast alle elektronischen Geräte.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460500"/>
            <a:ext cx="70485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45500" y="1460500"/>
            <a:ext cx="50800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Shape 9"/>
          <p:cNvSpPr/>
          <p:nvPr/>
        </p:nvSpPr>
        <p:spPr>
          <a:xfrm>
            <a:off x="8699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3"/>
                </a:moveTo>
                <a:cubicBezTo>
                  <a:pt x="0" y="37157"/>
                  <a:pt x="14932" y="22225"/>
                  <a:pt x="33337" y="22225"/>
                </a:cubicBezTo>
                <a:lnTo>
                  <a:pt x="100013" y="22225"/>
                </a:lnTo>
                <a:cubicBezTo>
                  <a:pt x="118418" y="22225"/>
                  <a:pt x="133350" y="37157"/>
                  <a:pt x="133350" y="55563"/>
                </a:cubicBezTo>
                <a:lnTo>
                  <a:pt x="133350" y="66675"/>
                </a:lnTo>
                <a:lnTo>
                  <a:pt x="222250" y="66675"/>
                </a:lnTo>
                <a:lnTo>
                  <a:pt x="222250" y="55563"/>
                </a:lnTo>
                <a:cubicBezTo>
                  <a:pt x="222250" y="37157"/>
                  <a:pt x="237182" y="22225"/>
                  <a:pt x="255587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122238"/>
                </a:lnTo>
                <a:cubicBezTo>
                  <a:pt x="355600" y="140643"/>
                  <a:pt x="340668" y="155575"/>
                  <a:pt x="322263" y="155575"/>
                </a:cubicBezTo>
                <a:lnTo>
                  <a:pt x="255587" y="155575"/>
                </a:lnTo>
                <a:cubicBezTo>
                  <a:pt x="237182" y="155575"/>
                  <a:pt x="222250" y="140643"/>
                  <a:pt x="222250" y="122238"/>
                </a:cubicBezTo>
                <a:lnTo>
                  <a:pt x="222250" y="111125"/>
                </a:lnTo>
                <a:lnTo>
                  <a:pt x="133350" y="111125"/>
                </a:lnTo>
                <a:lnTo>
                  <a:pt x="133350" y="122238"/>
                </a:lnTo>
                <a:cubicBezTo>
                  <a:pt x="133350" y="127308"/>
                  <a:pt x="132169" y="132169"/>
                  <a:pt x="130155" y="136475"/>
                </a:cubicBezTo>
                <a:lnTo>
                  <a:pt x="177800" y="200025"/>
                </a:lnTo>
                <a:lnTo>
                  <a:pt x="233363" y="200025"/>
                </a:lnTo>
                <a:cubicBezTo>
                  <a:pt x="251768" y="200025"/>
                  <a:pt x="266700" y="214957"/>
                  <a:pt x="266700" y="233363"/>
                </a:cubicBezTo>
                <a:lnTo>
                  <a:pt x="266700" y="300038"/>
                </a:lnTo>
                <a:cubicBezTo>
                  <a:pt x="266700" y="318443"/>
                  <a:pt x="251768" y="333375"/>
                  <a:pt x="23336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233363"/>
                </a:lnTo>
                <a:cubicBezTo>
                  <a:pt x="133350" y="228292"/>
                  <a:pt x="134531" y="223431"/>
                  <a:pt x="136545" y="219125"/>
                </a:cubicBezTo>
                <a:lnTo>
                  <a:pt x="88900" y="155575"/>
                </a:lnTo>
                <a:lnTo>
                  <a:pt x="33337" y="155575"/>
                </a:lnTo>
                <a:cubicBezTo>
                  <a:pt x="14932" y="155575"/>
                  <a:pt x="0" y="140643"/>
                  <a:pt x="0" y="122238"/>
                </a:cubicBezTo>
                <a:lnTo>
                  <a:pt x="0" y="55563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2" name="Text 10"/>
          <p:cNvSpPr/>
          <p:nvPr/>
        </p:nvSpPr>
        <p:spPr>
          <a:xfrm>
            <a:off x="9207500" y="1587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Schaltungen: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Einweggleichrichter (1 Diode, 40% Wirkgrad) vs. Brückengleichrichter (4 Dioden, 81% Wirkgrad).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857500"/>
            <a:ext cx="70485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2857500"/>
            <a:ext cx="50800" cy="11430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2984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Bauteile: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Dioden als Kern, ergänzt durch Transformator, Glättungskondensator und optional Spannungsregler.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2857500"/>
            <a:ext cx="70485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5500" y="2857500"/>
            <a:ext cx="50800" cy="114300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9" name="Shape 17"/>
          <p:cNvSpPr/>
          <p:nvPr/>
        </p:nvSpPr>
        <p:spPr>
          <a:xfrm>
            <a:off x="86995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66675"/>
                </a:moveTo>
                <a:cubicBezTo>
                  <a:pt x="44450" y="54382"/>
                  <a:pt x="54382" y="44450"/>
                  <a:pt x="66675" y="44450"/>
                </a:cubicBezTo>
                <a:lnTo>
                  <a:pt x="177800" y="44450"/>
                </a:lnTo>
                <a:cubicBezTo>
                  <a:pt x="190093" y="44450"/>
                  <a:pt x="200025" y="54382"/>
                  <a:pt x="200025" y="66675"/>
                </a:cubicBezTo>
                <a:lnTo>
                  <a:pt x="200025" y="266700"/>
                </a:lnTo>
                <a:lnTo>
                  <a:pt x="266700" y="266700"/>
                </a:lnTo>
                <a:lnTo>
                  <a:pt x="266700" y="177800"/>
                </a:lnTo>
                <a:cubicBezTo>
                  <a:pt x="266700" y="165507"/>
                  <a:pt x="276632" y="155575"/>
                  <a:pt x="288925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311150" y="200025"/>
                </a:lnTo>
                <a:lnTo>
                  <a:pt x="311150" y="288925"/>
                </a:lnTo>
                <a:cubicBezTo>
                  <a:pt x="311150" y="301218"/>
                  <a:pt x="301218" y="311150"/>
                  <a:pt x="288925" y="311150"/>
                </a:cubicBezTo>
                <a:lnTo>
                  <a:pt x="177800" y="311150"/>
                </a:lnTo>
                <a:cubicBezTo>
                  <a:pt x="165507" y="311150"/>
                  <a:pt x="155575" y="301218"/>
                  <a:pt x="155575" y="288925"/>
                </a:cubicBezTo>
                <a:lnTo>
                  <a:pt x="155575" y="88900"/>
                </a:lnTo>
                <a:lnTo>
                  <a:pt x="88900" y="88900"/>
                </a:lnTo>
                <a:lnTo>
                  <a:pt x="88900" y="177800"/>
                </a:lnTo>
                <a:cubicBezTo>
                  <a:pt x="88900" y="190093"/>
                  <a:pt x="78968" y="200025"/>
                  <a:pt x="66675" y="200025"/>
                </a:cubicBezTo>
                <a:lnTo>
                  <a:pt x="22225" y="200025"/>
                </a:lnTo>
                <a:cubicBezTo>
                  <a:pt x="9932" y="200025"/>
                  <a:pt x="0" y="190093"/>
                  <a:pt x="0" y="177800"/>
                </a:cubicBezTo>
                <a:cubicBezTo>
                  <a:pt x="0" y="165507"/>
                  <a:pt x="9932" y="155575"/>
                  <a:pt x="22225" y="155575"/>
                </a:cubicBezTo>
                <a:lnTo>
                  <a:pt x="44450" y="155575"/>
                </a:lnTo>
                <a:lnTo>
                  <a:pt x="44450" y="66675"/>
                </a:lnTo>
                <a:close/>
              </a:path>
            </a:pathLst>
          </a:custGeom>
          <a:solidFill>
            <a:srgbClr val="805AD5"/>
          </a:solidFill>
          <a:ln/>
        </p:spPr>
      </p:sp>
      <p:sp>
        <p:nvSpPr>
          <p:cNvPr id="20" name="Text 18"/>
          <p:cNvSpPr/>
          <p:nvPr/>
        </p:nvSpPr>
        <p:spPr>
          <a:xfrm>
            <a:off x="9207500" y="2984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Glättung: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Kondensatoren, LC-/Pi-Filter und Spannungsregler minimieren die Restwelligkeit der DC-Spannung.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431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Vergleich: Einweg vs. Brücke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826000"/>
          <a:ext cx="14732000" cy="2540000"/>
        </p:xfrm>
        <a:graphic>
          <a:graphicData uri="http://schemas.openxmlformats.org/drawingml/2006/table">
            <a:tbl>
              <a:tblPr/>
              <a:tblGrid>
                <a:gridCol w="4124960"/>
                <a:gridCol w="5303520"/>
                <a:gridCol w="530352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Kenngröße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Einweggleichrichter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Brückengleichrichter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DC-Spannung VDC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0,318 × Vpeak (3,60 V)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5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0,637 × Vpeak (6,82 V)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Wirkgrad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max. 40,6% (38,1%)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530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max. 81,2% (72,3%)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Brummfrequenz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Hz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 Hz (doppelte Filterwirkung)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Bauteilaufwand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Diode (einfach)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0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Dioden (moderat)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62000" y="768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Vom USB-Ladegerät bis zum industriellen DC-Versorgungssystem - Gleichrichter sind unverzichtbar.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4392057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VIELEN DANK!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23000" y="5154057"/>
            <a:ext cx="3810000" cy="254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C53030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Gleichrichter</dc:title>
  <dc:subject>Der Gleichrichter</dc:subject>
  <dc:creator>Kimi</dc:creator>
  <cp:lastModifiedBy>Kimi</cp:lastModifiedBy>
  <cp:revision>1</cp:revision>
  <dcterms:created xsi:type="dcterms:W3CDTF">2026-05-27T12:48:24Z</dcterms:created>
  <dcterms:modified xsi:type="dcterms:W3CDTF">2026-05-27T12:48:24Z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{"Label":"Der Gleichrichter","ContentProducer":"001191110108MACG2KBH8F10000","ProduceID":"19e69629-c2b2-8dcf-8000-00002dabd11f","ReservedCode1":"","ContentPropagator":"001191110108MACG2KBH8F20000","PropagateID":"19e69629-c2b2-8dcf-8000-00002dabd11f","ReservedCode2":""}</vt:lpwstr>
  </property>
</Properties>
</file>